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d2118f0f644ab5" /><Relationship Type="http://schemas.openxmlformats.org/officeDocument/2006/relationships/extended-properties" Target="/docProps/app.xml" Id="R65d6012f5de24361" /><Relationship Type="http://schemas.openxmlformats.org/officeDocument/2006/relationships/officeDocument" Target="/ppt/presentation.xml" Id="Re5d7b719911444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71824ab5c040a8"/>
  </p:sldMasterIdLst>
  <p:notesMasterIdLst>
    <p:notesMasterId xmlns:r="http://schemas.openxmlformats.org/officeDocument/2006/relationships" r:id="R5f9baf9cb3594b24"/>
  </p:notesMasterIdLst>
  <p:sldIdLst>
    <p:sldId xmlns:r="http://schemas.openxmlformats.org/officeDocument/2006/relationships" id="256" r:id="R924147c503a244ac"/>
    <p:sldId xmlns:r="http://schemas.openxmlformats.org/officeDocument/2006/relationships" id="257" r:id="Re839a1034dc142fe"/>
    <p:sldId xmlns:r="http://schemas.openxmlformats.org/officeDocument/2006/relationships" id="258" r:id="Ra80720ea0feb4775"/>
    <p:sldId xmlns:r="http://schemas.openxmlformats.org/officeDocument/2006/relationships" id="259" r:id="R9dd01bc5e23149c4"/>
    <p:sldId xmlns:r="http://schemas.openxmlformats.org/officeDocument/2006/relationships" id="260" r:id="R9cb05819ece14dc8"/>
    <p:sldId xmlns:r="http://schemas.openxmlformats.org/officeDocument/2006/relationships" id="261" r:id="R6c9c00360b254b1a"/>
    <p:sldId xmlns:r="http://schemas.openxmlformats.org/officeDocument/2006/relationships" id="262" r:id="R78ea23484fb3411b"/>
    <p:sldId xmlns:r="http://schemas.openxmlformats.org/officeDocument/2006/relationships" id="263" r:id="R8e2ee2f7b6444d3a"/>
    <p:sldId xmlns:r="http://schemas.openxmlformats.org/officeDocument/2006/relationships" id="264" r:id="R93f530ba07ed41a1"/>
    <p:sldId xmlns:r="http://schemas.openxmlformats.org/officeDocument/2006/relationships" id="265" r:id="R77c9424e6eaa4f64"/>
    <p:sldId xmlns:r="http://schemas.openxmlformats.org/officeDocument/2006/relationships" id="266" r:id="Rd214a96a32a24759"/>
    <p:sldId xmlns:r="http://schemas.openxmlformats.org/officeDocument/2006/relationships" id="267" r:id="R4b4e6cb2d6cb49cf"/>
    <p:sldId xmlns:r="http://schemas.openxmlformats.org/officeDocument/2006/relationships" id="268" r:id="R2acba3a2f2a1484c"/>
    <p:sldId xmlns:r="http://schemas.openxmlformats.org/officeDocument/2006/relationships" id="269" r:id="R54d813797fe44098"/>
    <p:sldId xmlns:r="http://schemas.openxmlformats.org/officeDocument/2006/relationships" id="270" r:id="R9a3a2aaa922846d4"/>
    <p:sldId xmlns:r="http://schemas.openxmlformats.org/officeDocument/2006/relationships" id="271" r:id="R5620b91600644f4a"/>
    <p:sldId xmlns:r="http://schemas.openxmlformats.org/officeDocument/2006/relationships" id="272" r:id="Rc6d3b06f1be64bd5"/>
    <p:sldId xmlns:r="http://schemas.openxmlformats.org/officeDocument/2006/relationships" id="273" r:id="R61c2ad8196f14a28"/>
    <p:sldId xmlns:r="http://schemas.openxmlformats.org/officeDocument/2006/relationships" id="274" r:id="R3321f3f644f942f0"/>
    <p:sldId xmlns:r="http://schemas.openxmlformats.org/officeDocument/2006/relationships" id="275" r:id="R927aaf3216b14c93"/>
    <p:sldId xmlns:r="http://schemas.openxmlformats.org/officeDocument/2006/relationships" id="276" r:id="R27760514065c4ee1"/>
    <p:sldId xmlns:r="http://schemas.openxmlformats.org/officeDocument/2006/relationships" id="277" r:id="Rc8fe75b39b38422f"/>
    <p:sldId xmlns:r="http://schemas.openxmlformats.org/officeDocument/2006/relationships" id="278" r:id="R7f01307031f64403"/>
    <p:sldId xmlns:r="http://schemas.openxmlformats.org/officeDocument/2006/relationships" id="279" r:id="Rea1fb9ae25904e17"/>
    <p:sldId xmlns:r="http://schemas.openxmlformats.org/officeDocument/2006/relationships" id="280" r:id="R62c5530d519f4835"/>
    <p:sldId xmlns:r="http://schemas.openxmlformats.org/officeDocument/2006/relationships" id="281" r:id="Rb8c690730ba44317"/>
    <p:sldId xmlns:r="http://schemas.openxmlformats.org/officeDocument/2006/relationships" id="282" r:id="R15fa5dcc084f4254"/>
    <p:sldId xmlns:r="http://schemas.openxmlformats.org/officeDocument/2006/relationships" id="283" r:id="R17a45e88568448ec"/>
    <p:sldId xmlns:r="http://schemas.openxmlformats.org/officeDocument/2006/relationships" id="284" r:id="R45579531a6bc4860"/>
    <p:sldId xmlns:r="http://schemas.openxmlformats.org/officeDocument/2006/relationships" id="285" r:id="R17102201b3e547e7"/>
    <p:sldId xmlns:r="http://schemas.openxmlformats.org/officeDocument/2006/relationships" id="286" r:id="Rabc5b17c94be46f1"/>
    <p:sldId xmlns:r="http://schemas.openxmlformats.org/officeDocument/2006/relationships" id="287" r:id="Rc0fc447f65de4925"/>
    <p:sldId xmlns:r="http://schemas.openxmlformats.org/officeDocument/2006/relationships" id="288" r:id="R108cce1b6f5e4a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7a2f329a72414f" /><Relationship Type="http://schemas.openxmlformats.org/officeDocument/2006/relationships/slideMaster" Target="/ppt/slideMasters/slideMaster1.xml" Id="Rbd71824ab5c040a8" /><Relationship Type="http://schemas.openxmlformats.org/officeDocument/2006/relationships/notesMaster" Target="/ppt/notesMasters/notesMaster1.xml" Id="R5f9baf9cb3594b24" /><Relationship Type="http://schemas.openxmlformats.org/officeDocument/2006/relationships/presProps" Target="/ppt/presProps.xml" Id="R52fb4117d0d14ec7" /><Relationship Type="http://schemas.openxmlformats.org/officeDocument/2006/relationships/tableStyles" Target="/ppt/tableStyles.xml" Id="R3fa1a70380644671" /><Relationship Type="http://schemas.openxmlformats.org/officeDocument/2006/relationships/slide" Target="/ppt/slides/slide1.xml" Id="R924147c503a244ac" /><Relationship Type="http://schemas.openxmlformats.org/officeDocument/2006/relationships/slide" Target="/ppt/slides/slide2.xml" Id="Re839a1034dc142fe" /><Relationship Type="http://schemas.openxmlformats.org/officeDocument/2006/relationships/slide" Target="/ppt/slides/slide3.xml" Id="Ra80720ea0feb4775" /><Relationship Type="http://schemas.openxmlformats.org/officeDocument/2006/relationships/slide" Target="/ppt/slides/slide4.xml" Id="R9dd01bc5e23149c4" /><Relationship Type="http://schemas.openxmlformats.org/officeDocument/2006/relationships/slide" Target="/ppt/slides/slide5.xml" Id="R9cb05819ece14dc8" /><Relationship Type="http://schemas.openxmlformats.org/officeDocument/2006/relationships/slide" Target="/ppt/slides/slide6.xml" Id="R6c9c00360b254b1a" /><Relationship Type="http://schemas.openxmlformats.org/officeDocument/2006/relationships/slide" Target="/ppt/slides/slide7.xml" Id="R78ea23484fb3411b" /><Relationship Type="http://schemas.openxmlformats.org/officeDocument/2006/relationships/slide" Target="/ppt/slides/slide8.xml" Id="R8e2ee2f7b6444d3a" /><Relationship Type="http://schemas.openxmlformats.org/officeDocument/2006/relationships/slide" Target="/ppt/slides/slide9.xml" Id="R93f530ba07ed41a1" /><Relationship Type="http://schemas.openxmlformats.org/officeDocument/2006/relationships/slide" Target="/ppt/slides/slide10.xml" Id="R77c9424e6eaa4f64" /><Relationship Type="http://schemas.openxmlformats.org/officeDocument/2006/relationships/slide" Target="/ppt/slides/slide11.xml" Id="Rd214a96a32a24759" /><Relationship Type="http://schemas.openxmlformats.org/officeDocument/2006/relationships/slide" Target="/ppt/slides/slide12.xml" Id="R4b4e6cb2d6cb49cf" /><Relationship Type="http://schemas.openxmlformats.org/officeDocument/2006/relationships/slide" Target="/ppt/slides/slide13.xml" Id="R2acba3a2f2a1484c" /><Relationship Type="http://schemas.openxmlformats.org/officeDocument/2006/relationships/slide" Target="/ppt/slides/slide14.xml" Id="R54d813797fe44098" /><Relationship Type="http://schemas.openxmlformats.org/officeDocument/2006/relationships/slide" Target="/ppt/slides/slide15.xml" Id="R9a3a2aaa922846d4" /><Relationship Type="http://schemas.openxmlformats.org/officeDocument/2006/relationships/slide" Target="/ppt/slides/slide16.xml" Id="R5620b91600644f4a" /><Relationship Type="http://schemas.openxmlformats.org/officeDocument/2006/relationships/slide" Target="/ppt/slides/slide17.xml" Id="Rc6d3b06f1be64bd5" /><Relationship Type="http://schemas.openxmlformats.org/officeDocument/2006/relationships/slide" Target="/ppt/slides/slide18.xml" Id="R61c2ad8196f14a28" /><Relationship Type="http://schemas.openxmlformats.org/officeDocument/2006/relationships/slide" Target="/ppt/slides/slide19.xml" Id="R3321f3f644f942f0" /><Relationship Type="http://schemas.openxmlformats.org/officeDocument/2006/relationships/slide" Target="/ppt/slides/slide20.xml" Id="R927aaf3216b14c93" /><Relationship Type="http://schemas.openxmlformats.org/officeDocument/2006/relationships/slide" Target="/ppt/slides/slide21.xml" Id="R27760514065c4ee1" /><Relationship Type="http://schemas.openxmlformats.org/officeDocument/2006/relationships/slide" Target="/ppt/slides/slide22.xml" Id="Rc8fe75b39b38422f" /><Relationship Type="http://schemas.openxmlformats.org/officeDocument/2006/relationships/slide" Target="/ppt/slides/slide23.xml" Id="R7f01307031f64403" /><Relationship Type="http://schemas.openxmlformats.org/officeDocument/2006/relationships/slide" Target="/ppt/slides/slide24.xml" Id="Rea1fb9ae25904e17" /><Relationship Type="http://schemas.openxmlformats.org/officeDocument/2006/relationships/slide" Target="/ppt/slides/slide25.xml" Id="R62c5530d519f4835" /><Relationship Type="http://schemas.openxmlformats.org/officeDocument/2006/relationships/slide" Target="/ppt/slides/slide26.xml" Id="Rb8c690730ba44317" /><Relationship Type="http://schemas.openxmlformats.org/officeDocument/2006/relationships/slide" Target="/ppt/slides/slide27.xml" Id="R15fa5dcc084f4254" /><Relationship Type="http://schemas.openxmlformats.org/officeDocument/2006/relationships/slide" Target="/ppt/slides/slide28.xml" Id="R17a45e88568448ec" /><Relationship Type="http://schemas.openxmlformats.org/officeDocument/2006/relationships/slide" Target="/ppt/slides/slide29.xml" Id="R45579531a6bc4860" /><Relationship Type="http://schemas.openxmlformats.org/officeDocument/2006/relationships/slide" Target="/ppt/slides/slide30.xml" Id="R17102201b3e547e7" /><Relationship Type="http://schemas.openxmlformats.org/officeDocument/2006/relationships/slide" Target="/ppt/slides/slide31.xml" Id="Rabc5b17c94be46f1" /><Relationship Type="http://schemas.openxmlformats.org/officeDocument/2006/relationships/slide" Target="/ppt/slides/slide32.xml" Id="Rc0fc447f65de4925" /><Relationship Type="http://schemas.openxmlformats.org/officeDocument/2006/relationships/slide" Target="/ppt/slides/slide33.xml" Id="R108cce1b6f5e4a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acff5a6a0b45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4df8874b724833" /><Relationship Type="http://schemas.openxmlformats.org/officeDocument/2006/relationships/notesMaster" Target="/ppt/notesMasters/notesMaster1.xml" Id="R0c9d543a1bb14d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5e0cc5ba9448b1" /><Relationship Type="http://schemas.openxmlformats.org/officeDocument/2006/relationships/notesMaster" Target="/ppt/notesMasters/notesMaster1.xml" Id="Rda3d71ee581444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5c5e53a4934fdd" /><Relationship Type="http://schemas.openxmlformats.org/officeDocument/2006/relationships/notesMaster" Target="/ppt/notesMasters/notesMaster1.xml" Id="R9f97bd46a8ec48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0a7a4585bc40a1" /><Relationship Type="http://schemas.openxmlformats.org/officeDocument/2006/relationships/notesMaster" Target="/ppt/notesMasters/notesMaster1.xml" Id="Rd59bb4f3cd1c44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fe16b0ab064422" /><Relationship Type="http://schemas.openxmlformats.org/officeDocument/2006/relationships/notesMaster" Target="/ppt/notesMasters/notesMaster1.xml" Id="Rabbe36fd17e44d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7c998d02c0411c" /><Relationship Type="http://schemas.openxmlformats.org/officeDocument/2006/relationships/notesMaster" Target="/ppt/notesMasters/notesMaster1.xml" Id="Rc65242e3fde94b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fd10db745e40dd" /><Relationship Type="http://schemas.openxmlformats.org/officeDocument/2006/relationships/notesMaster" Target="/ppt/notesMasters/notesMaster1.xml" Id="R2eeafdfeea6b4f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c7cd5ea9474336" /><Relationship Type="http://schemas.openxmlformats.org/officeDocument/2006/relationships/notesMaster" Target="/ppt/notesMasters/notesMaster1.xml" Id="R9a8fa06f09ec42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6319e0d1aa4b8b" /><Relationship Type="http://schemas.openxmlformats.org/officeDocument/2006/relationships/notesMaster" Target="/ppt/notesMasters/notesMaster1.xml" Id="R103cf3423cf14b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445f9b73b04fad" /><Relationship Type="http://schemas.openxmlformats.org/officeDocument/2006/relationships/notesMaster" Target="/ppt/notesMasters/notesMaster1.xml" Id="R9ccdc33396ce49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801b760d9d40b3" /><Relationship Type="http://schemas.openxmlformats.org/officeDocument/2006/relationships/notesMaster" Target="/ppt/notesMasters/notesMaster1.xml" Id="R0739ae15484b41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be6baea9804f42" /><Relationship Type="http://schemas.openxmlformats.org/officeDocument/2006/relationships/notesMaster" Target="/ppt/notesMasters/notesMaster1.xml" Id="Rf6b79ab3088a4b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daf19169124ab5" /><Relationship Type="http://schemas.openxmlformats.org/officeDocument/2006/relationships/notesMaster" Target="/ppt/notesMasters/notesMaster1.xml" Id="R4805a159cea84c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ec1801aa644981" /><Relationship Type="http://schemas.openxmlformats.org/officeDocument/2006/relationships/notesMaster" Target="/ppt/notesMasters/notesMaster1.xml" Id="Ra84abfc74e0147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f237ba18a443be" /><Relationship Type="http://schemas.openxmlformats.org/officeDocument/2006/relationships/notesMaster" Target="/ppt/notesMasters/notesMaster1.xml" Id="Rc53ab54f21ae4e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eba4692f7c46e3" /><Relationship Type="http://schemas.openxmlformats.org/officeDocument/2006/relationships/notesMaster" Target="/ppt/notesMasters/notesMaster1.xml" Id="R32b39e20c72743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3a16caca394fb8" /><Relationship Type="http://schemas.openxmlformats.org/officeDocument/2006/relationships/notesMaster" Target="/ppt/notesMasters/notesMaster1.xml" Id="Rc5fabeb6050245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fe32ce764a4686" /><Relationship Type="http://schemas.openxmlformats.org/officeDocument/2006/relationships/notesMaster" Target="/ppt/notesMasters/notesMaster1.xml" Id="R3abe9315027f46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cedd1f1d234766" /><Relationship Type="http://schemas.openxmlformats.org/officeDocument/2006/relationships/notesMaster" Target="/ppt/notesMasters/notesMaster1.xml" Id="Rd744728804d544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a991626e4f4574" /><Relationship Type="http://schemas.openxmlformats.org/officeDocument/2006/relationships/notesMaster" Target="/ppt/notesMasters/notesMaster1.xml" Id="Rd3df1956251745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b29add33f74496" /><Relationship Type="http://schemas.openxmlformats.org/officeDocument/2006/relationships/notesMaster" Target="/ppt/notesMasters/notesMaster1.xml" Id="R65b8311eff7d4a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98b09890b9d4268" /><Relationship Type="http://schemas.openxmlformats.org/officeDocument/2006/relationships/notesMaster" Target="/ppt/notesMasters/notesMaster1.xml" Id="R2a7245fa87ad47c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6f2ee1c5bd41b9" /><Relationship Type="http://schemas.openxmlformats.org/officeDocument/2006/relationships/notesMaster" Target="/ppt/notesMasters/notesMaster1.xml" Id="R16f273492f4e4f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7393d2b020b4e1e" /><Relationship Type="http://schemas.openxmlformats.org/officeDocument/2006/relationships/notesMaster" Target="/ppt/notesMasters/notesMaster1.xml" Id="R434c6df567c24f8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53d3c952007400f" /><Relationship Type="http://schemas.openxmlformats.org/officeDocument/2006/relationships/notesMaster" Target="/ppt/notesMasters/notesMaster1.xml" Id="Reb1da0cd01b3412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6d6496801eb4059" /><Relationship Type="http://schemas.openxmlformats.org/officeDocument/2006/relationships/notesMaster" Target="/ppt/notesMasters/notesMaster1.xml" Id="Rde93f13105bf44a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b914dca57c04c25" /><Relationship Type="http://schemas.openxmlformats.org/officeDocument/2006/relationships/notesMaster" Target="/ppt/notesMasters/notesMaster1.xml" Id="Re87447d2d3c7433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a15bbb871da47dc" /><Relationship Type="http://schemas.openxmlformats.org/officeDocument/2006/relationships/notesMaster" Target="/ppt/notesMasters/notesMaster1.xml" Id="Rac130631bd8b481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63670f0aa94bd0" /><Relationship Type="http://schemas.openxmlformats.org/officeDocument/2006/relationships/notesMaster" Target="/ppt/notesMasters/notesMaster1.xml" Id="Reb3e813dbafe405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81ad687c3b54116" /><Relationship Type="http://schemas.openxmlformats.org/officeDocument/2006/relationships/notesMaster" Target="/ppt/notesMasters/notesMaster1.xml" Id="R250cd5459f2a486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8c3cc75369a4f22" /><Relationship Type="http://schemas.openxmlformats.org/officeDocument/2006/relationships/notesMaster" Target="/ppt/notesMasters/notesMaster1.xml" Id="R40c2ad28d8bf41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463183d2a58470f" /><Relationship Type="http://schemas.openxmlformats.org/officeDocument/2006/relationships/notesMaster" Target="/ppt/notesMasters/notesMaster1.xml" Id="R7fe9c04cea9a4a0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b1e0bbae59b483a" /><Relationship Type="http://schemas.openxmlformats.org/officeDocument/2006/relationships/notesMaster" Target="/ppt/notesMasters/notesMaster1.xml" Id="Radc5b734d96644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教學提示：先讓學生能看懂樹的結構與分類任務。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教學提示：先讓學生能看懂樹的結構與分類任務。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教學提示：先讓學生能看懂樹的結構與分類任務。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教學提示：先讓學生能看懂樹的結構與分類任務。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教學提示：先讓學生能看懂樹的結構與分類任務。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教學提示：先讓學生能看懂樹的結構與分類任務。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教學提示：先讓學生能看懂樹的結構與分類任務。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教學提示：先讓學生能看懂樹的結構與分類任務。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教學提示：先讓學生能看懂樹的結構與分類任務。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教學提示：先讓學生能看懂樹的結構與分類任務。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教學提示：以直覺說明分割品質，不進行繁複數學推導。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教學提示：以直覺說明分割品質，不進行繁複數學推導。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教學提示：以直覺說明分割品質，不進行繁複數學推導。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教學提示：以直覺說明分割品質，不進行繁複數學推導。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教學提示：以直覺說明分割品質，不進行繁複數學推導。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教學提示：以直覺說明分割品質，不進行繁複數學推導。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教學提示：以直覺說明分割品質，不進行繁複數學推導。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教學提示：以直覺說明分割品質，不進行繁複數學推導。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教學提示：以直覺說明分割品質，不進行繁複數學推導。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教學提示：以直覺說明分割品質，不進行繁複數學推導。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教學提示：以驗證、剪枝與金融案例建立負責任使用觀念。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教學提示：以驗證、剪枝與金融案例建立負責任使用觀念。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教學提示：以驗證、剪枝與金融案例建立負責任使用觀念。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教學提示：以驗證、剪枝與金融案例建立負責任使用觀念。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教學提示：以驗證、剪枝與金融案例建立負責任使用觀念。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教學提示：以驗證、剪枝與金融案例建立負責任使用觀念。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教學提示：以驗證、剪枝與金融案例建立負責任使用觀念。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教學提示：以驗證、剪枝與金融案例建立負責任使用觀念。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教學提示：以驗證、剪枝與金融案例建立負責任使用觀念。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教學提示：以驗證、剪枝與金融案例建立負責任使用觀念。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Week 12「決策樹」章節，重整分類、樹狀結構、分割、驗證與剪枝內容；金融案例依新版規劃改寫。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98a5aaeca42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f4e541661c4f79" /><Relationship Type="http://schemas.openxmlformats.org/officeDocument/2006/relationships/slideLayout" Target="/ppt/slideLayouts/slideLayout1.xml" Id="R6c2c7ee7bd8743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2c7ee7bd8743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1fd43b0bc412e" /><Relationship Type="http://schemas.openxmlformats.org/officeDocument/2006/relationships/notesSlide" Target="/ppt/notesSlides/notesSlide1.xml" Id="R7df45744499946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f4944d8d64f99" /><Relationship Type="http://schemas.openxmlformats.org/officeDocument/2006/relationships/notesSlide" Target="/ppt/notesSlides/notesSlide2.xml" Id="Rc1888310570c4e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569a02ca84fce" /><Relationship Type="http://schemas.openxmlformats.org/officeDocument/2006/relationships/notesSlide" Target="/ppt/notesSlides/notesSlide3.xml" Id="R520aa3f670b0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43796acbc4162" /><Relationship Type="http://schemas.openxmlformats.org/officeDocument/2006/relationships/notesSlide" Target="/ppt/notesSlides/notesSlide4.xml" Id="R83e78de02caa44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62cb8a9b94bd9" /><Relationship Type="http://schemas.openxmlformats.org/officeDocument/2006/relationships/notesSlide" Target="/ppt/notesSlides/notesSlide5.xml" Id="R5b3bf1f4adf24e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30e39457e4609" /><Relationship Type="http://schemas.openxmlformats.org/officeDocument/2006/relationships/notesSlide" Target="/ppt/notesSlides/notesSlide6.xml" Id="R14f4787070ee48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3da4742514b98" /><Relationship Type="http://schemas.openxmlformats.org/officeDocument/2006/relationships/notesSlide" Target="/ppt/notesSlides/notesSlide7.xml" Id="Ra4d61eb550c046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1c273ffb4436a" /><Relationship Type="http://schemas.openxmlformats.org/officeDocument/2006/relationships/notesSlide" Target="/ppt/notesSlides/notesSlide8.xml" Id="Rb1ccd38590d445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4479ce35b472b" /><Relationship Type="http://schemas.openxmlformats.org/officeDocument/2006/relationships/notesSlide" Target="/ppt/notesSlides/notesSlide9.xml" Id="R8168ee5094c44a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edffa229b4cfe" /><Relationship Type="http://schemas.openxmlformats.org/officeDocument/2006/relationships/notesSlide" Target="/ppt/notesSlides/notesSlide10.xml" Id="Rce0fcf5657a148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2fd22c0a748f7" /><Relationship Type="http://schemas.openxmlformats.org/officeDocument/2006/relationships/notesSlide" Target="/ppt/notesSlides/notesSlide11.xml" Id="Rce39a58073d74b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deca81aa84715" /><Relationship Type="http://schemas.openxmlformats.org/officeDocument/2006/relationships/notesSlide" Target="/ppt/notesSlides/notesSlide12.xml" Id="Rc839caeb43b94d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fe9bd57b242fb" /><Relationship Type="http://schemas.openxmlformats.org/officeDocument/2006/relationships/notesSlide" Target="/ppt/notesSlides/notesSlide13.xml" Id="Rbd942330b5964e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2b897cda04931" /><Relationship Type="http://schemas.openxmlformats.org/officeDocument/2006/relationships/notesSlide" Target="/ppt/notesSlides/notesSlide14.xml" Id="Rb61cdfac92a241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ec678b9c34280" /><Relationship Type="http://schemas.openxmlformats.org/officeDocument/2006/relationships/notesSlide" Target="/ppt/notesSlides/notesSlide15.xml" Id="Rfdfc3715d7c547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97a48aad74d1c" /><Relationship Type="http://schemas.openxmlformats.org/officeDocument/2006/relationships/notesSlide" Target="/ppt/notesSlides/notesSlide16.xml" Id="Ra1ff53eb0d0b4e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9b32f1b87445b" /><Relationship Type="http://schemas.openxmlformats.org/officeDocument/2006/relationships/notesSlide" Target="/ppt/notesSlides/notesSlide17.xml" Id="R6da4da5146e54c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6c8c7d00247ef" /><Relationship Type="http://schemas.openxmlformats.org/officeDocument/2006/relationships/notesSlide" Target="/ppt/notesSlides/notesSlide18.xml" Id="R4706e5d769814f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983213eaa49ad" /><Relationship Type="http://schemas.openxmlformats.org/officeDocument/2006/relationships/notesSlide" Target="/ppt/notesSlides/notesSlide19.xml" Id="Re696b7d6456d4d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32a7beeb54073" /><Relationship Type="http://schemas.openxmlformats.org/officeDocument/2006/relationships/notesSlide" Target="/ppt/notesSlides/notesSlide20.xml" Id="R83fc2634353e4b5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2e8d0c5134c99" /><Relationship Type="http://schemas.openxmlformats.org/officeDocument/2006/relationships/notesSlide" Target="/ppt/notesSlides/notesSlide21.xml" Id="R3176ba0cd62840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3ab84de164995" /><Relationship Type="http://schemas.openxmlformats.org/officeDocument/2006/relationships/notesSlide" Target="/ppt/notesSlides/notesSlide22.xml" Id="R2dd850d7811f44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2bd387830470c" /><Relationship Type="http://schemas.openxmlformats.org/officeDocument/2006/relationships/notesSlide" Target="/ppt/notesSlides/notesSlide23.xml" Id="R72c71c2bd8e3497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4f2c103d64780" /><Relationship Type="http://schemas.openxmlformats.org/officeDocument/2006/relationships/notesSlide" Target="/ppt/notesSlides/notesSlide24.xml" Id="Rab37c022bb6c42c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415173dae424a" /><Relationship Type="http://schemas.openxmlformats.org/officeDocument/2006/relationships/notesSlide" Target="/ppt/notesSlides/notesSlide25.xml" Id="R9737542a026c450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0331d0f7f4391" /><Relationship Type="http://schemas.openxmlformats.org/officeDocument/2006/relationships/notesSlide" Target="/ppt/notesSlides/notesSlide26.xml" Id="R20a883c64c1548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757a163c94eb5" /><Relationship Type="http://schemas.openxmlformats.org/officeDocument/2006/relationships/notesSlide" Target="/ppt/notesSlides/notesSlide27.xml" Id="R3bb3275f38f6433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3769e13604241" /><Relationship Type="http://schemas.openxmlformats.org/officeDocument/2006/relationships/notesSlide" Target="/ppt/notesSlides/notesSlide28.xml" Id="Rc35d5f9ea64e43d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a5d05e3eb43b7" /><Relationship Type="http://schemas.openxmlformats.org/officeDocument/2006/relationships/notesSlide" Target="/ppt/notesSlides/notesSlide29.xml" Id="Ra7578d52c79a476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7aa50290b48df" /><Relationship Type="http://schemas.openxmlformats.org/officeDocument/2006/relationships/notesSlide" Target="/ppt/notesSlides/notesSlide30.xml" Id="Rac56ced6b6a94ab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c5bae49324738" /><Relationship Type="http://schemas.openxmlformats.org/officeDocument/2006/relationships/notesSlide" Target="/ppt/notesSlides/notesSlide31.xml" Id="Rc8240263ff3d42e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70c43e2e744a7" /><Relationship Type="http://schemas.openxmlformats.org/officeDocument/2006/relationships/notesSlide" Target="/ppt/notesSlides/notesSlide32.xml" Id="R3f7ff1f739ff4c7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9fdcb69cf4971" /><Relationship Type="http://schemas.openxmlformats.org/officeDocument/2006/relationships/notesSlide" Target="/ppt/notesSlides/notesSlide33.xml" Id="R5a765b7be2d64e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6C24F-D932-4AAF-8FE2-FD3E857D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56699-B44E-4E08-9759-30F161B8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12｜決策樹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8C7FE-73EE-4634-B2CC-946232FF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2937E-65C8-45CE-9F6D-D75D9999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B8A2A-275C-419D-BBD5-522957AD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42F56-1D9F-4DE0-B570-120498B9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本週問題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20CB0-A97A-4E43-A3B5-DBEFEEC6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如何依歷史資料判斷新對象的類別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277C0-4883-451D-AE8D-66B4439A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C1217-CF1D-4D33-9FE1-BCDCBF00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學習主線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CF847-7467-4B65-9917-0F3F08F5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分類任務、樹狀結構、分割規則與驗證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EAC2B-57A3-481C-9AF2-DA4DD6C3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3BB92-A132-410D-9C87-2E2DC1FD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CC10C-F935-4BE1-A90B-30D350C3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能沿著決策樹說明一次判斷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1565A-C6E1-43A3-B93E-74426DBD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2E21D-F483-4FE1-8126-56CE7CCA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金融連結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ACDA0-690F-46F6-BBCE-E5D3A677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回購、流失、風險與案件分類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852E4-B783-4011-AE88-85C39AA5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65414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78CF3-D282-4FEA-9963-7E0DBA29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75CAA-8A76-4DD2-B7FA-E5FF957F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分類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22E6F-9E08-46BE-99F5-003B68E0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09E23-D570-4CC2-8E9C-5A97B445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61073-7B74-4B18-A666-D8EA5B93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48028-326D-4196-BCEB-F78D0F10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已知資料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CC966-D111-481D-AC7F-074A93C0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每筆歷史資料已有正確類別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04899-1927-4B45-A9ED-3DA35955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E83FE-9F31-44ED-8031-CEADDEF0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學習目的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AAB60-BBA8-4CBF-AF3D-B99D9CC4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找出特徵與類別之間的判斷規則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D1EA7-608B-4581-A826-7C9A816D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38922-6817-42DE-9DCD-7FCC6DE6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新資料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F5DF2-5C84-4D45-B9A6-42E8B81E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依規則預測尚未知道的類別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91A1B-E151-41AC-8C0E-CCEF1479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41537-BA4D-4E96-890D-7F35BB5E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常見結果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87EB2-4CB1-44DC-9975-A25EA90F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是或否、高或低、多個風險等級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ADD27-0858-43AB-8E38-655E94F0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95745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376E7-0B90-4F6F-BD20-064E17D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4BF18-3A9D-4618-B41C-C6C12A7D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監督式學習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FC08A-D020-4B5A-98E6-5C8A1AD7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BA365-5416-4812-9A53-77934E21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C0547-AFF2-4571-8760-DBC4A318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1A208-C439-4384-B984-B3037BD1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監督訊號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2A9EC-0885-4AC3-93DC-FF680A45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歷史資料中的目標欄位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B130D-F127-4B01-9480-C77DE46C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48DE3-F3D9-4131-B68A-8B5620E0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目標欄位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0CB39-DE34-44C7-8CBA-58722403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例如是否回購、是否流失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FD0A4-7114-4191-9BDF-4B2EB962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D45D7-DBAE-47E8-9B7E-A8FC8F4C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輸入特徵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4EFCB-480B-42B9-89AA-38E0CB91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年齡、交易行為、服務使用紀錄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3D11F-0FD0-473B-A80D-F5B69854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41ECF-21FD-4729-A4C9-E2A6B324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核心前提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E7193-5003-40DF-A8C6-F8C7833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訓練資料必須同時具有特徵與答案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89D01-1A25-4733-92A3-F9B64DB9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36707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FAF53-7355-49F3-83F9-607306F7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B727F-4550-4AD2-9D1B-15B15CDD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分群與分類的差異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FCC35-DF11-4A4C-99FE-60A811D0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F25FC-8D5B-40B9-BCF4-846171E2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A77BB-1B43-47E0-BB2C-8F138FD9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55502-3268-417E-9861-CF83E821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BC898-A920-44D7-B30E-BBF8F139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事前沒有指定正確群別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DAAF5-B822-4340-8508-665F1094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68439-6A2B-439D-B5A3-35F325FC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E6634-D181-4EC6-B50A-A777B7A0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事前已知要預測的目標類別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6E1FD-8849-4028-9BE2-6C6EA16B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1F175-01A5-41C9-8E3F-E7FF8873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分群問題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0434E-118C-4A07-84DA-AA2E1B33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哪些客戶彼此相似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6A461-611C-4DBF-8432-47A88D6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68A17-D77E-475A-AE12-A96DB3E3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分類問題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2FC40-27A9-4A7D-AC1B-DDD207D5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這位客戶屬於哪一類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C0498-711C-4EEB-8C61-C9AD21D1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736386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6FFDA-73A8-43AE-B644-CFDFA537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3CF9A-E290-4DE0-AF59-94E868D1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決策樹的直覺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3A673-0F2B-453B-BD01-3AB36EC2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D8384-AF5D-46CF-B72B-46A664B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2EB42-75FC-4F29-9AEC-C5EF5F2D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2739C-295B-49AF-B0BB-851A146B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外觀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A38B1-33CE-4F95-9A8D-DFDB49B1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由上往下形成樹狀判斷流程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C25B3-0851-47D8-81D6-D2913A74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BAF07-707B-41F3-AF41-58BD1A92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每次判斷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5A63D-EE2D-4718-AB2A-39BE4268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根據一個特徵把資料分開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18234-D8A6-4E8B-962A-5631AA7D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FCB48-75A0-4B9A-8748-B30BAC0A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最後結果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535FD-0241-4BF9-BDDB-77C3C3C2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落在某個葉節點並得到類別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09E23-91B1-4F3C-9AD6-A2CEF0EC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F5CDF-2471-4080-BAEE-F34C7D05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主要優點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A8BC8-F3C2-45F3-8E98-5C66CA65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判斷路徑可用白話解釋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E947A-6075-40BE-8C61-56EC9FD3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49531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0FC63-6337-4DDD-AF11-51DA245E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5B24B-5071-4E44-8FAD-9C1340B9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樹根、節點、分枝與葉子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D3A2A-EDFB-4699-82AE-D97B2663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94BB0-23A4-4D06-A57B-7A0794B1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A7808-A255-4490-BFA2-19FCC35B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4E49F-7808-47C2-995E-81F52065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樹根 Root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7D7A6-BB28-4056-8B61-6016AFB8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全部資料開始判斷的位置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5B6F7-7861-4F65-B8C2-F8D52043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21057-EBE6-44A7-AC09-7BA5E906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節點 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88A99-1825-41D2-80B2-227F69AB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檢查某個特徵或條件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93E79-EE57-4FDF-B9BA-5890E9E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3CD3C-D9E3-4E0A-A629-0DC386D8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分枝 Branch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17388-34A8-46B5-8568-9C631A87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條件成立或不成立的路徑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8C400-69C6-4BA6-A67D-5980E858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B1E01-BDDE-4EF7-8E92-8321E969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葉節點 Leaf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4B1B0-CC0F-4CA1-B571-58277AFF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停止分割後給出的預測類別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1157A-6C05-4B18-8B26-F70EB121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08891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69C9B-1AB5-4BEF-B145-069CF1F5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E0D10-7267-4DC2-AAF7-6B6DED95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回購問題範例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C5685-7F6D-46ED-804E-856AF267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BBB33-EE88-48FC-A45E-16AF7370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BD411-3E20-4CBD-BF1F-6366C0B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D8315-2C8F-4AD7-95F2-7D99E7AA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目標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9B29C-0143-4BE3-9C7D-375FBD5B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客戶是否在三個月內回購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46363-EF46-4752-B8CA-70C5CC83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8CEAB-EA22-4EA1-9FDC-7F4C8D46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特徵一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70A52-7DF1-49AD-B6CE-7514C60D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最近一次消費距今天數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3D50F-D336-4309-A55D-3232ECA4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AD562-A696-4DB2-B5E6-3296D8FC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特徵二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63BC5-A0D1-43C9-BD5F-5BB4FE9F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過去一年消費次數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06CC6-E7AA-4F44-8DD8-19B34BB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11BB6-AA65-45C5-AAC1-CBAA21A4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特徵三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F2B62-EE34-41D6-9E4D-4F5E13C6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是否使用優惠或完成會員互動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23FA6-569A-4F19-9EB0-F4B3FB43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91229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C139A-1265-463F-9629-3353AFB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C86F7-F5EA-41C0-ACC4-2C7B78BD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沿著樹做一次判斷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089E0-FFBC-4BB3-97B4-55223807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5BCA9-5C7D-4AAA-A6A7-D73D74B0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5F2CF-84DC-4489-9791-08EE7B78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9BB57-14B2-49F1-ADCA-1E5BB205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第一個節點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2EB72-9C6F-4E7E-9C79-F01F93DA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最近消費是否在 30 天內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05D69-936E-4456-A675-61B44ED1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61C6A-BABB-4697-A28D-103CE2C3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符合條件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F1659-4F4B-45AE-9725-101900BB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再看過去一年消費次數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D2157-BE0B-42F0-AAF9-85B7C09D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AA770-4AFC-4298-BFC8-7721C8FD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不符合條件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EC12A-10FF-4C1F-BECB-2570035C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走到另一條分枝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DEE51-8F31-4690-96B6-718A402C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4C3B3-8981-4E0A-9721-A234F08C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葉節點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16D63-A57F-4DFD-B30A-2BDE5B02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得到可能回購或可能不回購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73F85-E42F-4CF8-85B0-4E0508BD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694850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8755F-7A45-4A31-BA15-C3438D30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B9B58-9BAF-4AB9-BEE8-9CB7E012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決策樹為何容易解釋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0F260-1507-4F7A-AEA3-420E239E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3A24F-1681-419C-B979-CDE8A713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782A2-116D-4109-A38C-5F502D0D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F8E36-3FE1-48E7-853D-022AAC2B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判斷透明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8E79C-AD74-4A4C-B2FB-AA03A5AD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每個節點都有明確條件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103CD-171C-4946-B0A9-3608FCAD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A21A6-0AFD-400B-BF66-7EF81FE7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路徑可追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DBA11-7C3A-425E-8AE0-C7C2A012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可列出個案經過哪些分枝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A701B-C899-4248-9C9E-9D57A26D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7B432-E158-4730-801B-7C8A7112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可轉成規則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CAE23-29B7-4059-B4BA-4D6703C2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條件組合可寫成如果與那麼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95F28-6811-475F-B955-B1F2E1A1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DB3F4-74A3-4653-AD49-13460EB6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AA9C2-2D39-460A-AD97-4101FDF1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容易解釋不代表一定正確或公平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04F5F-37E2-4951-9062-DB0BE75F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38098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45BDC-C5CE-460F-A840-E7910FFD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4812D-CBC6-481B-8E13-08556F58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16997-E5A5-44C0-AED0-93F617B1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4332D-7A3B-42D8-8BD7-3E24B4F7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FCC1B-CEBC-4829-856D-71ED6973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EDF69-C800-4C56-BF29-DEAA6F02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分類任務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C25C0-BB7B-4EEF-B8C6-1CB97A1A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以已知類別學習判斷規則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09BBF-9E7D-455A-9624-FE045116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D4E5F-C8E2-40FC-924F-8C2949F5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決策樹結構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5A06C-976D-42A9-9491-546B202A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樹根、節點、分枝與葉子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240CB-EEF5-4476-B0DE-1504D4F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DA187-1A6D-42FC-9D78-AF6C6DEA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預測方式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15227-3690-470B-B0CF-0C85E3DE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新資料沿著條件一路走到葉節點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9BA9C-BBA7-42FF-9D0A-731499F3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C67A3-25B0-4CDF-BDF8-368162AD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使用價值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631E9-5598-44B7-AD50-D9ABC83D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能呈現個別判斷的主要路徑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A4D16-C02E-43E9-A402-0E16062E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263987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01C71-93AA-4491-95BD-DD97EBC8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A052A-E4F3-4CC0-A479-F279058A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6374A-9089-417F-8757-3BB5E93C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A1CB2-592A-4067-A41A-B416BDF9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FDDDB-7705-450A-A56D-0D319354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F39DA-D651-4DB4-836A-98693EA0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43DBB-EEC8-4159-88E4-D609B0D3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分類是否需要已知目標類別？（A 要　B 不用）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A657D-50FE-49FC-9474-47C3DE85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分群與分類是否相同？（A 相同　B 不同）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1360A-1EE7-46B0-8741-FF602E4A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樹的最終結果位於？（A 葉節點　B 樹根）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1BEDD-BA1C-4D89-873E-E05A0596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新資料如何得到預測？（A 沿分枝前進　B 隨機抽籤）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DD2C2-ABBA-48BF-B046-296A45FD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決策樹容易解釋是否代表一定正確？（A 是　B 否）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74DB9-3071-4039-88DB-033E263F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4A0FA-E3DC-48C3-A5A3-8A77F6B9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3-A　4-A　5-B</a:t>
            </a:r>
          </a:p>
        </p:txBody>
      </p:sp>
    </p:spTree>
    <p:extLst>
      <p:ext uri="{BB962C8B-B14F-4D97-AF65-F5344CB8AC3E}">
        <p14:creationId xmlns:p14="http://schemas.microsoft.com/office/powerpoint/2010/main" val="1258009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9D136-E557-49DA-926A-2CECF2C8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F3447-C042-49B9-B8B2-091B8A3B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第二節｜決策樹如何形成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7D4FA-946A-4C53-9E87-3B2EEF1B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7CC9B-165C-4CAA-B0BA-BDD90565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7921E-9719-450B-9F6F-5974E450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C1DA1-5E42-46AC-80F0-53F9726A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核心問題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62B95-1E65-4C59-A7AE-AE7A9FEB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哪一個特徵最能把不同類別分開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C3C17-245C-428F-87AC-8293B1C2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D52E5-98AA-40D3-AE4A-CF85F205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建樹方式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385AE-5AF3-48FE-8099-282EBF2B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選擇分割、形成子群、繼續分割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71838-DB2B-474D-8CB0-7781B200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956B0-D46A-4161-9C62-CF91EE23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停止條件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3A93B-6925-4F4A-81ED-58541B33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資料夠純、樣本太少或深度達上限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71B5F-9F0B-458A-BCCC-C6E358E8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756970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0358E-776F-4F2E-88A6-FA66D1B8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0BF1C-5C06-46C9-89EF-1D8F5446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好的分割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9511F-1005-41FB-B161-76F589FD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31ADB-4629-48F5-A873-450F4479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F1607-B805-4B17-BE0D-481A9A84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852A2-CCB9-4E82-BB0E-01A275BD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分割之前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9388D-AD70-4F25-94AD-A2936061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不同類別混在同一群資料中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D8736-3C04-4F5E-B158-D78C827E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14722-C9DC-44A9-9AC4-9E4A4ECB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分割之後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20274-04B5-4658-B0B1-3A811721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每一側盡量集中相同類別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1B993-8408-4D28-9F34-E6DABCDE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B7798-FF4B-4363-A9CC-076EFDD2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判斷原則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66291-47A1-4BF0-BC36-5BB6C891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分割後的不純度要明顯下降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0C36E-6D1F-411B-92D6-72EE5FCA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A6787-D8F0-49C8-B4A1-4B9A6DE1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CCDE1-28CC-41EE-BED6-359F0D8A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後續分類更清楚，規則也較容易理解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BE3B8-6066-4A84-9A39-2912F4A0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241985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620C5-0D37-49AA-A584-8B18DD69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DC30B-9574-41AA-8FB3-ECC5BC8F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純度與不純度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F483D-CB5C-4DC9-9646-135D7424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3BA9F-4C9C-4F6D-898B-F1BB727D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DB223-0A3B-4B6E-AC5E-2067384F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86A88-0B4E-4B94-A858-A0A0C099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純度高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30268-EB22-4BBF-8046-C6E8FEDE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節點中的資料大多屬於同一類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2F7C5-8918-42BA-8724-62C6A7E0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B5FA5-2016-4477-B75B-5BEBF860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純度低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72A6A-E1E9-4720-9D67-E0C4CC68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不同類別混合在一起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D0965-6FBF-444C-88D1-6783A39C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A60CD-1416-461A-A46E-588A4F1F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建樹目標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2A9E9-51E8-489A-BAD6-3B3F02F9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逐次降低子節點的不純度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38952-F784-4AA5-822A-D353919E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323BB-EA01-4677-BE31-EA617D76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注意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D9204-AC6B-42B9-AD9F-593BE4A6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完全純淨可能只是過度配合訓練資料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C847B-DD40-4B00-AC15-1A74EB72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293160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098D7-8542-40C0-ACB1-A05383A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1CFC0-AE3A-4513-8BD9-4539D8E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Entropy 的直覺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1F6AB-030B-4BFA-A23B-43C8352C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6E8AE-EAD8-43B2-B20A-C9909E1C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162C8-079F-410B-9B76-90F09D3D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C6EAC-AB42-4912-85A6-C038D50B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38AE6-6BD8-4FD1-A698-6E82445F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衡量類別混合程度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BD1B8-6302-456C-99CD-6A01CC73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8F1B2-72ED-4FA6-ACBB-7F0DB389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單一類別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E42F7-9959-44C7-8E59-57DC8AD5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Entropy 較低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B9807-263D-4365-A44A-AB54730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7F217-EB8C-4575-B914-0B88734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類別接近平均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82917-8F33-43D3-AAF4-1B947063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Entropy 較高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FE3B8-1A04-461A-BA89-08089BEB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135D1-625F-4C4C-9AD3-EA4623FD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教學重點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88962-C7FA-44C7-A20B-6FA27D6B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理解方向即可，不要求複雜推導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057A9-9F70-4DA3-8D8E-A91D1469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59509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E5EA5-1638-43E4-81DD-126261FC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A47AE-49F1-4B31-BC81-DA1C367E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Information Gain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EA9D9-62DC-4F6E-8D2D-8E085E72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E51E7-662F-4496-B119-0E13DF22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449C4-E1E6-4F4F-9338-96E07C96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BD755-0521-41C7-BE5B-BA22AA59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計算概念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E2ECE-3711-4468-BD28-B1BBF03C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比較分割前後的 Entropy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A2979-803E-4EE4-866C-23EDD37B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6F4BB-709B-44BD-AB0F-ACE084F8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增益較大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C65F5-2636-473B-A210-19EC9969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代表分割後類別更集中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6DA96-12E4-410B-A768-F847FAC3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7BC87-AC73-49EE-9567-D09FB158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選擇方式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BC011-62AC-4A0B-A523-3E119BAD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優先採用資訊增益較大的特徵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9A9E3-08BF-4971-83EE-AE77EDF5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74F5E-238F-4CB4-951D-A64EF859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F1412-8011-40EB-AD17-455F4F4F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仍需配合樣本數與停止規則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AD82C-8B27-43DC-9F1B-DC91FB3C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663767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44F02-12B8-4B0D-A1A8-8EB76440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D3EFC-E77D-4FF4-A6BB-30A53F1F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Gini 不純度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BDCAF-6478-4D7D-BF80-234563D1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D842F-D75E-41EF-A19C-D7FE5B5B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51002-8554-4349-AC53-6208ED05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40FC8-AFA2-4F15-AC2E-1472DA37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7A4D7-E78F-403A-848B-971A9FC7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另一種衡量類別混合程度的方法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B4175-4BB4-44FD-B969-D9696844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814F1-3B40-4102-BB8C-8380471C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數值較低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11EB2-843A-488B-8FC6-E592B711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節點中的類別較集中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087A8-EC5A-420B-9733-A6BA43F0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4BA74-643D-42B7-9D48-9FB12C43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常見使用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21231-9A8A-43FE-AB9E-A3D05AE8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許多決策樹工具可選用 Gini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9264C-FB56-469E-991D-5674012C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40436-ED69-407F-94B2-EDE6FFF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課堂原則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8786F-C0F2-489E-90E3-01191137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Entropy 與 Gini 都是在比較分割品質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9F8E5-4A38-4928-AC2D-6D7D2D32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439004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0F72B-0D73-46C8-B124-D7AB084B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A9270-E0B9-4B4C-9434-07F1989A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連續數值如何分割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B3CB7-F46F-4DC8-B25A-E504BA7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586D3-1F50-4142-AF6B-AE4DD758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691CD-3D76-432E-9237-3D66629D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615E3-622E-411F-9D37-7A453778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範例特徵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DAFE1-7072-4C79-B618-FAF8F204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最近消費距今天數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42F85-E0C4-44A0-ABA8-829B5B81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7961F-D575-4C76-A4E8-FA70FE33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候選切點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90F26-D728-40DF-8000-79129EB4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例如 30 天或 60 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E2FBC-BCC9-469E-B95B-D90AA0AF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E09AF-4F7E-4A43-BFF8-7BE01BF8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比較方式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4DB78-55E1-46EB-9955-6A6AA9C3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檢查每個切點能否把類別分得更清楚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4C21A-141B-47DE-A483-3644CF69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0B21D-86D7-461C-A0F0-487F7100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最後選擇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2AF0D-3DF7-4F02-91D6-37721AC1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採用改善不純度較多的切點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F2169-3C6B-4D7E-BBA0-0ACF3CDE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0298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57BD6-69EF-4A2A-AF48-39A50D76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69044-5DE3-4BB4-BD4F-2496BD66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類別特徵如何分割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1EA29-FDC5-40F3-BC41-2A8FA7A3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9C75C-2658-4B25-859C-88EAFC12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510E0-C0FF-48BC-A0EA-3FA41105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FDA31-FD22-493F-AACC-8E5C0CB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範例特徵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21A5D-8CE8-4FF7-890E-DE4599C4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主要交易通路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5A602-C8BE-4A9F-8529-04D3824F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41A52-1F48-449A-9F04-1FDEF2EC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可能類別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E7D73-F039-4427-94E4-F1B11A3D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分行、網銀或行動銀行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B7B0A-7C23-49E5-A75C-23762AC2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69101-F439-4BCF-8997-1F2D045A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分割方式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87A40-9314-481A-A018-B346BDFE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依工具規則形成兩個或多個分枝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386CA-D09C-4C44-AFA8-55D980AE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ABC7D-59DE-4C63-8407-079E7280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前處理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CF87E-5370-4640-9FBF-14E80D8C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類別名稱與缺失值必須先整理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44036-AB51-48C3-A8C8-A9028AA8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464999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69C6C-F06C-4096-91DD-F06A4E1C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22441-6057-49A1-82DB-AB492DC8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停止生長的條件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590A9-7DB0-4B05-9680-D26DD3E8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726F3-FB6F-4389-8192-C668706D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0D5C5-5179-4D7C-AFEF-915FD9C4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CD211-5407-4FEC-829B-B7EBB1CC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最大深度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35821-3034-4F52-839F-2AB5E8F5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限制樹可以長到幾層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11340-A48F-4CB2-98FF-56C3F11D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FB679-F9F1-49D3-9FB6-3A370EAB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最小樣本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3F8BD-4E80-441F-841E-23F31995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節點樣本太少時不再分割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D62B5-849B-43B4-BFD2-4DBF367B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81228-11FA-4E10-9BDE-1A805280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改善門檻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CE49C-0739-4420-B306-19AED935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分割帶來的改善不足時停止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A9CBD-4A2F-43BC-BC5C-FFE441D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AA9A5-BFB8-4E96-9D31-55CB30F3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目的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940DC-CBDF-4771-AFF0-4D35DAEB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降低模型複雜度並保留可解釋性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E1D8A-2D3F-4922-9EBD-EDF9E716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755119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E4A7C-10BA-4CB2-8F1A-3E4C745C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BFC1C-0A7E-4406-930A-2ACF6081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C8E09-4AF8-40AB-AF96-02A51AE2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94D79-7966-4C49-898D-A53DE2C9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217B6-84D3-4A90-B45B-09625CAB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ACD44-9485-418B-9A58-7887B5A0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選擇特徵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70363-2151-4E1F-8385-247A604C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找出最能降低不純度的分割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C7EA0-152F-47EC-A620-F458F977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C6579-65E6-4A49-9379-CA160E03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常見指標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F628E-0AC1-4B11-A32D-B06E9312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Entropy、Information Gain 與 Gini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E3C47-2134-49CF-BCD0-00D724DC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8918F-ACF6-4229-B823-D6672C3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連續特徵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57645-3430-4FED-900C-5CE96DCA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需要選擇適當切點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0985A-B764-4C3E-B699-27449C90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B8037-0421-4F09-BF8E-A7E37B63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停止條件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97C47-F35A-4A13-BCD7-60EF0704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避免樹一直生長並記住個別樣本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5AB08-1EC1-4F77-B678-53474678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759592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EC878-A668-413A-A0D2-B02A40F4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40A04-EBBE-47C6-9D42-5D8B7AD4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DE8A5-8F03-4B40-9907-9EF58374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3459A-9293-4F0F-8B76-CDA71FAB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8460F-5E40-4DBA-A168-E0C62804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007D3-6209-4781-92E8-906062EA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2CD59-9200-402F-A60D-A721B3CC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好的分割會讓類別？（A 更集中　B 更混亂）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B1B01-19F1-4A85-A69B-2AA0C8B0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Entropy 用來衡量？（A 混合程度　B 交易金額）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43EFA-DAB3-456A-B060-EA13183E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資訊增益較大代表？（A 分割改善較多　B 樣本較少）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F2684-E39B-4AFC-81AF-28671F1C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連續特徵是否需要切點？（A 要　B 不用）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EE991-EB0F-4F43-9816-5EF29E9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停止條件可否避免樹無限生長？（A 可以　B 不可以）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7CAAD-BF38-4A1F-B2B6-AA18FA94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79783-B731-4036-A9B3-90F351E1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12007733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3BAA1-66B6-42F4-A7A4-50B9C4C5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DF3CA-F8C3-45BE-9C18-9B8BD488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第三節｜驗證、剪枝與金融應用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341E1-0CE9-4324-AE32-2D3B04C2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8D9AE-EC2E-43A1-A18A-B3C482ED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254CF-1185-4E4F-92E9-3E959A4C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26BEE-DB0D-45B6-A247-8EF93BC7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訓練不是終點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EE724-956B-438B-BFF5-65FFECCA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模型還要接受未看過資料的檢驗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607E8-1A98-4B22-82D2-38846390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0609E-7C0E-4F8B-B063-ABC5DD4B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主要風險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091FF-853C-4EB1-9902-16DBA285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樹太深會產生過度配適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47A75-1336-49D3-9A5B-3E8026A9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76ADE-0766-4FC1-95FA-E0AC3B3D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實務要求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43BD8-E752-4BC3-B851-52F93A47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同時檢查效能、解釋與使用後果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3C81C-78CF-4A51-9CC0-A0360748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557858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DE207-E518-49D2-90F9-9238A3D9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9B21A-5C9C-4952-8B69-413D4591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訓練集與測試集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D8824-3FE7-4FC9-84E5-56D3E505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C8A03-A7A9-49AA-9E96-5DE07A1B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82AE1-0BBF-4BE7-99EB-0393AD07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873C6-8805-4507-9B8D-EF53E9F8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訓練集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8C804-CDA7-419A-BE1E-2B234CF4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用來建立決策樹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9BAA3-5800-4F41-BA5D-7A995E86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B874E-1868-47CF-BA17-F6B392DF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測試集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7BA33-3F37-4D96-854B-472F9478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建樹時不使用，最後用來檢驗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57DD6-D0DA-4A42-A6B4-E04AD73A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DB62D-3250-4982-A8B7-A793234E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分開目的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11B87-D3AC-44B0-AEA1-50407A3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模擬模型面對新資料的表現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DA83E-A984-474B-8BE9-927CAD3E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58B25-7C02-4203-8B8B-0CB0B658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重要原則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52731-04F9-4BB2-946B-7D2D0C36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不可先看測試答案再調整規則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7706A-B458-43F3-AF60-2104F678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50463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E3B63-53FF-4342-8C1A-DAADC26C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1392A-289C-44BF-8B92-C6D51942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混淆矩陣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ED9C6-11D8-4DFF-AFF2-DF9AEEE1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9C683-5D18-421D-80A3-5B88B537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D4EDF-0295-4F0A-942C-D9283AD2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ED5FD-23FA-491C-A678-E1DA6E9A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真正例 True Positive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E0216-AD5D-415D-96EB-0B283BC5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實際為是，模型也判斷為是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F90E3-BAE3-4C22-9209-D0B8E75F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0FBC7-55E5-45F6-B47E-FE6AFDBF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真反例 True Negative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4519E-0E4E-45E0-801E-7A1CABA6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實際為否，模型也判斷為否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33AB9-AB82-4340-81CA-C28E9782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7E85D-7A8E-4A91-A495-D84E9A1F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偽陽性 False Positive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C8637-74A6-473D-AA10-968E8814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實際為否，模型判斷為是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1A5DD-50F4-472C-A404-38567EEA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F53EC-2592-4612-B79D-E9C4DF39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偽陰性 False Negative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A7272-886A-44FA-AEAF-E253EFD9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實際為是，模型判斷為否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A57BE-182A-403C-BC89-53657FEF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055511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D41BF-86D2-4AAF-90BF-08BD12BC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B09F2-937B-4CAE-8B4C-189E5A13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正確率與錯誤成本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5F31B-383B-4990-BACD-D3603589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D21CA-0DAA-46EB-AE70-71E8793B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31F99-AAF7-4866-A724-FC0C6C41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37491-A8C6-47E4-8546-1F04BDE8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872EC-3187-4AB4-9610-7D7695C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所有判斷中正確的比例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0CF8B-0797-47BD-B860-6BB29A55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67AF9-6C09-481E-A71A-51235BE8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類別失衡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63714-2C5F-48C4-BA5F-5FD3913E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大多數都屬於同一類時可能誤導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FB652-18FA-42A4-81C3-AE556B36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650BF-3785-4768-980D-23792338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金融情境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6A2F1-F66A-4B8E-A38B-D6C8695E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漏掉高風險與誤報的成本不同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35133-7D40-401A-BFA6-7FBCFA81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5116F-AA26-4DC3-AF1A-20AA5760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評估原則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94736-4235-416A-A110-6ED26484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依使用目的選擇適合的指標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FC82E-BDE9-4BBE-BDFB-094B3EE6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148843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48D69-525C-4B88-826E-EF75B5AE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34187-77E1-4138-8B2E-AFADE30A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過度配適 Overfitting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AC848-CCAB-4060-9201-C25BA6A1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47CD8-A902-4B01-89BF-FC7A57DA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0F0DF-AE73-43A8-8111-7A969D44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A6513-2DC1-4EAE-B578-421C7242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表現特徵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5B0C2-66B4-4691-B525-1D91291A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訓練資料很好，測試資料明顯較差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940DF-CDE0-4924-940D-B7119EE5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4A92F-6499-4B87-BCE8-8D580E85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常見原因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D870D-DC78-4EFD-95D2-F58443C0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樹太深、葉節點樣本太少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213C6-5FE5-4A95-95C6-B1BCFC83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33DCE-6E03-4A96-987E-27ECFF84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A946B-54D4-4537-B5D2-6F4BB72F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模型記住歷史細節，無法推廣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465B6-2BDB-491D-B5AC-DEB6035B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7D6E2-AA98-4310-9C13-A583D81D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處理方向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63B47-6375-4C31-85EA-F813D756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限制生長或進行剪枝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E4272-A912-40CC-B14F-E246B29D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031419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6EAC5-96D9-427B-B23F-ED6BA36A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1E878-368D-4625-9571-0BA01CD9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剪枝 Pruning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3A885-B3AB-46A4-AA3D-9F2CE69C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E2CA3-5700-4551-A154-33BCB7AD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1A7B2-C1C0-48D6-8D78-01D54C3D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7A7CB-73D2-41CF-BB83-44162BC7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C86F0-A223-49E3-883A-11632527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移除貢獻有限的分枝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1B1A3-9F78-4AEB-A81A-84C213D0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B93A3-25B0-4A4B-91A2-6A4C105A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目的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2E066-D882-4C63-A0E0-2179121B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讓樹更簡單並改善新資料表現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A899F-4EDE-41B0-A6EE-5F500FB9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3D2CF-9C54-4B43-BAD4-307DB007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代價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BE5A2-6522-400B-AB00-DA12E962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過度剪枝可能漏掉重要差異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867B2-BB87-4812-BB45-143341FB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57E33-92D2-4F6B-AE3C-355B72AA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選擇方式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B134E-C76C-42D8-8568-F792CBB3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用驗證結果比較不同樹的表現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F16FB-6BC8-4509-BA82-4534D9FB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62898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26B0E-F313-4C37-90E5-7AB886F6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DE964-998D-443B-B67D-7F9F3F3E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信用風險案例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9B4B5-6829-4E34-A325-6CAFDE2F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C75CE-3F15-4CB4-84FB-6309BD4C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CC9A8-26E6-4EAC-8177-85B7C795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87CCA-B603-4020-851B-4AAA4495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目標類別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ACB4B-DEDB-4A3F-A286-05F33EE2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是否發生逾期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51A2B-4241-4892-A449-05F17744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4BA4F-25A1-4CF4-BDA9-738BFDAE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可能特徵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07C66-8C98-44FC-BB69-4E83EDD4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負債比、繳款紀錄與收入穩定度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A8E3F-7D9E-49F5-966D-0A4B65D9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EF5CF-98F3-4C2B-A8B6-AFE2B58D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模型輸出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DC721-E065-451F-AC1F-268EF5D0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預測類別與判斷路徑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63FFE-77CB-4BBA-A867-85F98511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059C2-E7B6-462B-BB79-DBDF9493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使用限制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11C03-EE6A-48FB-8B61-198DB98B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模型支援審查，不取代法規與人工判斷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4EC4D-6E1A-4E70-93CF-96613849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811010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B8156-97DA-47D7-BC18-97D0E6B7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AA91C-F134-4DDF-9192-1AACDCD3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客戶流失案例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ECEAC-FEBA-4193-9008-D10BBC72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85ECE-907D-4293-B034-EE514ABB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6D094-2E36-496E-9EE8-1C96A437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F1570-9130-4C83-8BF6-C94CBBFB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目標類別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EC487-56E9-457F-BEC2-21953E4A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未來三個月是否流失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A86F4-0B26-4623-BABE-846A4C93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974FB-5F59-487E-B285-0E38423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可能特徵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05136-FE41-4E38-A3F9-66D09223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交易頻率、服務事件與產品持有變化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16A06-F12B-4153-B2A8-413F99E5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E51A6-7046-4AF3-9DDF-7B3684EA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可能行動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21855-3340-4D3F-B46C-932B6562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改善服務或提供適當協助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ADB93-04CD-461D-82B4-135C26A6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8E358-F7B1-4041-9BBF-C1BF16C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7F0E2-E129-47CE-8352-6ED80513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不可把預測直接當成客戶意圖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53230-6428-4FC5-B60E-C0A21704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013993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7BEAC-6653-4846-ADC0-E6028197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62D26-55F1-466F-B2BB-89783A46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公平與資料治理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6D4F9-74CA-48BD-BF0C-0E671B10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98500-37CE-407D-AC34-42C0CB53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445A5-4059-4851-9F74-C59E1C78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5E379-DB39-43B0-AE93-6B872012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敏感特徵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54984-0EC2-472E-8FED-DBC2B57A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需確認是否適合用於決策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9CEE5-95FE-4C60-ADCE-C267BFE8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83D94-3346-4981-A944-2BA27009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代理變數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B56D5-4D64-4B0B-9C7A-25CF0BDC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一般欄位也可能間接反映敏感身分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05F79-7408-4107-8A72-FA8CEE7E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512AA-0E35-4FC7-9DF3-F73D6528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定期檢查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F4A35-44ED-435C-90B1-50A64B85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比較不同群體的錯誤率與影響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3846A-8AA6-44C9-93EE-1252C99F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DFF6D-376E-497F-89B4-4D5F2DA0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責任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7B7B3-C5E0-4649-B4C1-0D011746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保留資料來源、版本與人工覆核紀錄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B9495-FDD1-4AA5-8647-FAE1B10B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28768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06257-C56C-4517-89BC-55E2532D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DBED7-59D7-465D-9588-F4BF8745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12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F874E-DBE4-425F-8A98-D7412566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7F231-11EF-40EF-B874-6B3D016B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A7036-4685-47E3-B799-7BDE277A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FBBAC-E5BC-46A8-ACE9-A10D252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分類基礎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0973B-7836-412A-B905-96EE6E90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以已知目標類別學習規則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CB0BF-A5C6-4910-A8CC-2E2037BD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9AFBC-BC0D-412E-9C76-3D78BD33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建樹原理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6A4DF-7873-414A-9773-78BA88F8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每次選擇能降低不純度的分割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042E6-9532-4181-B4B8-D3B92A03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D71AF-5EAD-4D41-885F-8DAFCA6F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模型檢驗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36760-FD4B-46D1-BDCA-AE25403B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使用測試資料與混淆矩陣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3C43D-B140-4760-BE72-ACCFC339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C5386-C5AB-490D-BDDA-89822BDF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實務使用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2C79C-30EB-4264-967A-31F7D686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控制過度配適並檢查公平與責任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F6B1C-B867-4385-99B0-63B00CB1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0501920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65292-7F27-4802-A403-984C8CC5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74948-6E71-4FC4-98DE-B6FEE9E4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64DDD-7723-4B6F-A662-BD3D6894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C3850-5639-4232-8BBF-A2A88C86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CA23C-D929-4DBF-8CE9-3FB5C0DD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3CA97-C139-4A40-9E1D-68168809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075D1-B851-430C-BD10-BF7ED418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測試集是否用來建立樹？（A 是　B 否）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02FE1-8E55-4814-BFAF-705947FE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偽陽性代表實際否但預測是嗎？（A 是　B 否）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E6EBF-C99D-4716-97A9-76C0510F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只看正確率是否總是足夠？（A 是　B 否）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FC4FD-D019-4572-9DB6-232A35A6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剪枝主要為了？（A 簡化模型　B 增加欄位）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884F7-3A3B-4873-A8CA-879656A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金融模型是否仍需人工覆核？（A 需要　B 不需要）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C7B3F-77B8-4374-8F4E-DAB8B668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753D3-A46A-44EA-9BA6-07F2CDAB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答案：1-B　2-A　3-B　4-A　5-A</a:t>
            </a:r>
          </a:p>
        </p:txBody>
      </p:sp>
    </p:spTree>
    <p:extLst>
      <p:ext uri="{BB962C8B-B14F-4D97-AF65-F5344CB8AC3E}">
        <p14:creationId xmlns:p14="http://schemas.microsoft.com/office/powerpoint/2010/main" val="1015549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2026-09-04T08:00:36.1800000Z</dcterms:created>
  <dcterms:modified xsi:type="dcterms:W3CDTF">2026-09-04T08:00:36.1800000Z</dcterms:modified>
</coreProperties>
</file>