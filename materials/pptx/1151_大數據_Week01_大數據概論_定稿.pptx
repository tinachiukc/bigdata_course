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e066951354bac" /><Relationship Type="http://schemas.openxmlformats.org/officeDocument/2006/relationships/extended-properties" Target="/docProps/app.xml" Id="R3c8147395aab4bb8" /><Relationship Type="http://schemas.openxmlformats.org/officeDocument/2006/relationships/officeDocument" Target="/ppt/presentation.xml" Id="Rcdac9273fc8247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f81dda6fa4d13"/>
  </p:sldMasterIdLst>
  <p:notesMasterIdLst>
    <p:notesMasterId xmlns:r="http://schemas.openxmlformats.org/officeDocument/2006/relationships" r:id="Rc09949bb396140a1"/>
  </p:notesMasterIdLst>
  <p:sldIdLst>
    <p:sldId xmlns:r="http://schemas.openxmlformats.org/officeDocument/2006/relationships" id="256" r:id="Rcdca2587c1a64974"/>
    <p:sldId xmlns:r="http://schemas.openxmlformats.org/officeDocument/2006/relationships" id="257" r:id="Rf0870c270c314451"/>
    <p:sldId xmlns:r="http://schemas.openxmlformats.org/officeDocument/2006/relationships" id="258" r:id="R437ea0c79a924f40"/>
    <p:sldId xmlns:r="http://schemas.openxmlformats.org/officeDocument/2006/relationships" id="259" r:id="Rbaf928acd6f14020"/>
    <p:sldId xmlns:r="http://schemas.openxmlformats.org/officeDocument/2006/relationships" id="260" r:id="R78ffe91e14a244b7"/>
    <p:sldId xmlns:r="http://schemas.openxmlformats.org/officeDocument/2006/relationships" id="261" r:id="R05f6906707b6405c"/>
    <p:sldId xmlns:r="http://schemas.openxmlformats.org/officeDocument/2006/relationships" id="262" r:id="Rc2ac97d285ec4c65"/>
    <p:sldId xmlns:r="http://schemas.openxmlformats.org/officeDocument/2006/relationships" id="263" r:id="R9cccefb848c04def"/>
    <p:sldId xmlns:r="http://schemas.openxmlformats.org/officeDocument/2006/relationships" id="264" r:id="Re2363844a7094421"/>
    <p:sldId xmlns:r="http://schemas.openxmlformats.org/officeDocument/2006/relationships" id="265" r:id="R6e713fcb4e744072"/>
    <p:sldId xmlns:r="http://schemas.openxmlformats.org/officeDocument/2006/relationships" id="266" r:id="Rada78be5e3eb41ad"/>
    <p:sldId xmlns:r="http://schemas.openxmlformats.org/officeDocument/2006/relationships" id="267" r:id="Rd33557c6576a40f4"/>
    <p:sldId xmlns:r="http://schemas.openxmlformats.org/officeDocument/2006/relationships" id="268" r:id="Rdd884dc933724651"/>
    <p:sldId xmlns:r="http://schemas.openxmlformats.org/officeDocument/2006/relationships" id="269" r:id="R7e550b9d8a4042e2"/>
    <p:sldId xmlns:r="http://schemas.openxmlformats.org/officeDocument/2006/relationships" id="270" r:id="R1c6a99d865524a75"/>
    <p:sldId xmlns:r="http://schemas.openxmlformats.org/officeDocument/2006/relationships" id="271" r:id="R911ba7b6e55349dd"/>
    <p:sldId xmlns:r="http://schemas.openxmlformats.org/officeDocument/2006/relationships" id="272" r:id="R68643b0bbdce485a"/>
    <p:sldId xmlns:r="http://schemas.openxmlformats.org/officeDocument/2006/relationships" id="273" r:id="Rf558de6e086c4672"/>
    <p:sldId xmlns:r="http://schemas.openxmlformats.org/officeDocument/2006/relationships" id="274" r:id="Rd9c50c3e57a44c25"/>
    <p:sldId xmlns:r="http://schemas.openxmlformats.org/officeDocument/2006/relationships" id="275" r:id="R44f11feb9d1d4bae"/>
    <p:sldId xmlns:r="http://schemas.openxmlformats.org/officeDocument/2006/relationships" id="276" r:id="R4dee87872b534695"/>
    <p:sldId xmlns:r="http://schemas.openxmlformats.org/officeDocument/2006/relationships" id="277" r:id="Rbb69f6250f594e33"/>
    <p:sldId xmlns:r="http://schemas.openxmlformats.org/officeDocument/2006/relationships" id="278" r:id="R267ed3399a25476d"/>
    <p:sldId xmlns:r="http://schemas.openxmlformats.org/officeDocument/2006/relationships" id="279" r:id="Ra08fc1a54e1b43a8"/>
    <p:sldId xmlns:r="http://schemas.openxmlformats.org/officeDocument/2006/relationships" id="280" r:id="Rabb2118ddcb74f14"/>
    <p:sldId xmlns:r="http://schemas.openxmlformats.org/officeDocument/2006/relationships" id="281" r:id="Rb471254bea7e4d34"/>
    <p:sldId xmlns:r="http://schemas.openxmlformats.org/officeDocument/2006/relationships" id="282" r:id="Re990588b37dc4188"/>
    <p:sldId xmlns:r="http://schemas.openxmlformats.org/officeDocument/2006/relationships" id="283" r:id="R667e7611fbc44bd1"/>
    <p:sldId xmlns:r="http://schemas.openxmlformats.org/officeDocument/2006/relationships" id="284" r:id="Rcba145a8e0184b4c"/>
    <p:sldId xmlns:r="http://schemas.openxmlformats.org/officeDocument/2006/relationships" id="285" r:id="R06f07f77ac4545e7"/>
    <p:sldId xmlns:r="http://schemas.openxmlformats.org/officeDocument/2006/relationships" id="286" r:id="R5344052f6a95496c"/>
    <p:sldId xmlns:r="http://schemas.openxmlformats.org/officeDocument/2006/relationships" id="287" r:id="Re4baabc80ab44f30"/>
    <p:sldId xmlns:r="http://schemas.openxmlformats.org/officeDocument/2006/relationships" id="288" r:id="R9c9943272c214a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5f87917eb44dd6" /><Relationship Type="http://schemas.openxmlformats.org/officeDocument/2006/relationships/slideMaster" Target="/ppt/slideMasters/slideMaster1.xml" Id="Rc3ff81dda6fa4d13" /><Relationship Type="http://schemas.openxmlformats.org/officeDocument/2006/relationships/notesMaster" Target="/ppt/notesMasters/notesMaster1.xml" Id="Rc09949bb396140a1" /><Relationship Type="http://schemas.openxmlformats.org/officeDocument/2006/relationships/presProps" Target="/ppt/presProps.xml" Id="R3f84a372f3a44cf6" /><Relationship Type="http://schemas.openxmlformats.org/officeDocument/2006/relationships/tableStyles" Target="/ppt/tableStyles.xml" Id="R9276f0771d774088" /><Relationship Type="http://schemas.openxmlformats.org/officeDocument/2006/relationships/slide" Target="/ppt/slides/slide1.xml" Id="Rcdca2587c1a64974" /><Relationship Type="http://schemas.openxmlformats.org/officeDocument/2006/relationships/slide" Target="/ppt/slides/slide2.xml" Id="Rf0870c270c314451" /><Relationship Type="http://schemas.openxmlformats.org/officeDocument/2006/relationships/slide" Target="/ppt/slides/slide3.xml" Id="R437ea0c79a924f40" /><Relationship Type="http://schemas.openxmlformats.org/officeDocument/2006/relationships/slide" Target="/ppt/slides/slide4.xml" Id="Rbaf928acd6f14020" /><Relationship Type="http://schemas.openxmlformats.org/officeDocument/2006/relationships/slide" Target="/ppt/slides/slide5.xml" Id="R78ffe91e14a244b7" /><Relationship Type="http://schemas.openxmlformats.org/officeDocument/2006/relationships/slide" Target="/ppt/slides/slide6.xml" Id="R05f6906707b6405c" /><Relationship Type="http://schemas.openxmlformats.org/officeDocument/2006/relationships/slide" Target="/ppt/slides/slide7.xml" Id="Rc2ac97d285ec4c65" /><Relationship Type="http://schemas.openxmlformats.org/officeDocument/2006/relationships/slide" Target="/ppt/slides/slide8.xml" Id="R9cccefb848c04def" /><Relationship Type="http://schemas.openxmlformats.org/officeDocument/2006/relationships/slide" Target="/ppt/slides/slide9.xml" Id="Re2363844a7094421" /><Relationship Type="http://schemas.openxmlformats.org/officeDocument/2006/relationships/slide" Target="/ppt/slides/slide10.xml" Id="R6e713fcb4e744072" /><Relationship Type="http://schemas.openxmlformats.org/officeDocument/2006/relationships/slide" Target="/ppt/slides/slide11.xml" Id="Rada78be5e3eb41ad" /><Relationship Type="http://schemas.openxmlformats.org/officeDocument/2006/relationships/slide" Target="/ppt/slides/slide12.xml" Id="Rd33557c6576a40f4" /><Relationship Type="http://schemas.openxmlformats.org/officeDocument/2006/relationships/slide" Target="/ppt/slides/slide13.xml" Id="Rdd884dc933724651" /><Relationship Type="http://schemas.openxmlformats.org/officeDocument/2006/relationships/slide" Target="/ppt/slides/slide14.xml" Id="R7e550b9d8a4042e2" /><Relationship Type="http://schemas.openxmlformats.org/officeDocument/2006/relationships/slide" Target="/ppt/slides/slide15.xml" Id="R1c6a99d865524a75" /><Relationship Type="http://schemas.openxmlformats.org/officeDocument/2006/relationships/slide" Target="/ppt/slides/slide16.xml" Id="R911ba7b6e55349dd" /><Relationship Type="http://schemas.openxmlformats.org/officeDocument/2006/relationships/slide" Target="/ppt/slides/slide17.xml" Id="R68643b0bbdce485a" /><Relationship Type="http://schemas.openxmlformats.org/officeDocument/2006/relationships/slide" Target="/ppt/slides/slide18.xml" Id="Rf558de6e086c4672" /><Relationship Type="http://schemas.openxmlformats.org/officeDocument/2006/relationships/slide" Target="/ppt/slides/slide19.xml" Id="Rd9c50c3e57a44c25" /><Relationship Type="http://schemas.openxmlformats.org/officeDocument/2006/relationships/slide" Target="/ppt/slides/slide20.xml" Id="R44f11feb9d1d4bae" /><Relationship Type="http://schemas.openxmlformats.org/officeDocument/2006/relationships/slide" Target="/ppt/slides/slide21.xml" Id="R4dee87872b534695" /><Relationship Type="http://schemas.openxmlformats.org/officeDocument/2006/relationships/slide" Target="/ppt/slides/slide22.xml" Id="Rbb69f6250f594e33" /><Relationship Type="http://schemas.openxmlformats.org/officeDocument/2006/relationships/slide" Target="/ppt/slides/slide23.xml" Id="R267ed3399a25476d" /><Relationship Type="http://schemas.openxmlformats.org/officeDocument/2006/relationships/slide" Target="/ppt/slides/slide24.xml" Id="Ra08fc1a54e1b43a8" /><Relationship Type="http://schemas.openxmlformats.org/officeDocument/2006/relationships/slide" Target="/ppt/slides/slide25.xml" Id="Rabb2118ddcb74f14" /><Relationship Type="http://schemas.openxmlformats.org/officeDocument/2006/relationships/slide" Target="/ppt/slides/slide26.xml" Id="Rb471254bea7e4d34" /><Relationship Type="http://schemas.openxmlformats.org/officeDocument/2006/relationships/slide" Target="/ppt/slides/slide27.xml" Id="Re990588b37dc4188" /><Relationship Type="http://schemas.openxmlformats.org/officeDocument/2006/relationships/slide" Target="/ppt/slides/slide28.xml" Id="R667e7611fbc44bd1" /><Relationship Type="http://schemas.openxmlformats.org/officeDocument/2006/relationships/slide" Target="/ppt/slides/slide29.xml" Id="Rcba145a8e0184b4c" /><Relationship Type="http://schemas.openxmlformats.org/officeDocument/2006/relationships/slide" Target="/ppt/slides/slide30.xml" Id="R06f07f77ac4545e7" /><Relationship Type="http://schemas.openxmlformats.org/officeDocument/2006/relationships/slide" Target="/ppt/slides/slide31.xml" Id="R5344052f6a95496c" /><Relationship Type="http://schemas.openxmlformats.org/officeDocument/2006/relationships/slide" Target="/ppt/slides/slide32.xml" Id="Re4baabc80ab44f30" /><Relationship Type="http://schemas.openxmlformats.org/officeDocument/2006/relationships/slide" Target="/ppt/slides/slide33.xml" Id="R9c9943272c214a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6909be7b35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4d85ffdca4487" /><Relationship Type="http://schemas.openxmlformats.org/officeDocument/2006/relationships/notesMaster" Target="/ppt/notesMasters/notesMaster1.xml" Id="R0c5ba8d213c7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9f37a2d5d247b4" /><Relationship Type="http://schemas.openxmlformats.org/officeDocument/2006/relationships/notesMaster" Target="/ppt/notesMasters/notesMaster1.xml" Id="Re53ed7145e9b48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b9592788ff4cee" /><Relationship Type="http://schemas.openxmlformats.org/officeDocument/2006/relationships/notesMaster" Target="/ppt/notesMasters/notesMaster1.xml" Id="Rad97c633907c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74fdb1a2a74436" /><Relationship Type="http://schemas.openxmlformats.org/officeDocument/2006/relationships/notesMaster" Target="/ppt/notesMasters/notesMaster1.xml" Id="R6c191f8c6819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07a9c092c4e4b" /><Relationship Type="http://schemas.openxmlformats.org/officeDocument/2006/relationships/notesMaster" Target="/ppt/notesMasters/notesMaster1.xml" Id="Rbe63ca1f44ac4e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31cff06f864a5c" /><Relationship Type="http://schemas.openxmlformats.org/officeDocument/2006/relationships/notesMaster" Target="/ppt/notesMasters/notesMaster1.xml" Id="R390cc0bb4fff40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94ed9c2b834fb7" /><Relationship Type="http://schemas.openxmlformats.org/officeDocument/2006/relationships/notesMaster" Target="/ppt/notesMasters/notesMaster1.xml" Id="R4064e03b8c7848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2244fd38df40fa" /><Relationship Type="http://schemas.openxmlformats.org/officeDocument/2006/relationships/notesMaster" Target="/ppt/notesMasters/notesMaster1.xml" Id="Ra4514f24d0ab4e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92451e49bc4b16" /><Relationship Type="http://schemas.openxmlformats.org/officeDocument/2006/relationships/notesMaster" Target="/ppt/notesMasters/notesMaster1.xml" Id="R01e192cd138840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b0dcd1602c4b97" /><Relationship Type="http://schemas.openxmlformats.org/officeDocument/2006/relationships/notesMaster" Target="/ppt/notesMasters/notesMaster1.xml" Id="Rfad2a3d4b84847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2d4eb830d541fb" /><Relationship Type="http://schemas.openxmlformats.org/officeDocument/2006/relationships/notesMaster" Target="/ppt/notesMasters/notesMaster1.xml" Id="Re765a241f28e41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a95ff292e0410d" /><Relationship Type="http://schemas.openxmlformats.org/officeDocument/2006/relationships/notesMaster" Target="/ppt/notesMasters/notesMaster1.xml" Id="R3f77095b276a48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581604d44d4f6c" /><Relationship Type="http://schemas.openxmlformats.org/officeDocument/2006/relationships/notesMaster" Target="/ppt/notesMasters/notesMaster1.xml" Id="R4a1920c3aa7441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034a8cb410476c" /><Relationship Type="http://schemas.openxmlformats.org/officeDocument/2006/relationships/notesMaster" Target="/ppt/notesMasters/notesMaster1.xml" Id="Re203c817524746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b292d42c3f4075" /><Relationship Type="http://schemas.openxmlformats.org/officeDocument/2006/relationships/notesMaster" Target="/ppt/notesMasters/notesMaster1.xml" Id="R1b3ac9caaa7c4c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6dd08cdc654c69" /><Relationship Type="http://schemas.openxmlformats.org/officeDocument/2006/relationships/notesMaster" Target="/ppt/notesMasters/notesMaster1.xml" Id="R588d6a55d6474e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d2ceacb59a4607" /><Relationship Type="http://schemas.openxmlformats.org/officeDocument/2006/relationships/notesMaster" Target="/ppt/notesMasters/notesMaster1.xml" Id="R79fd250996ad4c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47208096004d66" /><Relationship Type="http://schemas.openxmlformats.org/officeDocument/2006/relationships/notesMaster" Target="/ppt/notesMasters/notesMaster1.xml" Id="Rc910ddc274514c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da230e1cc04479" /><Relationship Type="http://schemas.openxmlformats.org/officeDocument/2006/relationships/notesMaster" Target="/ppt/notesMasters/notesMaster1.xml" Id="Rc6103b71e60343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d17cf6ae8047f0" /><Relationship Type="http://schemas.openxmlformats.org/officeDocument/2006/relationships/notesMaster" Target="/ppt/notesMasters/notesMaster1.xml" Id="R38a0148505c743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b7de17ee9743c9" /><Relationship Type="http://schemas.openxmlformats.org/officeDocument/2006/relationships/notesMaster" Target="/ppt/notesMasters/notesMaster1.xml" Id="R3b465604006e43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db78c618394785" /><Relationship Type="http://schemas.openxmlformats.org/officeDocument/2006/relationships/notesMaster" Target="/ppt/notesMasters/notesMaster1.xml" Id="Rf806e2b3a02842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c10000703c4b6b" /><Relationship Type="http://schemas.openxmlformats.org/officeDocument/2006/relationships/notesMaster" Target="/ppt/notesMasters/notesMaster1.xml" Id="R5d1c2fea24d445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69922499a04e8a" /><Relationship Type="http://schemas.openxmlformats.org/officeDocument/2006/relationships/notesMaster" Target="/ppt/notesMasters/notesMaster1.xml" Id="Ra79a0abda8b549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a4b0dfafc94ec5" /><Relationship Type="http://schemas.openxmlformats.org/officeDocument/2006/relationships/notesMaster" Target="/ppt/notesMasters/notesMaster1.xml" Id="R9066e5a4d27048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9989ac23f549fd" /><Relationship Type="http://schemas.openxmlformats.org/officeDocument/2006/relationships/notesMaster" Target="/ppt/notesMasters/notesMaster1.xml" Id="R71089a4ffdbb44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ab4dd71b5f4e05" /><Relationship Type="http://schemas.openxmlformats.org/officeDocument/2006/relationships/notesMaster" Target="/ppt/notesMasters/notesMaster1.xml" Id="R399a56b5fe8243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1b772ed9614a2f" /><Relationship Type="http://schemas.openxmlformats.org/officeDocument/2006/relationships/notesMaster" Target="/ppt/notesMasters/notesMaster1.xml" Id="R85e0536ff5c848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c755fc044443b9" /><Relationship Type="http://schemas.openxmlformats.org/officeDocument/2006/relationships/notesMaster" Target="/ppt/notesMasters/notesMaster1.xml" Id="Rd9aa2f77539048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7645337c5e416d" /><Relationship Type="http://schemas.openxmlformats.org/officeDocument/2006/relationships/notesMaster" Target="/ppt/notesMasters/notesMaster1.xml" Id="Rdf3b1c5f008549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50a987cca84d27" /><Relationship Type="http://schemas.openxmlformats.org/officeDocument/2006/relationships/notesMaster" Target="/ppt/notesMasters/notesMaster1.xml" Id="R682cbc2c57bb40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171e2f86dc4879" /><Relationship Type="http://schemas.openxmlformats.org/officeDocument/2006/relationships/notesMaster" Target="/ppt/notesMasters/notesMaster1.xml" Id="R8ad455217399416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1f0ec3e2a6478a" /><Relationship Type="http://schemas.openxmlformats.org/officeDocument/2006/relationships/notesMaster" Target="/ppt/notesMasters/notesMaster1.xml" Id="R2fe0ffe17c91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6–7 張；舊教材 PDF A 第 7–24 頁。</a:t>
            </a:r>
          </a:p>
          <a:p xmlns:a="http://schemas.openxmlformats.org/drawingml/2006/main">
            <a:r>
              <a:t>教學提示：開場先請學生說出今天已產生哪些資料。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8、22 頁；金融例子為本次新增。</a:t>
            </a:r>
          </a:p>
          <a:p xmlns:a="http://schemas.openxmlformats.org/drawingml/2006/main">
            <a:r>
              <a:t>教學提示：讓學生判斷哪些資料屬於交易資料、行為資料或文字資料。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9–11 張；舊教材 PDF A 第 8–10 頁。</a:t>
            </a:r>
          </a:p>
          <a:p xmlns:a="http://schemas.openxmlformats.org/drawingml/2006/main">
            <a:r>
              <a:t>教學提示：年份只作背景，不必展開成長篇歷史課。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12 張；舊教材 PDF A 第 11 頁。</a:t>
            </a:r>
          </a:p>
          <a:p xmlns:a="http://schemas.openxmlformats.org/drawingml/2006/main">
            <a:r>
              <a:t>教學提示：強調定義隨技術與組織能力而變動。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來源：依舊教材定義重新整理。</a:t>
            </a:r>
          </a:p>
          <a:p xmlns:a="http://schemas.openxmlformats.org/drawingml/2006/main">
            <a:r>
              <a:t>教學提示：用小銀行與大型銀行比較，讓學生理解相對性。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16、88 頁。</a:t>
            </a:r>
          </a:p>
          <a:p xmlns:a="http://schemas.openxmlformats.org/drawingml/2006/main">
            <a:r>
              <a:t>教學提示：請學生各舉一個金融資料例子。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來源：金融場域內容為本次新增。</a:t>
            </a:r>
          </a:p>
          <a:p xmlns:a="http://schemas.openxmlformats.org/drawingml/2006/main">
            <a:r>
              <a:t>教學提示：優先連結學生未來最常進入的銀行工作場域。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29–32 張；舊教材 PDF A 第 20–23 頁。</a:t>
            </a:r>
          </a:p>
          <a:p xmlns:a="http://schemas.openxmlformats.org/drawingml/2006/main">
            <a:r>
              <a:t>教學提示：用可疑交易資料一路走到阻擋或人工覆核。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來源：金融案例為本次新增，數字為教學情境。</a:t>
            </a:r>
          </a:p>
          <a:p xmlns:a="http://schemas.openxmlformats.org/drawingml/2006/main">
            <a:r>
              <a:t>教學提示：詢問學生：單看金額是否足以判定詐欺？答案是否定的。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來源：本節內容統整。</a:t>
            </a:r>
          </a:p>
          <a:p xmlns:a="http://schemas.openxmlformats.org/drawingml/2006/main">
            <a:r>
              <a:t>教學提示：用 60 秒請學生向同桌解釋大數據。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教學提示：讓學生先以手勢或舉牌回答，再顯示或口頭核對答案。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13–20 張；舊教材 PDF A 第 12–17 頁。</a:t>
            </a:r>
          </a:p>
          <a:p xmlns:a="http://schemas.openxmlformats.org/drawingml/2006/main">
            <a:r>
              <a:t>教學提示：先快速預告五個 V，再逐一展開。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14–15 張；舊教材 PDF A 第 13–14 頁。</a:t>
            </a:r>
          </a:p>
          <a:p xmlns:a="http://schemas.openxmlformats.org/drawingml/2006/main">
            <a:r>
              <a:t>教學提示：不背完整單位表，只建立尺度感。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16 張；舊教材 PDF A 第 15 頁。</a:t>
            </a:r>
          </a:p>
          <a:p xmlns:a="http://schemas.openxmlformats.org/drawingml/2006/main">
            <a:r>
              <a:t>教學提示：比較批次報表與即時風控。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17–18 張；舊教材 PDF A 第 16 頁。</a:t>
            </a:r>
          </a:p>
          <a:p xmlns:a="http://schemas.openxmlformats.org/drawingml/2006/main">
            <a:r>
              <a:t>教學提示：不要用圖片辨識遊戲占太多時間，改用金融資料辨識。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19–20 張；舊教材 PDF A 第 17 頁。</a:t>
            </a:r>
          </a:p>
          <a:p xmlns:a="http://schemas.openxmlformats.org/drawingml/2006/main">
            <a:r>
              <a:t>教學提示：避免沿用『80%資料不可靠』的無來源絕對敘述。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19–20、29–32 張。</a:t>
            </a:r>
          </a:p>
          <a:p xmlns:a="http://schemas.openxmlformats.org/drawingml/2006/main">
            <a:r>
              <a:t>教學提示：把『資料是石油』改成可衡量的價值問題。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 5V 框架新增金融案例。</a:t>
            </a:r>
          </a:p>
          <a:p xmlns:a="http://schemas.openxmlformats.org/drawingml/2006/main">
            <a:r>
              <a:t>教學提示：讓學生看到 5V 是系統設計問題，不是背誦清單。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來源：金融案例為本次新增。</a:t>
            </a:r>
          </a:p>
          <a:p xmlns:a="http://schemas.openxmlformats.org/drawingml/2006/main">
            <a:r>
              <a:t>教學提示：請學生說明第一列為何同時涉及量與速度。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 5V 框架新增。</a:t>
            </a:r>
          </a:p>
          <a:p xmlns:a="http://schemas.openxmlformats.org/drawingml/2006/main">
            <a:r>
              <a:t>教學提示：控制討論 3 分鐘，每組只說一個理由。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來源：本節內容統整。</a:t>
            </a:r>
          </a:p>
          <a:p xmlns:a="http://schemas.openxmlformats.org/drawingml/2006/main">
            <a:r>
              <a:t>教學提示：用一個銀行案例快速回顧五個 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教學提示：讓學生先以手勢或舉牌回答，再顯示或口頭核對答案。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21–25、29–33 張。</a:t>
            </a:r>
          </a:p>
          <a:p xmlns:a="http://schemas.openxmlformats.org/drawingml/2006/main">
            <a:r>
              <a:t>教學提示：連接前兩節，從資料特性進入組織運用。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21–25 張；舊教材 PDF A 第 18 頁。</a:t>
            </a:r>
          </a:p>
          <a:p xmlns:a="http://schemas.openxmlformats.org/drawingml/2006/main">
            <a:r>
              <a:t>教學提示：強調四項條件共同成熟，不把答案簡化為資料變多。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25 張；舊教材 PDF A 第 18、74–78 頁。</a:t>
            </a:r>
          </a:p>
          <a:p xmlns:a="http://schemas.openxmlformats.org/drawingml/2006/main">
            <a:r>
              <a:t>教學提示：後續各週方法會分別支援不同層次。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27–32 頁；本次重新組織。</a:t>
            </a:r>
          </a:p>
          <a:p xmlns:a="http://schemas.openxmlformats.org/drawingml/2006/main">
            <a:r>
              <a:t>教學提示：預告 W03 技術與 W05 資料挖礦流程。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30–32 張。</a:t>
            </a:r>
          </a:p>
          <a:p xmlns:a="http://schemas.openxmlformats.org/drawingml/2006/main">
            <a:r>
              <a:t>教學提示：連結學生未來可能擔任的業務、管理或分析角色。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來源：金融案例為本次新增。</a:t>
            </a:r>
          </a:p>
          <a:p xmlns:a="http://schemas.openxmlformats.org/drawingml/2006/main">
            <a:r>
              <a:t>教學提示：指出技術成效與客戶體驗必須一起衡量。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40–45 頁；內容依金融場域重新整理。</a:t>
            </a:r>
          </a:p>
          <a:p xmlns:a="http://schemas.openxmlformats.org/drawingml/2006/main">
            <a:r>
              <a:t>教學提示：避免把分析方法說成可直接跨場域複製。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 PPTX 第 33 張；治理與公平性內容為本次新增。</a:t>
            </a:r>
          </a:p>
          <a:p xmlns:a="http://schemas.openxmlformats.org/drawingml/2006/main">
            <a:r>
              <a:t>教學提示：作概念提醒，後續週次遇到模型時再深化。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來源：依課程倫理目標新增。</a:t>
            </a:r>
          </a:p>
          <a:p xmlns:a="http://schemas.openxmlformats.org/drawingml/2006/main">
            <a:r>
              <a:t>教學提示：小組討論 4 分鐘，每組選一題回答。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來源：全週內容統整。</a:t>
            </a:r>
          </a:p>
          <a:p xmlns:a="http://schemas.openxmlformats.org/drawingml/2006/main">
            <a:r>
              <a:t>教學提示：預告 W02 將進入大數據應用流程與金融案例。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來源：依本節投影片編製。</a:t>
            </a:r>
          </a:p>
          <a:p xmlns:a="http://schemas.openxmlformats.org/drawingml/2006/main">
            <a:r>
              <a:t>教學提示：讓學生先以手勢或舉牌回答，再顯示或口頭核對答案。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9973fd8e24a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2249b94a9449d" /><Relationship Type="http://schemas.openxmlformats.org/officeDocument/2006/relationships/slideLayout" Target="/ppt/slideLayouts/slideLayout1.xml" Id="Rff862787562b4f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862787562b4f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4b7e8d614474e" /><Relationship Type="http://schemas.openxmlformats.org/officeDocument/2006/relationships/notesSlide" Target="/ppt/notesSlides/notesSlide1.xml" Id="R968b59c691b5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1393e75784b22" /><Relationship Type="http://schemas.openxmlformats.org/officeDocument/2006/relationships/notesSlide" Target="/ppt/notesSlides/notesSlide2.xml" Id="R2b00f5bf973043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9b4607e254e97" /><Relationship Type="http://schemas.openxmlformats.org/officeDocument/2006/relationships/notesSlide" Target="/ppt/notesSlides/notesSlide3.xml" Id="Rcc258e758696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fabc9c4ef4861" /><Relationship Type="http://schemas.openxmlformats.org/officeDocument/2006/relationships/notesSlide" Target="/ppt/notesSlides/notesSlide4.xml" Id="R73d44dfa4c5b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6c26077f4fd8" /><Relationship Type="http://schemas.openxmlformats.org/officeDocument/2006/relationships/notesSlide" Target="/ppt/notesSlides/notesSlide5.xml" Id="R5d47ba33db5c4c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5277d7f884b3f" /><Relationship Type="http://schemas.openxmlformats.org/officeDocument/2006/relationships/notesSlide" Target="/ppt/notesSlides/notesSlide6.xml" Id="R23a77ed70d9f48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e4d44566a4523" /><Relationship Type="http://schemas.openxmlformats.org/officeDocument/2006/relationships/notesSlide" Target="/ppt/notesSlides/notesSlide7.xml" Id="R8be76fd758bc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0629565054504" /><Relationship Type="http://schemas.openxmlformats.org/officeDocument/2006/relationships/notesSlide" Target="/ppt/notesSlides/notesSlide8.xml" Id="Ra243018a9eba4a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c6698b5c49bc" /><Relationship Type="http://schemas.openxmlformats.org/officeDocument/2006/relationships/notesSlide" Target="/ppt/notesSlides/notesSlide9.xml" Id="R7127a5f0671645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44cda2434cfe" /><Relationship Type="http://schemas.openxmlformats.org/officeDocument/2006/relationships/notesSlide" Target="/ppt/notesSlides/notesSlide10.xml" Id="Rd40b6d02c9e94b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30d72db6840ed" /><Relationship Type="http://schemas.openxmlformats.org/officeDocument/2006/relationships/notesSlide" Target="/ppt/notesSlides/notesSlide11.xml" Id="Rfd09db3b50854e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f5425e4624677" /><Relationship Type="http://schemas.openxmlformats.org/officeDocument/2006/relationships/notesSlide" Target="/ppt/notesSlides/notesSlide12.xml" Id="Rd032cc548a2f48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41bce95b145bc" /><Relationship Type="http://schemas.openxmlformats.org/officeDocument/2006/relationships/notesSlide" Target="/ppt/notesSlides/notesSlide13.xml" Id="R16ee34d647f448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017c889724206" /><Relationship Type="http://schemas.openxmlformats.org/officeDocument/2006/relationships/notesSlide" Target="/ppt/notesSlides/notesSlide14.xml" Id="Rfae594377c9a47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8055770fa4b07" /><Relationship Type="http://schemas.openxmlformats.org/officeDocument/2006/relationships/notesSlide" Target="/ppt/notesSlides/notesSlide15.xml" Id="Rd3c31147f6ac46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2f2c0eadc45cf" /><Relationship Type="http://schemas.openxmlformats.org/officeDocument/2006/relationships/notesSlide" Target="/ppt/notesSlides/notesSlide16.xml" Id="Rf960744a53fe4c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c8fb5a6a4d21" /><Relationship Type="http://schemas.openxmlformats.org/officeDocument/2006/relationships/notesSlide" Target="/ppt/notesSlides/notesSlide17.xml" Id="R6265f2dfe7ef44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206c878084d95" /><Relationship Type="http://schemas.openxmlformats.org/officeDocument/2006/relationships/notesSlide" Target="/ppt/notesSlides/notesSlide18.xml" Id="Rafde7989860d43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d544e0fa34be0" /><Relationship Type="http://schemas.openxmlformats.org/officeDocument/2006/relationships/notesSlide" Target="/ppt/notesSlides/notesSlide19.xml" Id="R8c7381cb1a3e49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7e10f7a3d45f6" /><Relationship Type="http://schemas.openxmlformats.org/officeDocument/2006/relationships/notesSlide" Target="/ppt/notesSlides/notesSlide20.xml" Id="Ra7a50932ce3045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e9b7ea21405c" /><Relationship Type="http://schemas.openxmlformats.org/officeDocument/2006/relationships/notesSlide" Target="/ppt/notesSlides/notesSlide21.xml" Id="R3210446eb2c848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7180199cc4d74" /><Relationship Type="http://schemas.openxmlformats.org/officeDocument/2006/relationships/notesSlide" Target="/ppt/notesSlides/notesSlide22.xml" Id="R8919cc3346514c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a02443994958" /><Relationship Type="http://schemas.openxmlformats.org/officeDocument/2006/relationships/notesSlide" Target="/ppt/notesSlides/notesSlide23.xml" Id="R6e3e7b74953f40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00e5dd4d24585" /><Relationship Type="http://schemas.openxmlformats.org/officeDocument/2006/relationships/notesSlide" Target="/ppt/notesSlides/notesSlide24.xml" Id="R1f2bc995a66840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82bc2458d4f06" /><Relationship Type="http://schemas.openxmlformats.org/officeDocument/2006/relationships/notesSlide" Target="/ppt/notesSlides/notesSlide25.xml" Id="R545419a893634a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62d3dbef4344" /><Relationship Type="http://schemas.openxmlformats.org/officeDocument/2006/relationships/notesSlide" Target="/ppt/notesSlides/notesSlide26.xml" Id="Rd54d688317544d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0b313819d4970" /><Relationship Type="http://schemas.openxmlformats.org/officeDocument/2006/relationships/notesSlide" Target="/ppt/notesSlides/notesSlide27.xml" Id="Rf49eaf41958a472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766081c3f4edc" /><Relationship Type="http://schemas.openxmlformats.org/officeDocument/2006/relationships/notesSlide" Target="/ppt/notesSlides/notesSlide28.xml" Id="R6b853169158c43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30ae5800b4707" /><Relationship Type="http://schemas.openxmlformats.org/officeDocument/2006/relationships/notesSlide" Target="/ppt/notesSlides/notesSlide29.xml" Id="R7c47735eb15944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b7ec5983f4984" /><Relationship Type="http://schemas.openxmlformats.org/officeDocument/2006/relationships/notesSlide" Target="/ppt/notesSlides/notesSlide30.xml" Id="R87dfef958fed402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10c0c85a4836" /><Relationship Type="http://schemas.openxmlformats.org/officeDocument/2006/relationships/notesSlide" Target="/ppt/notesSlides/notesSlide31.xml" Id="Rd48d0637727043d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bcc352fbb4902" /><Relationship Type="http://schemas.openxmlformats.org/officeDocument/2006/relationships/notesSlide" Target="/ppt/notesSlides/notesSlide32.xml" Id="Ra572212bb9b6497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8d81b55ad42e5" /><Relationship Type="http://schemas.openxmlformats.org/officeDocument/2006/relationships/notesSlide" Target="/ppt/notesSlides/notesSlide33.xml" Id="Rd20d4bd5e87c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45A73-145F-4C1E-A9FA-B3B219A7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B6F9D-0981-4A23-B5A6-221820C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01｜大數據概論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232DA-0C9B-4702-92ED-828659C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三節路線：看懂大數據、拆解 5V、連回金融決策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EA114-DFDA-49D7-8A3E-4243ECD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06276-F106-4077-9F01-5CEE4484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A96B1-B537-4023-A33A-92EE878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3CC2-B38D-4B37-9A5B-FE4852CF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資料很多，只是起點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8F30C-FB1B-4106-9FAE-0275B276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4E5A7-ABA6-4654-8B6D-E5C176A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大數據是什麼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912BC-B077-4165-B4B2-50500D6C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671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47C66-8B72-4708-84C3-1900357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B1B21-CF30-4556-8207-3714501D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5V 如何辨識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7B7FE-95AB-4893-8707-67DE8BF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671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B6BC7-5FC9-4AD0-91FD-2B6C4DE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06D8E-A8E3-485F-9895-949FA64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資料如何創造價值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D877-C587-4D61-9A75-1F52AD2D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本週目標：能用金融情境解釋大數據，並辨認資料價值與風險</a:t>
            </a:r>
          </a:p>
        </p:txBody>
      </p:sp>
    </p:spTree>
    <p:extLst>
      <p:ext uri="{BB962C8B-B14F-4D97-AF65-F5344CB8AC3E}">
        <p14:creationId xmlns:p14="http://schemas.microsoft.com/office/powerpoint/2010/main" val="1731905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530D6-70E6-4D0A-B0AC-F22CD44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2EC4D-1F27-40BE-AD6F-27CE61B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一天之內，金融資料持續產生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B0F49-532D-41CD-BA46-D65A663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ED2E7-0B10-43DD-91BB-CF511123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4D591-D6E8-4F21-A321-1E8717F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69067-719A-4B05-99B9-DD018B6A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登入行動銀行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534DD-081B-464B-9889-1D86A16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時間、裝置、位置、驗證結果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AC9AC-2FDB-486B-B619-9AD6E07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CF12F-61F1-46C9-9CED-1D0F9651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刷卡或轉帳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0FF06-7A83-44F3-8C75-E4A6037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金額、商店、帳戶、交易序列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BA5F5-9CD3-45F9-A721-AA49695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37379-E151-4444-9C32-8BC1496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瀏覽投資商品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EA465-EB19-454B-B885-731FB7B0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點擊、停留、搜尋、風險屬性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85A39-D7C6-49F6-96F2-489FB29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82A12-1382-4831-AA3F-8CB5C4B1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聯絡客服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1B43F-4F1D-41EA-B3E4-0771E320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文字、語音、問題類型、處理結果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C04A1-FACE-4517-8AA9-8A53A9E9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91C3A-E148-443B-A4C6-0795B47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大數據的第一個直覺：資料量增加，也變得更快、更多樣</a:t>
            </a:r>
          </a:p>
        </p:txBody>
      </p:sp>
    </p:spTree>
    <p:extLst>
      <p:ext uri="{BB962C8B-B14F-4D97-AF65-F5344CB8AC3E}">
        <p14:creationId xmlns:p14="http://schemas.microsoft.com/office/powerpoint/2010/main" val="1410091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F7EAB-3316-4EEE-985F-3D9DEE53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079AE-F520-4138-8E14-4DC3A0C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從資料洪流到大數據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9F419-5812-4C6B-BBC8-E10F2EFE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Big Data 一詞在 2008–2011 年間快速進入研究與商業討論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2C683-686B-46AE-8516-FAAA3229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462D4-9C66-41BC-B7B0-E51C68C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5BA4-3607-4302-A718-91FB591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8BF63-0AA8-42E5-8CE0-05683E3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2008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82B90-CAE4-4372-80F5-1453B61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科學研究關注大量資料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A9092-FBD4-407C-AA3B-4853DD8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7622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0B673-8B0C-4689-AE39-131F086F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238375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2010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DB858-918F-4C75-BE58-6523E904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695575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The Data Deluge 引發討論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76EFC-8DAA-4402-B706-797BA393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F9C40-86C4-472A-97F7-B5A300A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2011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71724-58AE-4C6C-BB35-4B560A7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企業開始強調生產力與競爭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9FCF7-03C4-49CE-8979-E545B17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7622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BE464-A59F-43C5-9C73-4D4A6C14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238375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今天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7B03B-FA75-42FE-AC19-BE9D8DF8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695575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資料成為日常營運基礎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0B8B4-C37D-4561-B999-FCF08410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歷史的重點不在年份，而在問題改變：傳統工具開始難以負荷資料需求</a:t>
            </a:r>
          </a:p>
        </p:txBody>
      </p:sp>
    </p:spTree>
    <p:extLst>
      <p:ext uri="{BB962C8B-B14F-4D97-AF65-F5344CB8AC3E}">
        <p14:creationId xmlns:p14="http://schemas.microsoft.com/office/powerpoint/2010/main" val="1256001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3249D-E33D-440D-B370-385E221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38B83-AFA3-4CF8-884E-34F165D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大數據的工作定義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E2241-79AA-4B7D-BF9B-5D31F15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71F48-8AF3-4296-850D-874EA88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B59EF-6D80-4FD5-876E-FA28F8A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7858C-ED09-4C14-A119-D077A06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1019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超出既有工具與流程可有效處理的資料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C2EB8-D452-448F-8A39-149CCC3E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BDA05-D69F-42CD-9437-6011DAE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判斷關鍵不是固定門檻，而是現有能力能否在需要的時間內完成儲存、管理、分析與行動。</a:t>
            </a:r>
          </a:p>
        </p:txBody>
      </p:sp>
    </p:spTree>
    <p:extLst>
      <p:ext uri="{BB962C8B-B14F-4D97-AF65-F5344CB8AC3E}">
        <p14:creationId xmlns:p14="http://schemas.microsoft.com/office/powerpoint/2010/main" val="681170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3466E-70D8-4AA6-8CBC-08D92B9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234C9-BBB1-4684-8E0D-DB479E38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一般資料與大數據情境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1CD4C-A461-4428-A021-ECA3C98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D84F-A9B4-4696-B7FB-B36C9B23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6060B-528C-41B3-AAEF-4AA7895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378E7-B514-40C0-8FB6-F90857E3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一般資料情境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63BC1-392E-43C2-9B93-B9CFCA0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大數據情境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35F10-9DD6-4C38-9BAD-B840B67B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5F44B-38C5-4BAC-B5D1-033733ED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單一來源，格式一致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資料量可由既有工具處理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更新速度不影響決策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906DC-EA93-4D47-84B9-675FD99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多個系統與外部來源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資料規模或複雜度超出既有流程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必須快速處理才能降低損失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C405C-2E6F-4216-8F9C-25C682A1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同一份資料，對不同組織可能有不同難度</a:t>
            </a:r>
          </a:p>
        </p:txBody>
      </p:sp>
    </p:spTree>
    <p:extLst>
      <p:ext uri="{BB962C8B-B14F-4D97-AF65-F5344CB8AC3E}">
        <p14:creationId xmlns:p14="http://schemas.microsoft.com/office/powerpoint/2010/main" val="568055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CC9EC-A231-43CE-B4C1-D2EE55BB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F098-17D1-43DF-BB42-253BC1C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資料不只是一張表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3BB6D-CFCA-429E-B792-0267210F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3C2CF-2DDE-4AAB-AFB9-F04191A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C1EE9-0D87-4101-9DFB-E7D415F4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D35BA-A618-40DE-AACE-8C78BE9A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結構化資料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F836C-8B08-4646-899F-AD7EDC5E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欄列清楚、格式固定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FE0CB-42B5-4AA4-9298-E6C40AF0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06896-8A8F-48B0-AA05-51A3086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交易明細、帳戶餘額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6A814-E350-4677-899C-22CD870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半結構化資料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C22F4-EC9F-4D91-B588-35A11A9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有標記，但結構可變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3E89E-775B-43F6-9DB0-6E48AE7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5B7C8-2308-4A8F-9C3A-3AB6FC0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JSON、系統紀錄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EDDA6-5E73-4A8A-9BDE-BDB9ADE7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非結構化資料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B64A1-3034-4F38-BC1B-388FFE4B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沒有固定欄列表格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AD38D-CCFE-496F-B135-2BA5F55F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38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53E5-75D5-43F8-A5EB-1D9B04B5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客服文字、語音、影像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CB746-5B21-4A2E-9482-08CB7E2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資料型態會影響儲存方式、分析方法與風險管理</a:t>
            </a:r>
          </a:p>
        </p:txBody>
      </p:sp>
    </p:spTree>
    <p:extLst>
      <p:ext uri="{BB962C8B-B14F-4D97-AF65-F5344CB8AC3E}">
        <p14:creationId xmlns:p14="http://schemas.microsoft.com/office/powerpoint/2010/main" val="673909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648B5-4C78-4A0F-9C56-15DD58F6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02DCD-2270-4475-B641-0C4B35A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金融業的大數據地圖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8411B-EC7C-4995-889C-DCE4ED2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DED43-48BA-4501-B67B-1D8B4236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CEA79-4B10-4DA7-A6C6-E156B70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77C06-AE93-413A-B9D5-E5CC05D5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場域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6534E-CCC7-4B33-AE2B-54A3DF4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常見資料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F8722-853E-4892-BB6A-C84A1C7B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81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可能問題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EBE8F-791C-4AC7-8C26-EE608C47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銀行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D8C3B-C462-46C2-A2A4-8315F68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存放款、支付、客服、授信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AE482-EFE2-4AC0-ACF4-52B3A76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詐欺偵測、客戶服務、信用風險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558B0-DC3D-489D-87B1-D6A287E7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94EC7-E1E2-4FBA-996B-A95A9BD3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證券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74BAE-FD99-4DED-A959-4D90E988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委託、成交、行情、研究文字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0D571-5A60-40CC-8ED7-AB35F524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交易監測、投資人服務、風險管理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CC033-291F-4D2A-A225-54EE2216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92AD3-B772-4579-84C3-A30ED6C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保險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019FD-701C-4FC2-B1E7-F756E999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投保、理賠、健康與服務紀錄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21BE9-B2E7-458E-A3BA-26074A98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623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核保、理賠效率、異常案件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994C8-1E03-493B-A538-9367009F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794F7-F5CC-46A8-8837-3A38D9F1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投信投顧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85818-6182-4894-A467-2AC006D0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市場資料、基金持倉、新聞與報告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0E91E-4C54-4076-B98A-309247F7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005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投資研究、風險監控、客戶溝通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3E2E5-A250-46F6-B00B-7426EB99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1045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32156-7E64-424B-A1C6-16BEF92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DCA1A-0B45-4B88-B5C5-8476A554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資料必須經過轉換才有價值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98AC0-D438-4EBF-A81F-D55E92C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EAF63-6B57-4F8A-8C7B-CAA3996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7BD4-640E-4491-BD85-9A8F8630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7F325-3EF0-457B-A9A3-1AB18CF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77A3B-CEB7-4066-884B-FF1D422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178F4-D46A-4BA8-8AD8-ADF1E9B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1F73C-3748-413C-87ED-CBADA63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尚未解讀的紀錄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C37B6-21C5-4E85-9C4F-4608B9C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75D74-20F1-41EA-AEC5-6761DFF1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資訊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4C29D-BA25-44F1-9927-5C5B9CB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00B8D-B95D-4ACD-A476-1D51E62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整理後可讀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118FC-08F7-4D37-BB2C-6A44E5BE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DC156-766A-4218-84BE-239CFBC6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知識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DE732-C98A-4BF4-AA82-3FFB777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75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73E9C-DB44-4896-8E9E-F6DCAF1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找到規律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A67C9-447A-4DDF-BC62-BFA5FC0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BB653-B6ED-44FB-B4D0-08A0CEA8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洞察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C8535-F979-4EC3-BA4F-CD22F58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59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F3B54-241F-4599-B377-4105FC28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理解原因與影響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8B086-0949-42D0-B64E-811F9EF1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C288E-1614-4597-AFC5-956EA72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行動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79229-51A8-4894-95DF-0317240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3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2D4F6-089F-4446-B196-1D5CC092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調整決策與流程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F037E-79B9-43EF-B3E8-3394232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資料本身不等於價值；組織必須完成解讀與行動</a:t>
            </a:r>
          </a:p>
        </p:txBody>
      </p:sp>
    </p:spTree>
    <p:extLst>
      <p:ext uri="{BB962C8B-B14F-4D97-AF65-F5344CB8AC3E}">
        <p14:creationId xmlns:p14="http://schemas.microsoft.com/office/powerpoint/2010/main" val="18454085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7FCA9-3DA8-4A72-995B-76506CF3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3407B-F15B-41BA-9514-578ADC1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情境：一筆轉帳突然變得可疑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6D786-0078-40A9-B831-79201EE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03BF1-D11E-40D9-AD0E-BD5730C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E6516-2A5F-454E-890F-AFAAA782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70CD-3B58-4410-AD4C-1C4A793C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某客戶平常每次轉帳 5,000 元以下，深夜突然向新帳戶轉出 280,000 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0C929-B101-4211-9831-EF9D025A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E5F4A-3BD7-4CCD-B783-03D51207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歷史金額、時間、收款人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6BE37-5644-417F-AB45-FA6B992C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36671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07D4D-1A96-499A-9604-2184E6FA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432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比較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16BC3-5E2E-4418-BC13-7E331F5E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6004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與個人過往模式不同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1A2B9-361A-44AD-8381-C99FEFF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671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EBE29-4D75-425B-A7D7-5F712607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判斷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9F397-3C7E-44AA-8A10-90CF3CA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04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風險分數升高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AED26-2F08-4EE3-A44C-D22B47A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6671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48E56-71B5-4544-B214-C6A8113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1432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0142F-F8F1-4B4E-896D-F0B0CBC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6004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加強驗證或人工覆核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05BA6-CCB0-42B6-9A27-9EB6080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分析提供風險訊號；最終處置仍需制度、規則與人員判斷</a:t>
            </a:r>
          </a:p>
        </p:txBody>
      </p:sp>
    </p:spTree>
    <p:extLst>
      <p:ext uri="{BB962C8B-B14F-4D97-AF65-F5344CB8AC3E}">
        <p14:creationId xmlns:p14="http://schemas.microsoft.com/office/powerpoint/2010/main" val="17039755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78305-9569-44E5-8442-28CE478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74935-1329-427F-87B5-5E343E7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CC32-53B0-4DE4-BFC8-E51357DF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15320-48AE-4ACD-ACDA-F1E18D9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EA00E-7D41-48E4-A6F7-75166D7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4C3DD-FE84-48AC-8612-26F34675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能說清楚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446F9-5119-4C2B-A6A0-8180DF10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還要記得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0FB8E-8BF5-40BB-936C-618917BE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53882-389D-4F41-8B47-E14CAD8B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大數據是相對於既有處理能力的概念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資料可能是結構化、半結構化或非結構化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金融業每天產生大量交易與行為資料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01D7-5B7A-4A11-893B-3D041B0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資料多不代表一定有價值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分析結果必須連到業務問題與行動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風險判斷不能只依賴單一訊號</a:t>
            </a:r>
          </a:p>
        </p:txBody>
      </p:sp>
    </p:spTree>
    <p:extLst>
      <p:ext uri="{BB962C8B-B14F-4D97-AF65-F5344CB8AC3E}">
        <p14:creationId xmlns:p14="http://schemas.microsoft.com/office/powerpoint/2010/main" val="1034045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B993B-A183-436A-9F9F-C2B98BC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480C-1B97-4253-960C-278D9B62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00674-4696-4B07-AE16-B14A056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CA18-877C-4953-9B75-0E146EA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09397-829D-48CE-83C3-A05DBBF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E060C-A9C3-4B92-B9B1-D74B9FB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B7BCC-7E0A-43E9-B82C-0ADCC24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哪一項最符合大數據的工作定義？（A 固定超過 PB　B 超出既有能力有效處理　C 只有網路資料）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99996-EA15-4A38-8BD7-D01E630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客服對話文字通常屬於哪一類資料？（A 結構化　B 半結構化　C 非結構化）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75915-E976-4B0F-8558-0D5374E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交易紀錄整理成每月異常率，最接近哪一層？（A 資訊　B 行動　C 原始資料）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C5A57-27B9-4A77-B409-8681020E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052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同一資料集對不同銀行的處理難度可能不同嗎？（A 可能　B 不可能）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8076-D347-461D-ABD5-B053680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可疑轉帳分析後，最合理的下一步是？（A 直接永久停權　B 依制度加強驗證或覆核　C 忽略）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81309-D171-472B-8E5C-510EA128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EB09-F3CB-462A-82BE-0EC44975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62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2-C　3-A　4-A　5-B</a:t>
            </a:r>
          </a:p>
        </p:txBody>
      </p:sp>
    </p:spTree>
    <p:extLst>
      <p:ext uri="{BB962C8B-B14F-4D97-AF65-F5344CB8AC3E}">
        <p14:creationId xmlns:p14="http://schemas.microsoft.com/office/powerpoint/2010/main" val="2075407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77BFF-67B3-47F2-A301-63CA5153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58094-FA45-4BDE-802B-F5F19DD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第二節｜用 5V 拆解大數據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6D6CE-8190-4A8F-8BDA-51F7597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78674-364D-462B-AD83-684C239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A5DB1-87A4-46B9-BA73-D2A30BD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22D6A-C21F-47DE-BD12-86F0FBF7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Volume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25E9B-586A-486A-8EC6-5451AB5A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量有多大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48653-1E33-4881-BF91-63710630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Velocity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90701-89C2-4697-BC2E-C8A9CC37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62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來得多快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02C3-B5C0-4574-A2D2-E6BF029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Variety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8B436-F662-4880-807C-7A6C2055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62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形式多廣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BF115-8ED5-4302-B88A-23F027FB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Veracity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D9718-2F95-4AC2-8CD9-9318877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62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可信程度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3C59E-DDF2-45E6-A5F2-7D663E27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4F9F2-F0A0-4368-820F-27488150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762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能否產生價值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F1114-9C8F-484F-8F34-37E8F665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4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5V 是提問框架，不是五個互不相干的標籤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58DA6-83ED-4DB4-B5F2-8AF464C6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006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同一個金融案例通常同時涉及多個 V</a:t>
            </a:r>
          </a:p>
        </p:txBody>
      </p:sp>
    </p:spTree>
    <p:extLst>
      <p:ext uri="{BB962C8B-B14F-4D97-AF65-F5344CB8AC3E}">
        <p14:creationId xmlns:p14="http://schemas.microsoft.com/office/powerpoint/2010/main" val="332327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36F3E-035C-4E73-85B7-EB7B4BF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F069-4E80-45EA-B184-24DECCB2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Volume｜資料量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885C-9ED3-4BB3-B2E3-67D18D1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75E08-78A7-4C11-8120-F4D1E3E4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92FBF-7EC4-4E0A-B394-934667B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58E8D-BF36-4373-AD46-84C41DB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1019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規模大到需要新的處理方式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B52A9-0667-4DFE-9444-FEB8F97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9AB12-1ACF-4A9D-9B05-23283941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金融資料會隨客戶數、交易頻率、保存年限與資料欄位持續累積。重點是容量、成本與查詢效率。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55C8B-88C9-4D5F-9E36-CCEDE6A5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KB　MB　GB　TB　PB　EB　ZB</a:t>
            </a:r>
          </a:p>
        </p:txBody>
      </p:sp>
    </p:spTree>
    <p:extLst>
      <p:ext uri="{BB962C8B-B14F-4D97-AF65-F5344CB8AC3E}">
        <p14:creationId xmlns:p14="http://schemas.microsoft.com/office/powerpoint/2010/main" val="1624277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85898-4E99-4339-AF06-D401902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F1D9F-94A1-4496-972B-B66118B7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Velocity｜資料速度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9E1F1-90E5-4011-8E3E-4211C77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8C84-89EB-4BF8-86F9-74A4D91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BE03C-D595-4A18-BA25-FEB368A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1DC9-5C24-4B3D-823D-6FC2BD98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4BA15-3294-4459-9F9E-53F27DB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刷卡與轉帳持續發生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6EA1C-C936-4FE2-89FE-54F1594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61937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49110-9DB5-498E-8CDF-9F6F2D1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09550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傳送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5C65-9D8B-47BE-82D2-034AD03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55270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系統快速收到事件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F2791-D0E5-4380-9A6C-DA228D3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1937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D06FD-ECFD-4A3E-B9AE-9498FFB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1CA75-EB1A-4198-8699-4328011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規則或模型即時計算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5C631-6066-4E37-BEF9-25448BA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61937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FF270-47AA-4127-A3B4-596BA2B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09550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反應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49205-C900-4057-80AF-C9C14474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5270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放行、驗證或覆核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A6C7F-4B2F-439A-824B-31F4A818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862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速度的價值取決於決策時限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2E2DF-3DA9-4FF7-91D9-66A1B9F1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月底報表可以批次處理；詐欺偵測往往需要在交易當下反應</a:t>
            </a:r>
          </a:p>
        </p:txBody>
      </p:sp>
    </p:spTree>
    <p:extLst>
      <p:ext uri="{BB962C8B-B14F-4D97-AF65-F5344CB8AC3E}">
        <p14:creationId xmlns:p14="http://schemas.microsoft.com/office/powerpoint/2010/main" val="2654051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C859E-6AFB-46DD-949C-064FF09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0EA46-50B0-4DFE-85BB-2B4B51C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Variety｜資料多樣性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0D203-99EC-4627-8B03-6C3356F4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542A4-1F58-4CBE-AE77-F8AA5F2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4E097-FE9E-484B-B544-5311229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DCE4-9E6E-4B46-9D90-39DD07B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傳統表格資料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C92D1-28F3-4FBC-9B6A-CBC8E807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新的資料形式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36417-F64E-4A8C-A656-8CA2C02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3EBB0-527F-480E-BD0C-92192E7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帳戶與客戶基本資料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交易金額與時間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商品代碼與通路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6A2CB-E6BD-46BD-80D6-B318DCB7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客服文字與錄音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APP 操作軌跡與系統紀錄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文件、影像與公開新聞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EE62D-F415-404A-82D1-227111A9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7212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多樣性提高資訊完整度，也增加整合難度</a:t>
            </a:r>
          </a:p>
        </p:txBody>
      </p:sp>
    </p:spTree>
    <p:extLst>
      <p:ext uri="{BB962C8B-B14F-4D97-AF65-F5344CB8AC3E}">
        <p14:creationId xmlns:p14="http://schemas.microsoft.com/office/powerpoint/2010/main" val="5356528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78B44-83AD-44CA-96A8-F733EDD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2ABF-0DDA-4D82-BD54-A7C130E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Veracity｜資料可信度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F2369-6411-4B3A-A2E2-0E5E6E3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50A97-4FF1-4750-94F6-8E455492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AC7F8-75D1-493E-A5C7-140F682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E72C6-654E-4000-B6B3-47FDD59F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缺漏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5374C-3C83-49D1-A98F-662679A0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客戶欄位沒有填寫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EB4B2-83BC-4583-8A12-FCC28158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393A2-AFED-4D9A-81D8-6C69A20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錯誤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1AE0-5CD1-489A-B20D-4ACD2EF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479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金額單位或日期格式不一致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69CAE-74B0-4282-A4BE-0212713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9E846-18AF-4CED-8AAE-DB05742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偏差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0359D-E673-478A-9CBB-808421BB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42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資料只來自部分通路或族群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A3AC4-77A4-46B2-834B-396AB69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2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84A71-C174-437B-B013-A6E935CF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過時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C512C-5BCE-4A70-92D9-AC2DBB3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005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客戶狀態已改變，資料尚未更新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2941B-78F3-48BF-B104-6886F62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38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4911D-833A-4580-A71E-40171B2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錯誤輸入會導致錯誤輸出：模型不能替資料品質補洞</a:t>
            </a:r>
          </a:p>
        </p:txBody>
      </p:sp>
    </p:spTree>
    <p:extLst>
      <p:ext uri="{BB962C8B-B14F-4D97-AF65-F5344CB8AC3E}">
        <p14:creationId xmlns:p14="http://schemas.microsoft.com/office/powerpoint/2010/main" val="454287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C146B-617D-4249-B858-DE15267E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BD280-B089-4186-AC31-CC3BD0D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Value｜資料價值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87501-4AB8-4D41-998A-946B97A4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AA4FF-EDE4-4395-B0AE-C6810D29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4F85A-1125-414D-B085-36A56E4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EF0D7-BA84-46E0-AF18-CC11C34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1019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3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資料能否改善一項真實決策？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E986D-0FBE-4CD9-BB0A-A7A16D1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1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0E6E5-8160-4F07-8152-AEF72C5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降低詐欺損失、縮短理賠時間、改善客戶服務或提高風險辨識，都比單純累積資料更接近價值。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FEC5C-4094-4066-A54D-4F28B894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340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價值也必須扣除成本與風險</a:t>
            </a:r>
          </a:p>
        </p:txBody>
      </p:sp>
    </p:spTree>
    <p:extLst>
      <p:ext uri="{BB962C8B-B14F-4D97-AF65-F5344CB8AC3E}">
        <p14:creationId xmlns:p14="http://schemas.microsoft.com/office/powerpoint/2010/main" val="8899796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7311A-1F1E-469A-84C6-6D12D01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19996-FCA1-434D-8705-D9EC39D7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5V 之間常有取捨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98218-BBD9-424E-88C7-2A12BFF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16AA6-2089-4EF7-901B-28162F2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E3E6-6DF2-40F9-82A9-E70BF1E6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3405A-5BDB-40B0-9639-69CFA5B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即時詐欺偵測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E9233-15D6-4A95-A67A-065CE5C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需要快速處理大量交易，但資料越多樣，品質控制與系統整合越困難。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749A8-8E43-4BED-A478-95171952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AECB5-D676-437B-8122-6672C45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61BC-EFE9-43B2-923F-E462FCD2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我們真的需要即時嗎？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哪些資料能提升判斷，哪些只是增加負擔？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降低多少損失，才足以抵銷建置與誤判成本？</a:t>
            </a:r>
          </a:p>
        </p:txBody>
      </p:sp>
    </p:spTree>
    <p:extLst>
      <p:ext uri="{BB962C8B-B14F-4D97-AF65-F5344CB8AC3E}">
        <p14:creationId xmlns:p14="http://schemas.microsoft.com/office/powerpoint/2010/main" val="1621069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D7726-C973-4F32-B061-AAACC83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452E-9EA2-4923-9168-32C33AF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案例判讀：信用卡交易監測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33461-EA49-41F2-BDD2-C2DA888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7470-C886-4051-AB0D-98EE52F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C9E5E-E958-46A4-85F9-B3B1E1F4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8A1D3-4363-4B03-A87C-E77AE7F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每秒收到大量刷卡紀錄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0E49A-422B-445F-854A-87318931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Volume＋Velocity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966D3-FC13-4CF6-B64D-ABA03B1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AF872-4D90-482D-8998-41196A1F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交易、裝置、地點與商店資料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64888-06A5-477F-BD97-45B5A89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Variety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25267-487C-4B49-8362-E503DFFF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569AE-4D09-4AAC-8C48-C2DE064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裝置位置可能不完整或錯誤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49CB1-0E00-4B58-8F65-47F712B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Veracity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54FFD-DC56-4654-B9BE-662C33A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7A673-8E72-4188-8EAF-7C3C7448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及時攔截詐欺且降低誤擋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15A26-438D-472F-B7E6-1800176F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4308-1A0C-41EF-950F-86417D8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02BBE-A204-43D5-BE7E-2D68B9E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一個現象可以同時對應兩個以上的 V</a:t>
            </a:r>
          </a:p>
        </p:txBody>
      </p:sp>
    </p:spTree>
    <p:extLst>
      <p:ext uri="{BB962C8B-B14F-4D97-AF65-F5344CB8AC3E}">
        <p14:creationId xmlns:p14="http://schemas.microsoft.com/office/powerpoint/2010/main" val="15787005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19631-60CA-45F5-A169-3F1342E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F42ED-8405-46BA-BBED-4424E1BF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快速活動｜哪一個 V 最關鍵？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8B251-4FC8-4BC0-8897-B8FEB49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4DA42-3603-4553-AA13-9E5B99F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A5E81-8402-4434-8C81-1B8B8A8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52539-443F-4A23-B78C-44AB4846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銀行收到 50 萬筆客服留言，準備找出最常見的抱怨原因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950A2-4F7F-48EB-888D-7711E24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請先選一個最需要處理的 V，再說明理由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4399A-5158-4B57-939D-8962F5D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053A7-AEB2-4955-9CA1-79E0C261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資料量能否處理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15C34-07C1-49BA-A527-7EB48BCA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Variety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D0F52-4D54-4215-94C8-47B06589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文字格式如何整理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8648E-0316-4663-A438-32303A0E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Veracity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266B8-53A0-4347-83CB-EE30ECA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留言是否代表所有客戶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6AC13-499C-4786-A2C9-BB001064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36EA2-C351-4F23-A4EE-55B47CA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結果能否改善服務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A6483-6F15-4B95-8267-5FB2DF1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76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沒有唯一答案；好的回答必須連回分析目的</a:t>
            </a:r>
          </a:p>
        </p:txBody>
      </p:sp>
    </p:spTree>
    <p:extLst>
      <p:ext uri="{BB962C8B-B14F-4D97-AF65-F5344CB8AC3E}">
        <p14:creationId xmlns:p14="http://schemas.microsoft.com/office/powerpoint/2010/main" val="552909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6B3E9-303F-4EB6-AFBE-590B1DA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5C329-62FE-4D66-965B-FDEAAA60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A029D-7107-4EAC-A6A5-C8D4A42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0DEBE-25EC-4470-80C3-142BEE1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5B233-8552-45A7-B68C-59F8E39E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702C2-1DC9-4578-BF01-E9161557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辨識 5V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C3E5B-E62D-4E20-B2B4-A172BC4D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判斷品質與價值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0AD75-691C-4453-88AE-AB4D5077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3D2A9-94DF-4F8C-8E9F-92597A5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Volume：量與處理能力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Velocity：產生到反應的速度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Variety：資料形式與來源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F3EE8-CD53-494F-B967-31D507C2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Veracity：可信度與偏差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Value：是否改善決策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5V 必須配合情境一起看</a:t>
            </a:r>
          </a:p>
        </p:txBody>
      </p:sp>
    </p:spTree>
    <p:extLst>
      <p:ext uri="{BB962C8B-B14F-4D97-AF65-F5344CB8AC3E}">
        <p14:creationId xmlns:p14="http://schemas.microsoft.com/office/powerpoint/2010/main" val="7177350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90BBD-CA45-4B91-8172-8ABDF08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EEC21-6BA4-4D3B-85D2-F01581E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AC5B-A179-4052-AC21-F86AF15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7A7A7-B86D-4382-988D-24CBF377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4BC70-54A9-4FCF-ACB5-8101B466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3991F-76A9-4D93-9CFB-9E8DCF1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3531-FB71-4A26-B11B-9DBF069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詐欺偵測必須在刷卡當下完成，最直接對應哪個 V？（A Volume　B Velocity　C Variety）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FF5A-650C-4026-9B47-11FA7FC6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客服錄音與交易表格同時分析，最直接對應哪個 V？（A Variety　B Value　C Volume）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0F05A-BAB1-4FC4-93FF-2DB9548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客戶地址多年未更新，主要是哪個問題？（A Velocity　B Veracity　C Volume）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4F49C-8B8D-42F3-AC20-CB36CBDD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052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資料分析能縮短理賠時間，最直接展現哪個 V？（A Value　B Variety　C Volume）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E5299-65D4-40A6-B0A2-F8F3277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5V 的正確用法是？（A 固定門檻　B 分開背誦　C 用來檢視資料與決策需求）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BF5F0-43FB-4927-AA31-B06DE37E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F9156-D448-4320-A180-FFF56162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62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3-B　4-A　5-C</a:t>
            </a:r>
          </a:p>
        </p:txBody>
      </p:sp>
    </p:spTree>
    <p:extLst>
      <p:ext uri="{BB962C8B-B14F-4D97-AF65-F5344CB8AC3E}">
        <p14:creationId xmlns:p14="http://schemas.microsoft.com/office/powerpoint/2010/main" val="20713412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DE10C-D588-4838-8A80-A792299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CEB8B-6362-4E84-8CCB-13A0AA8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第三節｜資料如何走向決策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D8F41-C7F3-4EAD-BD32-D02EA63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4889A-5CAD-4428-9DC9-03AFFD03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FED0D-841A-4074-B4CF-3BC2A487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C933E-7DDD-4644-A10C-86474D37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4238E-EDD4-4ED9-A69F-D674F08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客戶與系統留下紀錄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ADEB2-EEBA-45F2-8047-1C2FE03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7146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58E50-BC41-4CF4-8D43-C24B239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1907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整合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855C0-E911-4F2E-9531-B95F283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6479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把不同來源接起來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0A82-26AE-4B63-A9E9-10EFFE4C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146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37CDB-87D6-49FD-B49B-BA463B8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11413-B60A-4C20-9331-F403525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找出規律與風險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47384-7264-454D-93BA-8F99040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714625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B9CEBF"/>
                </a:solidFill>
                <a:latin typeface="微軟正黑體"/>
                <a:ea typeface="微軟正黑體"/>
                <a:cs typeface="微軟正黑體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FD83B-2BBC-484C-B592-1CF4F96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90750"/>
            <a:ext cx="25003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決策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763FC-2E09-4804-B7D4-5C7CD04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647950"/>
            <a:ext cx="2500313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採取可衡量的行動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E9CE1-3E21-486B-82EE-7B460AD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真正的難題通常不在『有沒有資料』，而在『能不能用對』</a:t>
            </a:r>
          </a:p>
        </p:txBody>
      </p:sp>
    </p:spTree>
    <p:extLst>
      <p:ext uri="{BB962C8B-B14F-4D97-AF65-F5344CB8AC3E}">
        <p14:creationId xmlns:p14="http://schemas.microsoft.com/office/powerpoint/2010/main" val="12395886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62EE2-2AB7-4044-B4E6-2F585A7F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80DE8-C91F-4D57-AE27-5A74DA9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為什麼現在更容易運用大數據？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002B6-006B-4CAA-A0B9-9B195D4C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3CB55-F643-4FA8-8356-89DE3AD8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D4998-90EC-48F2-A62B-EF1AF66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2C5E-C7E1-4CFB-ACD5-58D647CE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數位化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8E2D6-A5F0-4780-BB0B-5093137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交易、行動裝置與感測器持續產生資料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29E1E-E037-4D1F-A024-CDCDA82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42F19-5AF8-4FBD-ADD4-EC7563F8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儲存與運算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2CBF9-EBB7-4521-810F-8068677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成本下降，處理能力提高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86925-17A4-4295-A7B2-CD480B9B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C7382-26E0-4DA8-B0EC-DB27D55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雲端服務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D555B-9C29-462C-98A5-74E11BE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組織可依需求取得資源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CB6EF-D423-4DEC-9D37-B1FF74A2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F5E62-E3A6-4747-99EC-CBD12C0C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D1535-B7FA-4FF5-82CA-EC87BE3D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BI、機器學習與視覺化更普及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05ADD-CE0A-4EC7-AE1E-881AD927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69756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4590-B960-4065-B359-AB10D5E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8FF70-F131-4581-BBB2-868E9C7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商業智慧與分析層次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75C71-B7AA-4E7D-94F6-F383DB67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0D571-1908-4C8D-A8B5-AB9D30F5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695F0-93E1-4841-80B0-B564E7E1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58850-1733-4E56-96AE-4BB9901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描述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FEADF-B4C6-4F66-81E4-485F2829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發生了什麼？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012C7-567A-4B92-8281-1CA9D07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本月異常交易率上升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C6CF3-72B9-40A1-97CB-5639F48F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309BB-E055-405A-B940-7251D54F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診斷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A5F31-2600-4D54-B352-4E6885A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為什麼發生？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5418D-B79A-435A-B375-B7C5438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特定通路與時段增加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7C77E-C576-4775-9B99-C05F799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6ED8C-5B77-4E6A-A5E5-AC5CDA9F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預測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AAD8D-B70D-4759-8EB8-AC3CA13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接下來可能如何？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D336D-E853-434E-8517-8364D07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哪些交易風險較高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764F7-FCD9-4D24-91AD-7D709E1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AA3A0-C17D-4B90-99D0-69EA7D63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72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建議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67784-5465-4E02-86BE-AD17C6E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可以採取什麼行動？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04155-2317-44AE-9C58-901A2688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調整驗證與人工覆核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EF08B-5DF0-4B5B-BB6F-D7204D6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150940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E8540-E2DF-430D-AA2F-C4E09A5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74AA4-CD32-4022-B3C9-C80A7948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企業資料的基本流程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3BD7-D2ED-4A1A-BB1C-34D09D5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每一段都可能影響最後結果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999AC-C1EB-42FA-AF9B-662ED11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0E360-16C4-4995-AA37-6280A51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40479-70F6-4019-8BBB-94A7C68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13C22-FA9A-49D0-A83B-4203E807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DCD9-E4C4-4B5F-9D15-F87A25C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蒐集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3D168-A05C-42CA-AC1A-254B5C8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5CABB-9A93-47E0-86F5-B72EBF03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交易、客服與外部資料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64B50-8207-4FB1-B149-21A84FFD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46B47-A965-4AE6-B811-85EFB70D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4B24F-9D85-4975-B738-A11BDC0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4FE1A-862A-42D8-8E21-63442FB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清理、整合與定義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25ABE-FA71-4182-BC60-DB93D8A0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284B6-3748-46C9-A3E6-A937BF3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儲存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A4325-7094-4472-B4D0-2CABE7C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75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2B9BB-7BCE-43A4-A956-990D3C4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保留歷史並確保安全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5CFF2-AECB-4FA8-94AE-34F111F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D1B37-A943-4B3F-A8A2-42AD37C1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ABFF3-9944-4BBB-A583-CF601E3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59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3F02C-03CB-48AF-AEAA-528B2B6B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描述、分群或預測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E55BB-7963-4C9F-8AF0-C89FA72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1762125"/>
            <a:ext cx="19773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23897-0F58-4245-AA57-6FA66A8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2286000"/>
            <a:ext cx="197739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6047F-2BF3-4FAC-B39C-DFEF462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35" y="3000375"/>
            <a:ext cx="16344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8EDF6-6FA7-4683-9556-85044D5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3190875"/>
            <a:ext cx="182499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讓決策者理解並行動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913FE-9C1D-4B37-8E45-B8D4DF08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863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錯誤不會因為進入模型而自動消失</a:t>
            </a:r>
          </a:p>
        </p:txBody>
      </p:sp>
    </p:spTree>
    <p:extLst>
      <p:ext uri="{BB962C8B-B14F-4D97-AF65-F5344CB8AC3E}">
        <p14:creationId xmlns:p14="http://schemas.microsoft.com/office/powerpoint/2010/main" val="5211247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51317-A492-4F92-B425-831A7113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53E81-CC41-46CE-B8E4-7701F55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三種角色共同完成資料價值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AD2FA-20FD-4E08-B10D-10E1B83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02B2-7C04-4BA1-9C8B-D24286E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E7DAE-7C0E-45FB-8C47-B90BBC34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68C4-00CD-4E86-911E-A32A552B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技術人員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C7AD3-32F3-44C7-8A05-074E8E06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讓資料可取得、可整合、可安全使用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FF089-778D-4807-9D79-33CFFA5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分析人員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AB97-E303-4FB0-ABF0-E5E6DFB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選擇方法、驗證結果、說明限制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48AED-D5B9-4B69-BC49-EFFAACF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業務與管理者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980BC-BCA6-4C66-B5BC-C4E125A0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定義問題、判斷可行性、採取行動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7BCFC-BB71-4A8D-9142-EEEB33A5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D91A7-91EB-4D90-90AE-05EE258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任何一個角色缺席，資料都可能停在『看起來很厲害』，卻無法落地</a:t>
            </a:r>
          </a:p>
        </p:txBody>
      </p:sp>
    </p:spTree>
    <p:extLst>
      <p:ext uri="{BB962C8B-B14F-4D97-AF65-F5344CB8AC3E}">
        <p14:creationId xmlns:p14="http://schemas.microsoft.com/office/powerpoint/2010/main" val="1403481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CE563-006C-448D-AE29-5F5F7C18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C2159-6ADE-4B91-8886-F50A733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銀行案例｜可疑交易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5ECD-DAEB-440E-9E02-ACFCE62C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從資料、分析到可衡量的處置流程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565E8-7DC1-4263-937D-3019F38B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B0E39-7B35-4105-936D-ABE9B93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8870F-DA97-46F9-87AC-6A2BF974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AEBD-3682-4F20-AC5A-DC399B7A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業務問題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A1C87-1187-4693-A985-BD338BE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如何及時找出需要加強驗證的交易？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E60E8-D44A-430D-BACF-DCD05F1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2EFFB-1312-4024-ADEF-3435DDA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可用資料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CC08D-ABC7-440C-A11E-31E82FE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193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金額、時間、裝置、地點、收款人與歷史模式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18BF6-31F5-4162-B4FA-8DB0854F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864F5-D7F3-46B3-A3FA-9A833D51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分析輸出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8E7A4-D867-4EFA-8D24-92173F54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風險分數與主要風險訊號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538AF-14AE-4479-94DD-54A0C69B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861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DE6EC-BEB9-4C97-8897-EB3ED59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決策行動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F99CA-EF60-4A1E-BCEB-FC838771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放行、再次驗證或交由人員覆核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A482E-AC57-4C1B-B7DD-46C9699E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E2D37-FC97-484E-86E4-7BAC9AB1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339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評估方式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FC8DA-3BF8-4848-9346-CEC2C7F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339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降低損失，同時控制誤擋與客戶不便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25D5D-5298-48D6-A3DE-AD133C9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18018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D6ED5-213F-4208-A800-53112F30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580D7-1267-4BDC-8A4A-FF1B760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證券與保險的資料應用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1AC6-5660-41AA-BE6F-2B0EB5C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60E3-B3EA-4662-B543-EEC15B8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1B056-C3F1-4CB3-A759-9FE27A0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A7941-8C4F-4C28-B530-E7F96EA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證券公司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B87CE-BA58-4B2B-B5E5-E8480A33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保險公司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48E30-6ACA-4D00-843D-B8CA9903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9AF60-DC5C-4043-B06A-A050B33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監測異常交易行為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整合市場行情與研究文字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依投資人需求改善服務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80441-D4D3-4E94-B298-65ECA05A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辨識異常理賠案件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縮短文件與案件處理時間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分析服務紀錄與客戶問題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11CD1-93DC-452D-A379-C268E69C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7212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相同技術，必須配合不同業務規則與風險</a:t>
            </a:r>
          </a:p>
        </p:txBody>
      </p:sp>
    </p:spTree>
    <p:extLst>
      <p:ext uri="{BB962C8B-B14F-4D97-AF65-F5344CB8AC3E}">
        <p14:creationId xmlns:p14="http://schemas.microsoft.com/office/powerpoint/2010/main" val="10842054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AFE1C-0AD5-4186-8EB1-1E74A2D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997ED-2CA7-4FBC-87E4-9422D9E9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資料能用，不代表可以任意使用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7EFD8-C88C-4059-B0AD-116C7CFF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EEA37-539A-4D44-A502-B13F0B58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30B52-83D1-4785-B3F3-292036E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6EF12-EE91-410A-8B81-8ACCA69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B8BAD-164B-4518-91A8-68ECC87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蒐集與分析是否符合原先目的？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1C6A0-B270-4020-BF3E-72D73B8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3BDE5-90FE-4BA5-AD1E-581B8BD2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必要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8229F-1B4B-4AF7-969C-90EAF37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09800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是否只使用完成任務所需的資料？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6179E-25B3-417B-AB95-93DA4647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BAEF1-0222-491C-8A96-BD54AEA2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E0519-F0BB-4471-AB53-5AAC9D1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3847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誰能存取？如何避免外洩與濫用？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5174C-71A3-43B6-BBD6-C676878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46317-0463-4500-B81F-5A81A43E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公平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F0A1D-E9BD-4EEA-A1BB-26826C2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67150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模型是否對特定族群造成不合理差異？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D823B-8155-478B-99C7-177A174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13B42-4C7B-44F3-9B8E-ACD86B9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69C98-AE4A-46F3-A9AD-E315EF88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958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高風險判斷是否保留人工覆核與申訴？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F414C-48D2-4985-89C3-9410353A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64982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5BA9-85B6-41C1-BA07-3F1535E8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81146-107A-4518-90B7-309324A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小組判讀｜這個資料計畫完整嗎？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0973-C9DC-4A2C-89FB-42ED70CC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FA94-D1BC-4EB9-A13C-EE1D13C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FD2BB-7C36-455E-88F8-3790D31D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E0656-46CF-4445-A922-409F7B6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某銀行打算蒐集所有 APP 點擊紀錄，目標是『讓服務更智慧』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827A-B108-4C40-B7BC-B609FA0B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請用四個問題檢查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A8A48-448F-4863-90FA-FB91F78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要改善的具體決策是什麼？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哪些點擊資料真的必要？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如何判斷結果有效？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如何告知、保護並限制資料使用？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03B4F-E1D4-4E78-8EBD-EC71FFE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02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『蒐集越多越好』不是完整的資料策略</a:t>
            </a:r>
          </a:p>
        </p:txBody>
      </p:sp>
    </p:spTree>
    <p:extLst>
      <p:ext uri="{BB962C8B-B14F-4D97-AF65-F5344CB8AC3E}">
        <p14:creationId xmlns:p14="http://schemas.microsoft.com/office/powerpoint/2010/main" val="5382805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3FF6-0904-49E3-8315-69F5FDA3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C1579-6A81-4706-945F-198345A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01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E7017-2393-492B-ACF2-45E4119D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DB797-6150-47A9-81AB-36FB070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61826-90CE-417E-BAB3-FFDD269F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72201-B805-4B8C-91DF-F19C91D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大數據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7A17D-34AB-46A8-B3D6-62BCE7C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81125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超出既有工具與流程可有效處理的資料情境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9983E-D968-48A3-9F81-4ADAAD8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AAD2-EC80-46F4-9AA4-CC8DCEC2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5V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57E01-309F-4576-9C74-85E4417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19325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用量、速度、多樣、可信與價值拆解問題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E0053-7BDA-4200-A75B-8522649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49679-78DD-478F-BE51-C7B8233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29138"/>
                </a:solidFill>
                <a:latin typeface="微軟正黑體"/>
                <a:ea typeface="微軟正黑體"/>
                <a:cs typeface="微軟正黑體"/>
              </a:rPr>
              <a:t>決策鏈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464EB-38DB-4138-BD8B-D3DB578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57525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資料經整理、分析與解讀後才能支持行動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C96D1-B6E3-4125-9E94-82FF77B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861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37100-0A55-4839-B000-2FB7A7D4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金融應用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3B219-E67C-40E3-B7C3-ACC403B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95725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風控、服務、投資研究與理賠都需要場域知識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1A1CB-AED8-4874-91DF-5DC07321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C820D-5253-4D30-B293-DD4094B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339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F9C97-E144-4323-A039-06E401A7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33925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隱私、安全、公平與人工覆核屬於設計的一部分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B827D-1AF1-4B90-9D06-45B6538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21284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0BEE1-3074-44E2-AE2C-97A655DF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C4EA2-6C5A-469A-8BB4-90DFEF89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D1E58-DF1C-4381-9F7A-3DDC2AF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118E0-0A3C-4177-B660-E2BF677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75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F7D1-3498-42E5-8190-D329D3E6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D525D-381C-488B-A42E-E9AAE6C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12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40B9D-DBCC-440D-8FF5-67791D1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BI 與分析的共同目的為何？（A 增加資料量　B 支援理解與決策　C 取代所有人員）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97180-A90C-447D-9A6C-DAA14C5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『哪些交易可能是詐欺』最接近哪個分析層次？（A 描述　B 預測　C 儲存）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87AAE-2EDB-4DAD-96E9-511C2FD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資料分析人員的重要工作是？（A 只跑模型　B 驗證結果並說明限制　C 決定所有政策）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4019F-F49E-459A-A124-E9E7C9B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052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蒐集 APP 點擊資料前，最先要釐清什麼？（A 具體目的　B 顏色配置　C 檔名）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2C1DA-74B6-45E8-BCF0-BB6DF3D8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高風險金融模型較合理的做法是？（A 完全自動且不可申訴　B 保留治理與人工覆核　C 資料越多越好）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BAAF5-B901-4082-B646-D00A6FB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6B1F2-434E-4AB9-949B-7C2AD80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62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2-B　3-B　4-A　5-B</a:t>
            </a:r>
          </a:p>
        </p:txBody>
      </p:sp>
    </p:spTree>
    <p:extLst>
      <p:ext uri="{BB962C8B-B14F-4D97-AF65-F5344CB8AC3E}">
        <p14:creationId xmlns:p14="http://schemas.microsoft.com/office/powerpoint/2010/main" val="511122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2026-09-04T06:36:07.9090000Z</dcterms:created>
  <dcterms:modified xsi:type="dcterms:W3CDTF">2026-09-04T06:36:07.9090000Z</dcterms:modified>
</coreProperties>
</file>