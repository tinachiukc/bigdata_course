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fcfbc9b9d14ad6" /><Relationship Type="http://schemas.openxmlformats.org/officeDocument/2006/relationships/extended-properties" Target="/docProps/app.xml" Id="R41fb624f59924e61" /><Relationship Type="http://schemas.openxmlformats.org/officeDocument/2006/relationships/officeDocument" Target="/ppt/presentation.xml" Id="R043abf86d43a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69816cf1da4dac"/>
  </p:sldMasterIdLst>
  <p:notesMasterIdLst>
    <p:notesMasterId xmlns:r="http://schemas.openxmlformats.org/officeDocument/2006/relationships" r:id="Rb2b1b39b470346a2"/>
  </p:notesMasterIdLst>
  <p:sldIdLst>
    <p:sldId xmlns:r="http://schemas.openxmlformats.org/officeDocument/2006/relationships" id="256" r:id="R7c4aae9ac1f04858"/>
    <p:sldId xmlns:r="http://schemas.openxmlformats.org/officeDocument/2006/relationships" id="257" r:id="R6af78b84ab494b8a"/>
    <p:sldId xmlns:r="http://schemas.openxmlformats.org/officeDocument/2006/relationships" id="258" r:id="R00308aa2f8a34979"/>
    <p:sldId xmlns:r="http://schemas.openxmlformats.org/officeDocument/2006/relationships" id="259" r:id="Rb547d34e3d9541cf"/>
    <p:sldId xmlns:r="http://schemas.openxmlformats.org/officeDocument/2006/relationships" id="260" r:id="R87bef5c053b34860"/>
    <p:sldId xmlns:r="http://schemas.openxmlformats.org/officeDocument/2006/relationships" id="261" r:id="R112a544cd1724fd1"/>
    <p:sldId xmlns:r="http://schemas.openxmlformats.org/officeDocument/2006/relationships" id="262" r:id="Rad5a2222eae24d17"/>
    <p:sldId xmlns:r="http://schemas.openxmlformats.org/officeDocument/2006/relationships" id="263" r:id="R9235cd02659d4b4c"/>
    <p:sldId xmlns:r="http://schemas.openxmlformats.org/officeDocument/2006/relationships" id="264" r:id="R559035f0c500496d"/>
    <p:sldId xmlns:r="http://schemas.openxmlformats.org/officeDocument/2006/relationships" id="265" r:id="Re9806e3f62c246c8"/>
    <p:sldId xmlns:r="http://schemas.openxmlformats.org/officeDocument/2006/relationships" id="266" r:id="R01932310a76148c2"/>
    <p:sldId xmlns:r="http://schemas.openxmlformats.org/officeDocument/2006/relationships" id="267" r:id="R0fa0db68664948ba"/>
    <p:sldId xmlns:r="http://schemas.openxmlformats.org/officeDocument/2006/relationships" id="268" r:id="Ra7848fc65bf44d39"/>
    <p:sldId xmlns:r="http://schemas.openxmlformats.org/officeDocument/2006/relationships" id="269" r:id="R7fd0d47b427649f2"/>
    <p:sldId xmlns:r="http://schemas.openxmlformats.org/officeDocument/2006/relationships" id="270" r:id="R3ffcb77342c7471f"/>
    <p:sldId xmlns:r="http://schemas.openxmlformats.org/officeDocument/2006/relationships" id="271" r:id="Rd0255c3ef2574fbf"/>
    <p:sldId xmlns:r="http://schemas.openxmlformats.org/officeDocument/2006/relationships" id="272" r:id="Rfe48150393ed4bc9"/>
    <p:sldId xmlns:r="http://schemas.openxmlformats.org/officeDocument/2006/relationships" id="273" r:id="R5a11c80da0af4c11"/>
    <p:sldId xmlns:r="http://schemas.openxmlformats.org/officeDocument/2006/relationships" id="274" r:id="Red5813fe999b4ec0"/>
    <p:sldId xmlns:r="http://schemas.openxmlformats.org/officeDocument/2006/relationships" id="275" r:id="R41ded16e1055491e"/>
    <p:sldId xmlns:r="http://schemas.openxmlformats.org/officeDocument/2006/relationships" id="276" r:id="Rcf3dfbb30c0d4100"/>
    <p:sldId xmlns:r="http://schemas.openxmlformats.org/officeDocument/2006/relationships" id="277" r:id="Rb0fc4c2f138d44a4"/>
    <p:sldId xmlns:r="http://schemas.openxmlformats.org/officeDocument/2006/relationships" id="278" r:id="Rfec2a00c54904db9"/>
    <p:sldId xmlns:r="http://schemas.openxmlformats.org/officeDocument/2006/relationships" id="279" r:id="R69669145ed654003"/>
    <p:sldId xmlns:r="http://schemas.openxmlformats.org/officeDocument/2006/relationships" id="280" r:id="R88383f06a4984536"/>
    <p:sldId xmlns:r="http://schemas.openxmlformats.org/officeDocument/2006/relationships" id="281" r:id="R526e6f8aa08a456a"/>
    <p:sldId xmlns:r="http://schemas.openxmlformats.org/officeDocument/2006/relationships" id="282" r:id="R76b842b123014245"/>
    <p:sldId xmlns:r="http://schemas.openxmlformats.org/officeDocument/2006/relationships" id="283" r:id="Ra480f46565d14019"/>
    <p:sldId xmlns:r="http://schemas.openxmlformats.org/officeDocument/2006/relationships" id="284" r:id="R849a19ae110a4b22"/>
    <p:sldId xmlns:r="http://schemas.openxmlformats.org/officeDocument/2006/relationships" id="285" r:id="Rd6f529cbddc8429e"/>
    <p:sldId xmlns:r="http://schemas.openxmlformats.org/officeDocument/2006/relationships" id="286" r:id="R42b08ebf9b6641f6"/>
    <p:sldId xmlns:r="http://schemas.openxmlformats.org/officeDocument/2006/relationships" id="287" r:id="R137092561267400e"/>
    <p:sldId xmlns:r="http://schemas.openxmlformats.org/officeDocument/2006/relationships" id="288" r:id="R392d86238e1549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7c0bb3e83f4f85" /><Relationship Type="http://schemas.openxmlformats.org/officeDocument/2006/relationships/slideMaster" Target="/ppt/slideMasters/slideMaster1.xml" Id="Rff69816cf1da4dac" /><Relationship Type="http://schemas.openxmlformats.org/officeDocument/2006/relationships/notesMaster" Target="/ppt/notesMasters/notesMaster1.xml" Id="Rb2b1b39b470346a2" /><Relationship Type="http://schemas.openxmlformats.org/officeDocument/2006/relationships/presProps" Target="/ppt/presProps.xml" Id="R10762c686656497b" /><Relationship Type="http://schemas.openxmlformats.org/officeDocument/2006/relationships/tableStyles" Target="/ppt/tableStyles.xml" Id="Rdfb2ddaa87d449a3" /><Relationship Type="http://schemas.openxmlformats.org/officeDocument/2006/relationships/slide" Target="/ppt/slides/slide1.xml" Id="R7c4aae9ac1f04858" /><Relationship Type="http://schemas.openxmlformats.org/officeDocument/2006/relationships/slide" Target="/ppt/slides/slide2.xml" Id="R6af78b84ab494b8a" /><Relationship Type="http://schemas.openxmlformats.org/officeDocument/2006/relationships/slide" Target="/ppt/slides/slide3.xml" Id="R00308aa2f8a34979" /><Relationship Type="http://schemas.openxmlformats.org/officeDocument/2006/relationships/slide" Target="/ppt/slides/slide4.xml" Id="Rb547d34e3d9541cf" /><Relationship Type="http://schemas.openxmlformats.org/officeDocument/2006/relationships/slide" Target="/ppt/slides/slide5.xml" Id="R87bef5c053b34860" /><Relationship Type="http://schemas.openxmlformats.org/officeDocument/2006/relationships/slide" Target="/ppt/slides/slide6.xml" Id="R112a544cd1724fd1" /><Relationship Type="http://schemas.openxmlformats.org/officeDocument/2006/relationships/slide" Target="/ppt/slides/slide7.xml" Id="Rad5a2222eae24d17" /><Relationship Type="http://schemas.openxmlformats.org/officeDocument/2006/relationships/slide" Target="/ppt/slides/slide8.xml" Id="R9235cd02659d4b4c" /><Relationship Type="http://schemas.openxmlformats.org/officeDocument/2006/relationships/slide" Target="/ppt/slides/slide9.xml" Id="R559035f0c500496d" /><Relationship Type="http://schemas.openxmlformats.org/officeDocument/2006/relationships/slide" Target="/ppt/slides/slide10.xml" Id="Re9806e3f62c246c8" /><Relationship Type="http://schemas.openxmlformats.org/officeDocument/2006/relationships/slide" Target="/ppt/slides/slide11.xml" Id="R01932310a76148c2" /><Relationship Type="http://schemas.openxmlformats.org/officeDocument/2006/relationships/slide" Target="/ppt/slides/slide12.xml" Id="R0fa0db68664948ba" /><Relationship Type="http://schemas.openxmlformats.org/officeDocument/2006/relationships/slide" Target="/ppt/slides/slide13.xml" Id="Ra7848fc65bf44d39" /><Relationship Type="http://schemas.openxmlformats.org/officeDocument/2006/relationships/slide" Target="/ppt/slides/slide14.xml" Id="R7fd0d47b427649f2" /><Relationship Type="http://schemas.openxmlformats.org/officeDocument/2006/relationships/slide" Target="/ppt/slides/slide15.xml" Id="R3ffcb77342c7471f" /><Relationship Type="http://schemas.openxmlformats.org/officeDocument/2006/relationships/slide" Target="/ppt/slides/slide16.xml" Id="Rd0255c3ef2574fbf" /><Relationship Type="http://schemas.openxmlformats.org/officeDocument/2006/relationships/slide" Target="/ppt/slides/slide17.xml" Id="Rfe48150393ed4bc9" /><Relationship Type="http://schemas.openxmlformats.org/officeDocument/2006/relationships/slide" Target="/ppt/slides/slide18.xml" Id="R5a11c80da0af4c11" /><Relationship Type="http://schemas.openxmlformats.org/officeDocument/2006/relationships/slide" Target="/ppt/slides/slide19.xml" Id="Red5813fe999b4ec0" /><Relationship Type="http://schemas.openxmlformats.org/officeDocument/2006/relationships/slide" Target="/ppt/slides/slide20.xml" Id="R41ded16e1055491e" /><Relationship Type="http://schemas.openxmlformats.org/officeDocument/2006/relationships/slide" Target="/ppt/slides/slide21.xml" Id="Rcf3dfbb30c0d4100" /><Relationship Type="http://schemas.openxmlformats.org/officeDocument/2006/relationships/slide" Target="/ppt/slides/slide22.xml" Id="Rb0fc4c2f138d44a4" /><Relationship Type="http://schemas.openxmlformats.org/officeDocument/2006/relationships/slide" Target="/ppt/slides/slide23.xml" Id="Rfec2a00c54904db9" /><Relationship Type="http://schemas.openxmlformats.org/officeDocument/2006/relationships/slide" Target="/ppt/slides/slide24.xml" Id="R69669145ed654003" /><Relationship Type="http://schemas.openxmlformats.org/officeDocument/2006/relationships/slide" Target="/ppt/slides/slide25.xml" Id="R88383f06a4984536" /><Relationship Type="http://schemas.openxmlformats.org/officeDocument/2006/relationships/slide" Target="/ppt/slides/slide26.xml" Id="R526e6f8aa08a456a" /><Relationship Type="http://schemas.openxmlformats.org/officeDocument/2006/relationships/slide" Target="/ppt/slides/slide27.xml" Id="R76b842b123014245" /><Relationship Type="http://schemas.openxmlformats.org/officeDocument/2006/relationships/slide" Target="/ppt/slides/slide28.xml" Id="Ra480f46565d14019" /><Relationship Type="http://schemas.openxmlformats.org/officeDocument/2006/relationships/slide" Target="/ppt/slides/slide29.xml" Id="R849a19ae110a4b22" /><Relationship Type="http://schemas.openxmlformats.org/officeDocument/2006/relationships/slide" Target="/ppt/slides/slide30.xml" Id="Rd6f529cbddc8429e" /><Relationship Type="http://schemas.openxmlformats.org/officeDocument/2006/relationships/slide" Target="/ppt/slides/slide31.xml" Id="R42b08ebf9b6641f6" /><Relationship Type="http://schemas.openxmlformats.org/officeDocument/2006/relationships/slide" Target="/ppt/slides/slide32.xml" Id="R137092561267400e" /><Relationship Type="http://schemas.openxmlformats.org/officeDocument/2006/relationships/slide" Target="/ppt/slides/slide33.xml" Id="R392d86238e1549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05911476e440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7d1ff49ad74063" /><Relationship Type="http://schemas.openxmlformats.org/officeDocument/2006/relationships/notesMaster" Target="/ppt/notesMasters/notesMaster1.xml" Id="R98485723fdfd49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e302d86696425d" /><Relationship Type="http://schemas.openxmlformats.org/officeDocument/2006/relationships/notesMaster" Target="/ppt/notesMasters/notesMaster1.xml" Id="R6dd50c86736f42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fc072a62f54896" /><Relationship Type="http://schemas.openxmlformats.org/officeDocument/2006/relationships/notesMaster" Target="/ppt/notesMasters/notesMaster1.xml" Id="R66aaa24e9f96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bd947060ed4019" /><Relationship Type="http://schemas.openxmlformats.org/officeDocument/2006/relationships/notesMaster" Target="/ppt/notesMasters/notesMaster1.xml" Id="R7c5d7f9e7c9046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b3466d1ac4d76" /><Relationship Type="http://schemas.openxmlformats.org/officeDocument/2006/relationships/notesMaster" Target="/ppt/notesMasters/notesMaster1.xml" Id="R213e673b109c42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d7ef44ae64190" /><Relationship Type="http://schemas.openxmlformats.org/officeDocument/2006/relationships/notesMaster" Target="/ppt/notesMasters/notesMaster1.xml" Id="R0d52352e723a4c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d17eb1104947cd" /><Relationship Type="http://schemas.openxmlformats.org/officeDocument/2006/relationships/notesMaster" Target="/ppt/notesMasters/notesMaster1.xml" Id="R12e0c8508b4d4c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3b990de9d42e1" /><Relationship Type="http://schemas.openxmlformats.org/officeDocument/2006/relationships/notesMaster" Target="/ppt/notesMasters/notesMaster1.xml" Id="R972cc4137e9c49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5da46b7d124f4b" /><Relationship Type="http://schemas.openxmlformats.org/officeDocument/2006/relationships/notesMaster" Target="/ppt/notesMasters/notesMaster1.xml" Id="Rcf6e82aed51b40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5fdf35884043d3" /><Relationship Type="http://schemas.openxmlformats.org/officeDocument/2006/relationships/notesMaster" Target="/ppt/notesMasters/notesMaster1.xml" Id="R15ec29128d544b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b5f77a28b64528" /><Relationship Type="http://schemas.openxmlformats.org/officeDocument/2006/relationships/notesMaster" Target="/ppt/notesMasters/notesMaster1.xml" Id="R275d003c5fc142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8826cd3ecf4fa0" /><Relationship Type="http://schemas.openxmlformats.org/officeDocument/2006/relationships/notesMaster" Target="/ppt/notesMasters/notesMaster1.xml" Id="Rcfa7e72a480f4a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80b5f353264b4d" /><Relationship Type="http://schemas.openxmlformats.org/officeDocument/2006/relationships/notesMaster" Target="/ppt/notesMasters/notesMaster1.xml" Id="Rd2b511f596a340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7092d5d694432b" /><Relationship Type="http://schemas.openxmlformats.org/officeDocument/2006/relationships/notesMaster" Target="/ppt/notesMasters/notesMaster1.xml" Id="Ra5020496880948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5e49c8770448a5" /><Relationship Type="http://schemas.openxmlformats.org/officeDocument/2006/relationships/notesMaster" Target="/ppt/notesMasters/notesMaster1.xml" Id="Rba8d0a8bf78949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52717dcac743f8" /><Relationship Type="http://schemas.openxmlformats.org/officeDocument/2006/relationships/notesMaster" Target="/ppt/notesMasters/notesMaster1.xml" Id="Ra8c35a8bccab45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2145c4b7ed4cb7" /><Relationship Type="http://schemas.openxmlformats.org/officeDocument/2006/relationships/notesMaster" Target="/ppt/notesMasters/notesMaster1.xml" Id="Rb55ceded705648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fe60ab8e6b4f61" /><Relationship Type="http://schemas.openxmlformats.org/officeDocument/2006/relationships/notesMaster" Target="/ppt/notesMasters/notesMaster1.xml" Id="R1db712cc20454a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07563878904c60" /><Relationship Type="http://schemas.openxmlformats.org/officeDocument/2006/relationships/notesMaster" Target="/ppt/notesMasters/notesMaster1.xml" Id="R371fa48115f644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bb6eae12964870" /><Relationship Type="http://schemas.openxmlformats.org/officeDocument/2006/relationships/notesMaster" Target="/ppt/notesMasters/notesMaster1.xml" Id="R0055c838056c4b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106c61a98b4d92" /><Relationship Type="http://schemas.openxmlformats.org/officeDocument/2006/relationships/notesMaster" Target="/ppt/notesMasters/notesMaster1.xml" Id="R400f7a02035844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eb9826c73841f6" /><Relationship Type="http://schemas.openxmlformats.org/officeDocument/2006/relationships/notesMaster" Target="/ppt/notesMasters/notesMaster1.xml" Id="Rc9b7bf3069fb4d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3494120def45a6" /><Relationship Type="http://schemas.openxmlformats.org/officeDocument/2006/relationships/notesMaster" Target="/ppt/notesMasters/notesMaster1.xml" Id="Ra982e806296a432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b8fd5d8e3334df1" /><Relationship Type="http://schemas.openxmlformats.org/officeDocument/2006/relationships/notesMaster" Target="/ppt/notesMasters/notesMaster1.xml" Id="R1e3b53ff890940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e7da1824784dcd" /><Relationship Type="http://schemas.openxmlformats.org/officeDocument/2006/relationships/notesMaster" Target="/ppt/notesMasters/notesMaster1.xml" Id="R7615059d804748a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f54f32f3474561" /><Relationship Type="http://schemas.openxmlformats.org/officeDocument/2006/relationships/notesMaster" Target="/ppt/notesMasters/notesMaster1.xml" Id="R1a1c64b57f0248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88e3e5b61414843" /><Relationship Type="http://schemas.openxmlformats.org/officeDocument/2006/relationships/notesMaster" Target="/ppt/notesMasters/notesMaster1.xml" Id="Rb456f0bf9bff470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44f268880c84198" /><Relationship Type="http://schemas.openxmlformats.org/officeDocument/2006/relationships/notesMaster" Target="/ppt/notesMasters/notesMaster1.xml" Id="Rf91386ca3dfb4a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8a150aa67b4883" /><Relationship Type="http://schemas.openxmlformats.org/officeDocument/2006/relationships/notesMaster" Target="/ppt/notesMasters/notesMaster1.xml" Id="Rfaeb4056f0fc475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2b4048b12954f4e" /><Relationship Type="http://schemas.openxmlformats.org/officeDocument/2006/relationships/notesMaster" Target="/ppt/notesMasters/notesMaster1.xml" Id="R004fbd176b534c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9df25780dbd4e46" /><Relationship Type="http://schemas.openxmlformats.org/officeDocument/2006/relationships/notesMaster" Target="/ppt/notesMasters/notesMaster1.xml" Id="R6d591d0b48ed47b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7126db640004356" /><Relationship Type="http://schemas.openxmlformats.org/officeDocument/2006/relationships/notesMaster" Target="/ppt/notesMasters/notesMaster1.xml" Id="R7a81a97728af44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4fc7adbfac9454f" /><Relationship Type="http://schemas.openxmlformats.org/officeDocument/2006/relationships/notesMaster" Target="/ppt/notesMasters/notesMaster1.xml" Id="Rb32228338f54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教學提示：建立交易、項目集與規則方向。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教學提示：以簡單比例理解三個指標。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教學提示：用直覺理解 Apriori 與金融使用限制。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B 第 2–66 頁，整併交易、指標與 Apriori 內容，金融案例依新版規劃新增。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ab7f215f5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c9a50d720f4c96" /><Relationship Type="http://schemas.openxmlformats.org/officeDocument/2006/relationships/slideLayout" Target="/ppt/slideLayouts/slideLayout1.xml" Id="Rd198c410c66942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98c410c66942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0fe1cc2084f5e" /><Relationship Type="http://schemas.openxmlformats.org/officeDocument/2006/relationships/notesSlide" Target="/ppt/notesSlides/notesSlide1.xml" Id="R87e2e7233adb48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733c0085f4f7b" /><Relationship Type="http://schemas.openxmlformats.org/officeDocument/2006/relationships/notesSlide" Target="/ppt/notesSlides/notesSlide2.xml" Id="R313c5399b3264d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b4d41976649db" /><Relationship Type="http://schemas.openxmlformats.org/officeDocument/2006/relationships/notesSlide" Target="/ppt/notesSlides/notesSlide3.xml" Id="Rc5ce485f6356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e3dd287cd49a9" /><Relationship Type="http://schemas.openxmlformats.org/officeDocument/2006/relationships/notesSlide" Target="/ppt/notesSlides/notesSlide4.xml" Id="R23d76292a58449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88fb81c13450d" /><Relationship Type="http://schemas.openxmlformats.org/officeDocument/2006/relationships/notesSlide" Target="/ppt/notesSlides/notesSlide5.xml" Id="Rc9240a868a5e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dde5acf814fd8" /><Relationship Type="http://schemas.openxmlformats.org/officeDocument/2006/relationships/notesSlide" Target="/ppt/notesSlides/notesSlide6.xml" Id="Rfe60a8d0b6a94b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912f3aa744c6" /><Relationship Type="http://schemas.openxmlformats.org/officeDocument/2006/relationships/notesSlide" Target="/ppt/notesSlides/notesSlide7.xml" Id="R11bcdb49815449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2f63f0f32450e" /><Relationship Type="http://schemas.openxmlformats.org/officeDocument/2006/relationships/notesSlide" Target="/ppt/notesSlides/notesSlide8.xml" Id="R52ea2d3fb35941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2af665c8e461b" /><Relationship Type="http://schemas.openxmlformats.org/officeDocument/2006/relationships/notesSlide" Target="/ppt/notesSlides/notesSlide9.xml" Id="R8d96d8f4161545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3caca315546de" /><Relationship Type="http://schemas.openxmlformats.org/officeDocument/2006/relationships/notesSlide" Target="/ppt/notesSlides/notesSlide10.xml" Id="Rd081c540156e43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c8e02cffe486d" /><Relationship Type="http://schemas.openxmlformats.org/officeDocument/2006/relationships/notesSlide" Target="/ppt/notesSlides/notesSlide11.xml" Id="R4414ea5a6e824d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f71f051c940fe" /><Relationship Type="http://schemas.openxmlformats.org/officeDocument/2006/relationships/notesSlide" Target="/ppt/notesSlides/notesSlide12.xml" Id="R88fa6daa1d1d47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f19d80f514e16" /><Relationship Type="http://schemas.openxmlformats.org/officeDocument/2006/relationships/notesSlide" Target="/ppt/notesSlides/notesSlide13.xml" Id="R1ec8ab4f3dc845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5eb1be5434bcf" /><Relationship Type="http://schemas.openxmlformats.org/officeDocument/2006/relationships/notesSlide" Target="/ppt/notesSlides/notesSlide14.xml" Id="R4529addeece540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d8987af714a75" /><Relationship Type="http://schemas.openxmlformats.org/officeDocument/2006/relationships/notesSlide" Target="/ppt/notesSlides/notesSlide15.xml" Id="R83d5a282ee2141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db13f88fd4ebb" /><Relationship Type="http://schemas.openxmlformats.org/officeDocument/2006/relationships/notesSlide" Target="/ppt/notesSlides/notesSlide16.xml" Id="Rf97cf7d94f084c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ca9994504e15" /><Relationship Type="http://schemas.openxmlformats.org/officeDocument/2006/relationships/notesSlide" Target="/ppt/notesSlides/notesSlide17.xml" Id="R7a15c08864044b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59b646d174cfb" /><Relationship Type="http://schemas.openxmlformats.org/officeDocument/2006/relationships/notesSlide" Target="/ppt/notesSlides/notesSlide18.xml" Id="R99ab2f8236584f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3d433c24a4af4" /><Relationship Type="http://schemas.openxmlformats.org/officeDocument/2006/relationships/notesSlide" Target="/ppt/notesSlides/notesSlide19.xml" Id="Rebceddf1e5c94a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bf699b14d460a" /><Relationship Type="http://schemas.openxmlformats.org/officeDocument/2006/relationships/notesSlide" Target="/ppt/notesSlides/notesSlide20.xml" Id="Rb258b104332b4d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b306a4cf44693" /><Relationship Type="http://schemas.openxmlformats.org/officeDocument/2006/relationships/notesSlide" Target="/ppt/notesSlides/notesSlide21.xml" Id="Rca8fb721c52e4c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80a3877e74064" /><Relationship Type="http://schemas.openxmlformats.org/officeDocument/2006/relationships/notesSlide" Target="/ppt/notesSlides/notesSlide22.xml" Id="R0d0b3f83fe3d48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724bc4e3a4073" /><Relationship Type="http://schemas.openxmlformats.org/officeDocument/2006/relationships/notesSlide" Target="/ppt/notesSlides/notesSlide23.xml" Id="R58e4c5645ed943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7134067f04dfe" /><Relationship Type="http://schemas.openxmlformats.org/officeDocument/2006/relationships/notesSlide" Target="/ppt/notesSlides/notesSlide24.xml" Id="R6e1f53c95dbb4f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f4a11dfcd42f8" /><Relationship Type="http://schemas.openxmlformats.org/officeDocument/2006/relationships/notesSlide" Target="/ppt/notesSlides/notesSlide25.xml" Id="R9def6b41f7bb458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ef7546e974d4a" /><Relationship Type="http://schemas.openxmlformats.org/officeDocument/2006/relationships/notesSlide" Target="/ppt/notesSlides/notesSlide26.xml" Id="Rc262de9fcae74a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ca82327624bdd" /><Relationship Type="http://schemas.openxmlformats.org/officeDocument/2006/relationships/notesSlide" Target="/ppt/notesSlides/notesSlide27.xml" Id="R51e9380b665849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fd202fb3475c" /><Relationship Type="http://schemas.openxmlformats.org/officeDocument/2006/relationships/notesSlide" Target="/ppt/notesSlides/notesSlide28.xml" Id="R2a0a55c17e5b47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73a1d62cb429d" /><Relationship Type="http://schemas.openxmlformats.org/officeDocument/2006/relationships/notesSlide" Target="/ppt/notesSlides/notesSlide29.xml" Id="R35b77f3277fe4e5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2cb08bc7442c6" /><Relationship Type="http://schemas.openxmlformats.org/officeDocument/2006/relationships/notesSlide" Target="/ppt/notesSlides/notesSlide30.xml" Id="Ra340600fb03443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569a6d0ec4ee4" /><Relationship Type="http://schemas.openxmlformats.org/officeDocument/2006/relationships/notesSlide" Target="/ppt/notesSlides/notesSlide31.xml" Id="R0ed91469c1b4417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0683de35a459e" /><Relationship Type="http://schemas.openxmlformats.org/officeDocument/2006/relationships/notesSlide" Target="/ppt/notesSlides/notesSlide32.xml" Id="R809f5ffdd3f743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acc0f84284a6e" /><Relationship Type="http://schemas.openxmlformats.org/officeDocument/2006/relationships/notesSlide" Target="/ppt/notesSlides/notesSlide33.xml" Id="Rc9aa6b06bf3947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F6A88-BFC2-41E9-A1D1-1405357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EF0A9-FD28-4CE6-903A-6AA7EBD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10｜關聯規則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40A26-9984-4028-9EA4-3CE4E9D7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18930-5948-4CA8-B647-8D0A8EC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BC608-9740-43DF-8467-67125F36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02835-506A-480E-8EA2-12525A5F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本週路線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A4228-7A02-4982-81E0-2A1A44B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交易與規則、三個指標、Apriori 與金融案例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07EC-ABCA-4E08-A1BA-5337B35A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51EA1-6EC6-46E1-9419-00E68FDE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15869-7C36-4FE1-BA2C-FB4C3601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能讀懂一條規則及其強弱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16670-C18A-495E-A8F8-4B3C4334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1A2E0-2F4F-4632-90B7-AC93A123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銜接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02F5B-B476-4C51-B6B4-6E44202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期中後進入第二種非監督式方法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96406-38FD-402C-A1A9-AEE71E6A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7008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D0142-7B0E-498E-AB95-A5C43202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C9A9E-2373-4D56-8367-4201502D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關聯分析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DB32F-E6C3-4CE6-891B-DDA628F5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8C9D5-E733-422A-B227-3FD0EEEB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EF3EA-7D2F-4A43-970F-1CEDE5EB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96C2B-0720-4B8B-8F86-17964872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核心問題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B5794-518F-402E-AF45-A9EF4F8A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哪些項目經常在同一事件中出現？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D3868-5675-48A4-AD44-45698243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DD4D9-7768-455E-BF66-ABE55664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資料型態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1AC13-D971-4501-91A7-0CB413CA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每筆交易包含一組項目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F8082-A1D4-4256-BC09-32AC19B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7DF59-435F-411A-9C78-A271B074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常見結果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D9040-1134-4C21-80B3-E9BC3D86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前件與後件組成的關聯規則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551D3-C8EB-4217-A34C-2E3A3EC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E73C6-84B1-40E2-9F51-916451FC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重要限制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F1D71-821D-497D-8534-EF72F3FC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共同出現不等於具有因果關係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99FBD-9CD4-4F29-9910-4094463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9652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ED70A-B09F-4349-A2AD-590D604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BB67D-AE21-486B-9835-FF1E352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6C0F5-FD77-4CCF-97C1-7B3C440E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CF10E-4133-4803-B205-B3F523E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90205-60C2-4B1D-BF38-B84F993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7DEC1-4B6A-4E1D-AD4A-0B3430A8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一筆交易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61A0B-59E4-4E0B-82A5-292812FF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代表一次完整事件或觀察單位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6CF69-E72D-4323-A543-AEF24673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745C5-3C5F-4BE0-9035-45AC790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零售例子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BFD8-B3F9-4943-8240-6310D0FB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一張購物發票中的商品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A4D19-0176-4405-A1CE-33E3A73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FC318-519E-462A-92A2-3E7B1BEE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0241E-DBDE-45C6-86FA-7C0B3E87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同一客戶在一段期間持有的服務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E58DF-628D-4148-B6C6-5D4634A8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89687-743B-40A4-930D-99F25889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先定義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78197-75EC-410A-A79F-D3711FAB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交易單位不同，得到的規則也不同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A5793-3761-4516-A836-E8F41ED0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17772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18549-36DD-47B9-8E8E-F6EC65C9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181FE-3AF8-4E38-A6E8-FCA0ED49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項目與項目集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22069-1AD6-4B8D-9201-A9ED911D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B293E-3248-4E7A-AE92-A6220B26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DA27F-14DA-431E-98DF-5539BB5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9EE6F-6E4A-4479-8DDA-158D5278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項目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B8D68-E8D0-4327-A0E9-599EDD30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交易中單一商品、服務或事件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C318-4D45-4EE7-959F-AC920AE6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D0CFB-A6E6-4E3D-8C0F-EB869DB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項目集 Itemset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CBA49-1867-4480-B92A-3D92A4A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由一個或多個項目形成的集合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337E8-073A-4C17-B956-6D27CAEC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B363E-A77E-478D-8B70-32B7E341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二項目集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CC313-4268-4BB7-A564-2EE09F6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例如信用卡與行動銀行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DBCFD-0A86-412F-88F8-D919475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CE88A-A433-480B-A4E3-F410EF5E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頻繁項目集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7D11E-4F30-4350-9058-7384043A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支持度達到設定門檻的項目集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0AFB4-1C1A-4115-8D73-AC3C52F2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7153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0BB6D-B967-4605-8F06-EBB5D5C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D99A-4CC3-431B-9D41-287FF172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關聯規則的方向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E9720-04F0-4922-90A5-7DE933C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1A2DC-7A65-4DCD-A8C4-E5DF3744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6B400-F86E-48BB-846C-FC8AC38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DC8BC-AD2B-4202-826C-55D86EC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規則形式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626B4-BBCA-472C-A925-B6BE8F9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前件 X 對應後件 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64405-C0DE-473F-A0BF-E1598B3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6DDB3-8AF2-48BE-B8DA-E71CE8EA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解讀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A6334-3AAA-4F8D-A090-D4C1559C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出現 X 的交易中，Y 也常出現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5BE4-440F-4228-B141-FFCF28A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434BC-985B-400B-93D0-3B1E2E84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方向不同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98644-5A38-416C-B4F5-C05FD44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對應 Y 與 Y 對應 X 是兩條規則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F134B-189A-4C29-A340-1F5BA25D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572EB-5660-4A36-8B7C-F2E8713C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原因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AC6B0-F0BB-4BBD-886D-AF261DFA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兩個前件的出現次數通常不同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DA975-EAFF-4482-B178-BB8ADB46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3820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1C557-F47F-404F-B782-B5DFEFD4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3DD4B-0227-40D9-B55E-A071A8D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關聯不等於因果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DB355-3A46-4A24-A56B-75A7FA5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66A36-5B4F-406F-8EF8-D8AF5A02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7BE91-CEEF-4BD6-BEA4-3CBED32D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6D861-29C0-4786-AD44-4E2DE665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關聯結果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6F0DB-D4D2-4070-B236-79EA7D14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兩個項目在資料中經常共同出現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C8582-9D8D-4CAA-9D7E-C2B0DB0B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8FB40-9341-414C-AEED-4B15387F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不能斷言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2BCB9-D279-4346-9E8D-BF9A0BA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導致 Y，或 Y 導致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8B005-9756-4EA2-883F-FC987D0F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AA192-7F20-4B11-9944-23BF1816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可能原因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D7864-3CA8-4DFC-B20F-880FAE19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客群、時間或共同需求同時影響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58920-0BA1-4961-AC06-AC391C0B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EF87C-62FE-49E7-8E55-A673EDD2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後續工作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485B4-10FA-4F5A-BDC2-2B90D69A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用訪談、實驗或其他資料再驗證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FE62E-A818-4AA8-A0BC-7B8E7E5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52929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45C30-6310-49AC-9DE8-E971CF1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A8969-4AA6-4DF5-A842-F1709CC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購物籃故事的教學用途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90B7E-E9CA-4AE9-90CE-B1743CAA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7C175-FA22-4910-825B-7E020115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99B4E-F723-4521-A7DD-322D2136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86D5C-03FA-47E7-8AAF-D9707145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經典例子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9536E-5692-476A-8DD4-3017AFBA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尿布與啤酒常用來引起注意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214AA-CD72-4EC6-A84B-A792F332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D9A27-0706-477C-B10C-4983D52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應保留的概念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3D229-C8C8-4D4D-AA21-B727A7E3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意外組合需要解釋與驗證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7E7E9-595C-4A2B-9FD4-D337DE38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B6965-641B-445C-979B-5AEC1797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不可照單全收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8B5D3-416A-4034-B7FC-21E91B6E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故事版本很多，不能當成因果證據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90A9F-203D-4A46-9E18-A85EB7A4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DE9A0-A6DB-449D-A0CC-69C2421E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本課重點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0668B-7D98-4245-95DE-39F764E5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理解規則、指標與決策限制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A572B-3B0F-4416-8650-0A77F682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59754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8F9DE-0243-4F8A-8777-1DB24289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9BC1A-BB9D-4FC6-9566-7153AC97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金融交易的項目設計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0D3F6-787B-45D0-B9FA-47C024A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AEB72-D595-4BD7-8A8A-BA377098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A836C-5733-43BD-8BAA-3938BC7D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BB683-3819-4325-BEA1-B04CF274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產品持有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25EBA-22A5-4663-9ED2-2BF4E8F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存款、信用卡、基金或保險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E8D00-B00B-43D0-8DF0-8C78AFC6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1C0E0-FA2C-423A-A66C-71763EB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通路使用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5C59D-FB9C-45C3-85CF-CC1A4B02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分行、網銀與行動銀行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88B2D-F936-465A-94B0-6207537D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0B32F-3E97-43E3-B154-28E1389A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服務事件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75F7C-A40D-4745-BE3C-7F97DE1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諮詢、申訴或通知回應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12029-7DDC-4925-B5A0-3947BF3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64281-87EA-47B4-B7E0-7B54388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439E0-8F7E-4262-B44C-88ABA939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項目要有明確定義與合理期間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D52E2-1A11-4AB1-B3F6-1A9ECF8A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60955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9DAE7-F06E-4FCF-8ADF-42BBF9B4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D528B-1DF9-4DA5-9239-CCC21E82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規則可能支援的問題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4B5C4-974D-478A-A9B7-FD05A217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03BA1-DD72-465D-91D4-0D05FF99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A3A5E-75E1-4791-A4E4-90CB7C6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FF902-5BF6-462E-B5FF-0D633ACA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交叉服務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AA84E-1C7C-4630-900F-10217182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哪些服務常被同一客戶使用？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1B69A-D703-4A9E-A6AD-C1E2281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9197E-79EC-4FDA-8FDC-D15E4472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流程改善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59707-AC1C-45F3-893A-F3186DC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哪些事件常在同一案件出現？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0D548-EA3C-43C7-BCAA-61C0B293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292D6-6579-417A-AC59-00647E2E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異常線索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824B9-E959-4A35-951E-9B577BAE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哪些少見組合值得進一步查核？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09209-21B7-47D8-B4C3-7A79F2CE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3DB77-80E3-4010-BC58-1FC8CD1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研究用途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C0F55-8A53-4051-B3BE-E576EA4C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先找模式，再由領域人員解釋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524E2-6DDF-4A0E-85B5-8324D430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14912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3D35D-0F21-4513-BBCF-221B7846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3FD1A-B3D9-4A37-8DFA-2D126988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C329C-7FC7-4A98-9122-727C292C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BC858-8E22-413F-A0CD-02FD00A4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A893B-B7E2-464D-B518-9D12CD8C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798C5-FB5D-4785-8D74-2EA767A8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交易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9FEF1-2AC8-4872-9792-89344CC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一次事件或觀察單位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4ADED-5DED-48AD-86A7-50A840C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A29BD-7B88-492C-8986-45E74C2B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項目集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C407C-852F-4F26-B4CD-209ABA69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交易中共同出現的項目組合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3C048-188B-46AE-A3AB-F270DEB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30536-EB28-46EB-AA80-E5AA7072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規則方向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211DA-9EBB-42AC-81EC-F5A2577F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前件與後件不可任意交換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A0297-709D-4B4C-83C3-AC44909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87930-6776-4C35-AB38-0BA0131B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使用界線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2264F-DBC3-4A4E-B603-33BAA93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關聯提供線索，不能證明因果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B094F-F31D-4C9A-9E72-13F604D3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3407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93CC7-6962-456F-9717-18F053D1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41E41-D902-4839-904A-54AC914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13FBD-5F70-4D45-A6FD-E70C79DB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44D3A-AAE8-45FA-8F0E-D9E08CC0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AA665-DD86-4C2C-A682-676F03A3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29ABD-892E-425D-BCFA-2037BCBC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30E76-5A6B-49BE-B3B2-608C967F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一筆發票通常代表？（A 交易　B 群組）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78E32-010E-4D5F-AEA0-2095153E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項目集是？（A 一組項目　B 一個答案）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90E83-05DE-42E7-8937-8AD7210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X 對應 Y 與 Y 對應 X 是否相同？（A 相同　B 不同）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C9601-40D1-4A13-9817-575B6841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關聯是否直接證明因果？（A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5064D-ED95-4995-81AC-5CC94C89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交易單位是否要先定義？（A 要　B 不用）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0C891-DC10-4203-8C14-DDB5DCD4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411E2-2BFC-45D6-B469-BD88B4F1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3-B　4-B　5-A</a:t>
            </a:r>
          </a:p>
        </p:txBody>
      </p:sp>
    </p:spTree>
    <p:extLst>
      <p:ext uri="{BB962C8B-B14F-4D97-AF65-F5344CB8AC3E}">
        <p14:creationId xmlns:p14="http://schemas.microsoft.com/office/powerpoint/2010/main" val="724724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526E2-C026-4B1A-A363-39298C13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86594-32E6-4CF1-9CB4-7013DBD7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第二節｜支持度、信賴度與提升度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E8DDB-AC61-4D09-82F5-2112175F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04B8E-9AC2-4059-A14C-55A01DC6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C81B7-24E9-46C9-A044-561AA83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DA0E1-64E8-4DA7-9145-F574C50C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支持度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5B7B0-A0D5-4B43-AFF6-3925C50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這個組合在全部交易中多常見？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26A28-322C-4FB5-9ECD-61C65EED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C4A29-3B0F-4406-B276-F7C29AE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信賴度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A26AB-8883-4841-B928-DA6B3F1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出現 X 時，Y 多常跟著出現？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FAE22-A001-4645-9632-58A7F6A2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4B240-1BD9-4CF0-9E0C-020EC3B8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提升度 Lift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33E29-C0E1-47F5-A126-5954DD52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比起 Y 原本的常見程度，增加多少？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BC991-5FFB-489D-BE9C-E49634EF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277046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154F3-8782-4EA5-9BFE-413420DA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B49AC-635C-4FF3-87D7-277F1514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支持度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E2D6D-5F57-4F2A-AD1B-BCF5700E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4DCB6-968C-4371-B8A5-75CAA32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B0B8A-140C-4372-B90D-194586B3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9592B-0A48-476E-83D8-DB1F4E5C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71082-D0F0-45E0-B4CB-615F0AEE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同時包含 X 與 Y 的交易數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3D2E3-950A-423F-9D91-EF8FD841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FEA11-9D19-4222-8327-A6380D8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DF712-38D4-4BA9-A682-785CBC2B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全部交易數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2E9C6-64B9-4662-B0A7-8BFA890F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2B014-7E3C-430E-913A-FD407291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解讀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136BC-C57A-42E1-AA58-26AB3EA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規則涵蓋多少整體交易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C0889-E90C-4373-A44F-C6EFF9C1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AE2C0-34AC-49D1-91B4-9B5889A5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AD1AB-3277-4F61-A5EA-87C62CC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支持度低可能是利基，也可能只是偶然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7EBDC-FAA8-4C7F-978C-49EB7F5A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279189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A74A2-8823-4C20-B499-854FE55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64C58-7F83-4C98-93CB-B5A6DB0D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支持度簡例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54348-FCA4-45A2-A2DA-CACF3C8E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24EED-26B7-4417-BCBF-A8896FE0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B1711-2EA1-47DE-8808-4D2687BA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A9BFB-084E-44A5-81E9-49B43103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全部交易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08D28-856D-4411-BCA7-4C91FA37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共有 100 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BA284-31A8-441F-BB9E-5F18AF52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73349-CBF8-4934-A7EC-23BDC5B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共同出現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C80E8-89C4-4EFF-963B-3101A2A4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其中 20 筆同時包含 X 與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A38A8-8FFF-44A4-A8BF-641F16F6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2B9AE-10ED-406C-B344-271831EE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支持度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CBC5A-8313-41D6-B865-1E0C4FBF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20 除以 100，等於 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021AC-3863-46A1-AFA9-A3E6FFE9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9C8A4-D56A-49C5-A3CA-5081CB91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意義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805B6-1506-47C0-97DD-778969D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這個組合出現在五分之一的交易中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5B3B4-FFD6-4106-8AB8-EAC4105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652715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AC16D-69C0-4F57-95C4-29001508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9DC93-DCF2-41BD-BF04-0F5D66B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信賴度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92033-D98B-4C15-89FA-0F3CEB90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D71AF-1D9D-4927-AB4D-7BC683E4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B8612-C1BE-4DFA-997E-AC95DCF5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234AB-AF23-4A5C-9F0A-7FFDB828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規則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D0548-DCA0-4FB8-A632-473304D2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對應 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58F42-25BB-4AF8-8726-79244084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74DFA-CBEE-40A0-B0A7-B17BC88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8DFCC-61F6-40D4-B169-6B741208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同時包含 X 與 Y 的交易數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2CF11-A213-4F99-A862-7D835DD8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BDE67-992E-4F67-8BA3-5606F03B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分母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E820D-4649-4548-9C38-9AD0A9AF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包含 X 的交易數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801BD-B7A3-4E0B-BBDD-A066D164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C6E7D-5965-44A9-8AA9-29C847E7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F1416-F339-454C-9870-3124F983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已知 X 出現時，Y 也出現的比例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49103-99FD-45AE-9356-011A7827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308607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B0DC2-F5F9-4E4A-B33A-4F54F3F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A6B3C-2A7D-4B20-BC97-473A023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信賴度簡例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D966F-53A7-4632-96A9-0608CF8C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21140-2DF8-4C07-ADAA-E89823BA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4BCE7-EB6A-4ACB-9CB7-46BB2DE1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650FB-8BD8-404C-B096-3CCC4617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包含 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A2FAF-F5F9-476E-837C-66CD952D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共有 25 筆交易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C32E0-751F-46AD-A950-7991A0A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B2AC0-EB67-4749-8969-88CF28C9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同時包含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8BE55-EC47-41EA-A6E6-068FFAE9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其中 20 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3D21D-F4A3-4FAB-99F6-3DA7BB67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E1967-58E7-4D0E-B4F2-914EA0A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信賴度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088E9-9133-419C-A493-900479BA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20 除以 25，等於 80%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F903E-348F-4E8A-83CA-F156A3F0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36B00-D1D9-4E16-88EB-7379B59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E4A73-E5F3-4942-9CE4-DD84594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改成 Y 對應 X 時，分母會改變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F87C2-5BB8-4D38-BC7B-C927718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414744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7F772-35B4-447A-9957-D76F756D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9C3B6-573A-4888-B879-A49053D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高信賴度可能造成誤解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D5AE8-0657-47D8-BE70-A0CD41B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9F0B9-39EF-49DE-B024-5975AD4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2CB33-13D4-40D3-B33A-CAF2B4BF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F297D-0ABF-4AB1-9141-126E2627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假設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D666C-773F-4FF0-BB7A-4BB8CA4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Y 在全部交易中本來就非常常見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C3206-01A6-40F5-A46F-EDEF1120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BE104-07B7-46BA-910D-A605F55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48B25-0605-47EC-800A-271B50B6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任何 X 都可能對 Y 有高信賴度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9AEC4-563E-4CDB-8FB3-A95B2796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BE657-D229-453F-95FC-B254C965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57C63-F64F-4274-A1E2-FD6BB2C7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高信賴度不一定代表 X 提供額外資訊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C0BF1-23DF-4152-A0A2-CAF6220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D9930-61F8-46A3-A242-5BA64AA2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補充指標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AA6C0-D31D-4B33-B34B-80DAC717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提升度會比較 Y 的基準出現率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05D3A-1A0E-43A0-92D9-A9B43686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40819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64D9D-9FE3-4E0A-9AD1-3DAAF85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BE12D-3B88-4ABA-B1D6-5E12C43C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提升度 Lift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E04A2-4AEA-49CA-BB12-3CA987A1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E6F49-CF3F-47E4-8883-C78701D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E53AB-E108-442C-82E9-4060E3B8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5A5A9-1FA8-4C38-AC99-3CDBE3E7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計算概念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37F18-A0FF-4F9D-B52E-9B9FBA14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規則信賴度除以 Y 的整體支持度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1ADDB-F1AE-48FC-B342-C27B9B4A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B78F4-11B3-45FF-BC66-15CBECB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大於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7C287-51DA-438B-9856-0EAEC35D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出現時，Y 比平常更常出現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6CCBA-0D98-4F35-BDF5-A871540C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7C2D4-5E74-41DD-8217-84882F8A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等於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438AB-60A8-4BFA-9E18-2B7ADBD7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與 Y 的共同出現接近獨立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20F9F-6553-4192-9645-3B67F17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7E022-E2B4-453E-8CCF-F2108D04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小於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EB807-C05A-42BA-954C-0D4E15DE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出現時，Y 反而較少出現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E4766-D0A7-4192-8884-892C9B5E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285989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B0C52-59FC-449A-817E-45AE2607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2A314-5EDC-4D15-A6F0-9791EA4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提升度簡例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11AC4-5CC5-46B6-AAC8-0966D81A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FB241-1457-4171-8947-81FBE77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55607-8EA3-4B26-8A73-ECDE2DCC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232E2-C2F2-4C5C-B417-317BBB9F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規則信賴度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3A72-EEDA-4F49-BF49-C42B2A8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X 出現時，Y 出現率為 80%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C2E99-DB5B-4237-A68F-84130337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DC7D5-AB40-4C1B-A2E1-E51D96DE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Y 的基準率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2307F-A88C-49C4-B8E9-63651136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全部交易中，Y 出現率為 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38609-1E0C-47F9-AAEF-93C8E353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7ADC3-FA3C-4813-9636-E5D29AE7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提升度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74F30-9A91-4D4F-9985-42481AA9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80% 除以 40%，等於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138D3-7A97-4C63-AC46-3151AC70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9372F-3919-4D5A-BFF7-DD76885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282F0-595D-4A0C-B5B1-AD142A8D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已知 X 後，Y 的出現率是基準的兩倍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E61CE-81F0-4317-A9A8-C91482B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454919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7FEC3-3F8A-48C3-A906-37DE55E1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14822-B539-4298-BCD3-5752836E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門檻的取捨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93C33-DCDB-4F26-98B9-36507CCE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EF186-CC94-469D-9665-6ECEEB21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76B30-A21E-41AD-91DD-0F899248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6926C-BA34-47AB-A86A-D7CFB367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門檻太低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90281-38AA-4FB3-BD3B-27E5E7ED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規則太多，雜訊與偶然組合增加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A0BA7-4FEC-43C3-A645-CBFD5121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110ED-5185-4703-8455-D7454A66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門檻太高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34D18-A64D-4307-917D-8B538A0E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可能漏掉有用的利基規則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2BE76-FB46-4FE6-9FBA-D2B1465C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A4142-F558-4CA0-8FD9-5D13A04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設定方式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26A0E-0752-4B0F-844B-EED9BE3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依資料量、目的與錯誤成本調整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5463B-F6A1-41D3-B1AB-1502620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67CD8-646F-419F-B57F-CA00260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完成後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303A4-8EE5-49D6-939F-F5E213EC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仍需檢查規則是否合理與可行動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FFF70-D194-4617-A963-AE83255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09611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837C4-7954-477A-B1D7-F0E3CAB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9B8C0-9C8D-4893-8BB7-446AAF5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D124D-17F6-40BC-A130-4D3936FC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80F87-1696-40CE-968A-28D490D9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4C782-AE82-4D02-8D7B-D073D7BD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C2B94-756C-43E3-9B02-22F12D5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支持度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94D0-85B8-4EB8-A81F-10E35506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衡量規則涵蓋的整體比例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8F703-19CF-4CEF-8952-393B9F14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DDB67-5437-4632-83FB-D56327C0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信賴度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4004E-746B-4ECD-8CF0-DBED786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衡量出現 X 時 Y 的比例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97CD0-849D-4D3D-AB1E-9AAD931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25488-DEDB-47F8-99DF-4DDCB452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提升度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36E17-2AAE-4E08-B855-3BABBAD6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 Y 的條件出現率與基準率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2546C-D9CD-4D44-B33F-2D9DFE44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EEEC4-9484-468F-9C9A-27DB5A38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1DBBF-1205-44EB-8A40-71163DF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三項指標要一起讀，不能只看一個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9DA9A-E139-401E-B11C-A2AC25BE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21727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48B03-A97A-4227-9ADD-D872D99A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DB2F9-610C-42A4-96CE-4550DB95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2C615-70C1-4846-9D16-8DD51D6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7B2CD-B49E-424F-83E4-01C810C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AD294-4ED1-47F5-972C-90EAEE37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1BA03-4AE1-49CA-AE2A-68BC346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A78D5-62CF-45B5-B1BF-B983B2AD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支持度的分母是？（A 全部交易　B 只有 X）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59485-E9AA-415C-BB65-E31176FF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信賴度 X 對應 Y 的分母是？（A 包含 X　B 全部交易）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C5A22-8DD7-4E3D-806D-32B5E5F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提升度等於 1 表示？（A 接近獨立　B 保證因果）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3A3FA-8E93-40F3-9315-03785891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高信賴度是否一定有用？（A 是　B 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7F321-1AF7-4F27-A473-379475AE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三個指標是否應一起讀？（A 是　B 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3E8A3-0519-468F-A237-BA894966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E1003-3BB9-4ACB-978B-D511229B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5-A</a:t>
            </a:r>
          </a:p>
        </p:txBody>
      </p:sp>
    </p:spTree>
    <p:extLst>
      <p:ext uri="{BB962C8B-B14F-4D97-AF65-F5344CB8AC3E}">
        <p14:creationId xmlns:p14="http://schemas.microsoft.com/office/powerpoint/2010/main" val="164395479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5EC8C-1656-4A5B-8336-9FB4B029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43A33-7458-4118-9010-B79A6ED6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第三節｜Apriori 與金融案例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14EBA-B9E5-4609-AFCD-9197F7EC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6C837-B390-4CEA-8B2A-630A9D1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B7B22-2F0E-4F38-BE75-B1D8A5E8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91A94-36BB-4F33-87EE-4716A03C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計算問題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34468-2959-4FED-ABC4-0604BEAA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項目愈多，可能組合快速增加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6F0F-9BAE-4766-A676-4CCEEC0C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F6213-BE2E-4734-8279-4A1FE11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Apriori 原理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22C03-6C65-438B-8435-2B168BAE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利用不頻繁子集刪除不可能組合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9597E-76E5-4F5C-8E41-62FB5110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2608A-1FFA-4DD9-B54C-D513C5D3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74296-A504-4D7F-A5DF-F4AFD1BF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從頻繁項目集產生並篩選規則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000BA-7C2E-4AD4-897B-9A9B4F2A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14458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8AB1E-326A-4830-9398-FF10DC52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9A28C-05F0-4A85-98F0-EDD3E16D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組合數快速增加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72675-3773-4C15-BE93-B298CDF3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878C1-6FAA-43CF-A120-A0633B0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7A008-8419-48AB-8A94-C602C0EA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CDD59-FA0F-4E22-B9BB-4B28AAA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四個項目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91702-6B25-4241-8A9A-14F71589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非空組合共有 15 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84F89-9F67-46C4-9F8B-36C6840E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07CCE-4101-4DD4-993C-DB0B4576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項目增加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EB01C-85CE-489E-933E-7162E288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所有可能項目集呈快速成長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174FD-D283-4A13-B40F-64278A4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6D0BD-E45C-40DD-957E-6B9E6B16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直接枚舉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4A616-F72F-46B4-A6BD-9CE8A397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資料大時會耗費許多計算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1DD85-2F38-4DE0-9386-A3D7B771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5DD25-5973-4451-AEFB-2F37451D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演算法目的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2D2A4-BAEC-438C-9BE4-9A807A5B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提早排除不可能達標的組合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8B32D-5E50-46B6-97D3-93B86112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77386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33524-E63B-46B5-ADCF-2261A8B7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E8327-318A-4046-A674-F553CBD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Apriori 的核心原理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2A699-FCEE-412F-B26F-A2CC9B17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54CF4-D68C-4D28-9479-6279DD5A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80A5F-2FDE-4FA3-8DDC-03BFB0D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98B24-3429-4475-A39E-DAAEEADB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已知條件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0D986-7280-4EC5-B0E6-C3BE877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某個項目集不頻繁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9B227-AF92-4759-B3BE-0A03A7D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50E0E-B1B3-48C7-84D1-A9668341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可推論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E23BB-5714-4CC9-A463-F3EF0B9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包含它的更大項目集也不會頻繁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D14B6-BDB8-4006-91ED-C22B8EF1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DB8E5-DCCC-4B76-989E-AAAB9694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78820-FE68-44CA-B078-8DC5639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加入更多項目不會增加出現次數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B941E-C1EE-4F42-857B-5D4DCAAB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305DC-5D3E-4696-B2AC-BA5BC9D3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BE7E7-68DD-4EC8-9521-AC622904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省去許多不必要的支持度計算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313BE-C134-4BB7-A71A-C776E04C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201250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637A7-0E59-4B52-89A8-749DD2D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41462-8B6F-4BB8-9156-72BAFAA7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Apriori 的四步直覺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050C7-5344-48E1-8468-26C705F7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C6B9-F802-48FE-85F0-9E010EEB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BED6B-A97F-4C28-A721-1AA1AFB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0BC10-2326-4139-A2EE-F806745E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B1CE1-1C12-4166-A5B9-83605709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計算單一項目的支持度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D489D-797A-46DF-B5A7-02EF51C1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5F23F-146E-49AF-8EF3-009F568B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352E0-9515-4A4A-8B53-CD694C8D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保留達門檻的頻繁項目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DA38E-9C26-47DD-A8D4-09DFDBD2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0DFFE-82B2-41AB-9E94-9F9CA04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F9440-06BA-4B7B-BA97-EE7E2B33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組成更大項目集並再次篩選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7D73D-8D48-4958-9FB0-CAD7C8D4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22EAE-3928-459A-8260-33A0A66B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第四步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EF7CA-9B91-487C-A0BE-03C7C51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由頻繁項目集產生候選規則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4D7D2-149C-4BF2-B2DE-8F6551D9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982528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930CF-20BA-4B0F-A9AA-8CD52EE9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AD709-DF3F-4589-BC0B-862C8353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剪枝 Pruning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39C58-D603-45F2-83BC-58E0B0E7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C93F8-D360-4E19-B274-6E55F45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74165-0871-42A2-9C40-E492505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C9D8-4690-43D7-9D7E-C7B28A2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候選組合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2D830-C697-40A5-8589-3ABA9024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由上一輪頻繁項目集產生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E2EA0-6E40-425F-85B1-8C1DC10F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7AC72-3A08-422F-9635-448E959A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檢查子集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2AB86-BDC4-4AA1-B992-C80FB5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若任一必要子集不頻繁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0D2E0-E4F2-45F1-91B7-1264162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4F522-E5D9-482D-9A4A-F4519AA5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立即排除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283F9-C4BE-41E4-A355-7235BB5C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不再計算該組合及其更大超集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841F3-BFF2-4CAD-8243-7139337B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A8F63-2D9C-45CB-A1EE-BCB0C103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教學重點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A5ACB-D073-43F9-8CE1-D8D607CB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先刪除不可能，減少運算量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AF129-9536-4EC2-A558-03E47ED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303879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8E464-5484-4DDF-A3DC-A47902D0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7C90A-3E28-46BA-BDCC-B3D12F41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從項目集到規則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628C8-966B-429C-A844-FC226A7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4E9F2-B33C-416E-99D5-74D18C25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DEA2F-AC32-4EC3-9E4B-63ACF325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27B2E-95D8-4458-9E4C-47C04E49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頻繁項目集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C5C5E-F205-4220-88D0-9E6F0F83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表示組合在交易中常見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5D1DB-DABA-485D-96CE-56565963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9577C-0621-49E2-8B74-2ADF53E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產生方向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AFA1C-3A65-4464-9CC0-BDCCC9EA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同一組合可形成不同前件與後件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35575-FE91-45B2-AF04-1960961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02C10-A636-4DAE-ABC8-28F210E3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規則篩選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90C59-DD45-45F1-8243-7E3E3B03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再檢查信賴度與提升度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1EFE6-CD8D-4A48-B17B-27ED2E4F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FC52D-F9A1-4C8D-8F21-1B7C684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最後解讀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2C075-E4DF-4281-B088-F8D624EE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結合業務情境判斷是否值得使用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1317A-374C-4EDB-9A94-A60F89B4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606899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60910-5F0C-4C13-A14E-64810587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35EF9-ED23-4170-9DAA-90FBC4B5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金融產品組合案例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1001D-BE03-4FBF-800C-E0494000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28FE2-2CD9-4760-A830-9CCE7AB1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F82A5-73C3-4E77-BB6A-ED49E2D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94732-3EE5-4513-9CFD-CD8D0A61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交易單位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01A76-182D-4FD2-8E3A-708CC938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每位客戶在一年內使用的服務集合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E1AF2-005E-4F11-80CD-1C7B2F2D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09D17-39A2-4903-A2E5-6B3E4A9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候選規則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FF30E-5625-4927-9EDB-91C82382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行動銀行對應電子帳單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B7807-9086-408D-B02A-CC86B75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4E50C-C1E1-4E27-9B44-43825F53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可看指標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16784-C7F3-42AE-8A52-1F15B7B0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支持度、信賴度與提升度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F12D8-3C40-406D-A30A-B479FB2D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D24BB-8B61-4E2B-9871-14FC8638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可能行動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4B7D8-57C7-40C8-B61B-8D0BE2EA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改善服務引導，不直接強迫交叉銷售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39D8E-76CA-41E2-8ADB-C5E6BF12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2791579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E138C-EFAE-4068-8BF6-22F6AFA0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767D4-1B92-441F-82CB-09391854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異常事件組合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61F9A-4E48-4D86-8365-9C74B8D7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0E006-CAC3-454E-BAEB-57975E6B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798CD-F6CC-44F8-9AF7-7F9ACB56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BD2CB-7D15-4AD0-9726-A0A6C801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資料單位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E30B8-6D33-4CE2-9300-CA9852A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每筆可疑交易或案件中的事件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C7EAF-DACE-461F-9E80-CED02E6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C66BC-F92C-4A1A-87B5-68F45EBE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分析目的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F95F5-8A05-4AC4-B40E-B309C08B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找出常一起出現的風險訊號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0F47F-F71F-4A37-B7CC-4C8A7629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3E1FD-C4BC-45A5-8DB2-8902A8EF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後續處理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3F572-A26C-448E-A1B1-1DE291DC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由調查人員檢查是否具合理原因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3A008-98C2-4C43-883C-EB59184D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E8331-1AC1-4E25-A1B3-D19D2650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93D5A-85EE-4880-822C-7A7D6F65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頻繁不等於詐欺，少見也不等於安全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D4740-7953-4651-AC19-CA1FA6FE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836995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91DA5-3A4F-442D-B59A-7EB868AE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26DEB-67DF-46AB-8B86-D9D3CCE9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隱私與誤用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2E9E2-D0DB-4A67-898E-6CF26AC0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37484-C265-41E3-8911-2D3531FB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777E0-93D9-407C-BB3B-E2354C74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AE414-6DD1-432F-A5E9-0BCB59A6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資料最小化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1D30C-A113-4A4F-B94D-7464E90C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只使用完成目的所需的項目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DB48B-D5A6-4C30-8FAC-F061B44D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4A94F-9C7C-40AB-BEA7-E057C968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避免敏感推論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AF2F7-3623-46E0-B220-E581CE9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不從組合猜測健康或其他敏感狀態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03A03-2094-43F5-930F-042322F9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029B4-DCFD-4109-BED1-17BB90C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行動檢查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98B2C-80A9-43E7-BB2B-6B51EBFD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推薦必須適合客戶並符合規範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472FE-0285-4A57-85FD-B6773720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F8437-8863-4DE0-BEC7-A7AB319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持續監測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C1643-026C-4419-B454-07CA32DE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規則可能隨時間與產品改變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4E081-BA06-4B44-B0AA-AC3FF263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077938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78435-535F-470A-9A87-6D30A884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BA45C-A597-44CB-A684-0C9CFCA9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10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45699-F4D6-4D5C-946E-ED3273A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EE93A-A11A-4AAB-9904-F2D3166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6F824-C03C-48A4-94FD-0AEBA646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6A0A1-10E7-4124-A2CB-E6B2D932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關聯基礎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AFEFB-4555-435A-8AF3-4E0A5A69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交易、項目集、前件與後件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4032C-4025-4BDA-B349-49EAC2B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0C676-CB26-4E2E-B0C3-0A9FEF6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三個指標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DF10D-986E-403D-A534-96E8FA01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支持度、信賴度與提升度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12081-6BFF-435C-A12E-E6916B29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C33FC-FA9D-4C7A-88B7-E8E90BBC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Apriori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2C0FF-A20D-472C-BDFA-F336D8BD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用頻繁子集原理進行剪枝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F90DE-C55A-4948-877C-B588C31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F3021-3FB1-4761-AB36-F3A53734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金融使用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C108E-B73F-4239-A1CC-669DE8D5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以規則提供線索，保留驗證與責任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D4F44-497A-4A38-8A37-79451FAE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094722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71FB5-8F23-42A6-8F9E-67007754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C5958-0618-4794-AA68-8F0696A4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E1961-AC4B-49E2-B06A-3D47E897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58884-A987-497D-83DD-D52859B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E6867-1118-4A27-8C79-46A4ABE0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32BBA-25B5-4B70-A032-F9377748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F4E72-607E-4F51-8B0D-7AF4E3E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Apriori 主要減少？（A 不必要計算　B 資料品質）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43D69-9ADD-4042-A7C8-5D62AEDC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不頻繁項目集的超集會？（A 也不頻繁　B 一定頻繁）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E89D4-FCE9-4542-806B-D0AD5F5C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頻繁項目集是否等於規則？（A 是　B 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F8327-CD94-471B-A5B1-2768CEF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金融規則能否直接強迫推銷？（A 能　B 不能）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36547-8651-4327-AAC2-62F0CF50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規則是否可能隨時間改變？（A 可能　B 不可能）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AF81B-4282-4A1C-B6B2-54ADC229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62966-21BD-46DE-A337-1DB9820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3-B　4-B　5-A</a:t>
            </a:r>
          </a:p>
        </p:txBody>
      </p:sp>
    </p:spTree>
    <p:extLst>
      <p:ext uri="{BB962C8B-B14F-4D97-AF65-F5344CB8AC3E}">
        <p14:creationId xmlns:p14="http://schemas.microsoft.com/office/powerpoint/2010/main" val="2126300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2026-09-04T07:49:50.7840000Z</dcterms:created>
  <dcterms:modified xsi:type="dcterms:W3CDTF">2026-09-04T07:49:50.7840000Z</dcterms:modified>
</coreProperties>
</file>