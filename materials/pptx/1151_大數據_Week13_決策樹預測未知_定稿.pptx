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94c3ca0154e30" /><Relationship Type="http://schemas.openxmlformats.org/officeDocument/2006/relationships/extended-properties" Target="/docProps/app.xml" Id="R6e766ee140e94176" /><Relationship Type="http://schemas.openxmlformats.org/officeDocument/2006/relationships/officeDocument" Target="/ppt/presentation.xml" Id="Rc45082ca87b949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e8ee88b4944a7c"/>
  </p:sldMasterIdLst>
  <p:notesMasterIdLst>
    <p:notesMasterId xmlns:r="http://schemas.openxmlformats.org/officeDocument/2006/relationships" r:id="R199f13df99b94114"/>
  </p:notesMasterIdLst>
  <p:sldIdLst>
    <p:sldId xmlns:r="http://schemas.openxmlformats.org/officeDocument/2006/relationships" id="256" r:id="R45c9ddaa84d74278"/>
    <p:sldId xmlns:r="http://schemas.openxmlformats.org/officeDocument/2006/relationships" id="257" r:id="R9a6c6eeaa7ae4d99"/>
    <p:sldId xmlns:r="http://schemas.openxmlformats.org/officeDocument/2006/relationships" id="258" r:id="Rf9e61592e0634f48"/>
    <p:sldId xmlns:r="http://schemas.openxmlformats.org/officeDocument/2006/relationships" id="259" r:id="Rb4d5bdd82f0c46e3"/>
    <p:sldId xmlns:r="http://schemas.openxmlformats.org/officeDocument/2006/relationships" id="260" r:id="R3795e77d0e5947b4"/>
    <p:sldId xmlns:r="http://schemas.openxmlformats.org/officeDocument/2006/relationships" id="261" r:id="R29521fb3aad84cb4"/>
    <p:sldId xmlns:r="http://schemas.openxmlformats.org/officeDocument/2006/relationships" id="262" r:id="R5dfe6befb4e84e01"/>
    <p:sldId xmlns:r="http://schemas.openxmlformats.org/officeDocument/2006/relationships" id="263" r:id="R26227e2c107c4951"/>
    <p:sldId xmlns:r="http://schemas.openxmlformats.org/officeDocument/2006/relationships" id="264" r:id="R7d643ed22d2c47cb"/>
    <p:sldId xmlns:r="http://schemas.openxmlformats.org/officeDocument/2006/relationships" id="265" r:id="R7f0a5fb3eaa8447c"/>
    <p:sldId xmlns:r="http://schemas.openxmlformats.org/officeDocument/2006/relationships" id="266" r:id="Ra971360e0666462d"/>
    <p:sldId xmlns:r="http://schemas.openxmlformats.org/officeDocument/2006/relationships" id="267" r:id="Rcf063e7439974e7b"/>
    <p:sldId xmlns:r="http://schemas.openxmlformats.org/officeDocument/2006/relationships" id="268" r:id="R582acd983cab4cfc"/>
    <p:sldId xmlns:r="http://schemas.openxmlformats.org/officeDocument/2006/relationships" id="269" r:id="Rd6f2c3389bb0454d"/>
    <p:sldId xmlns:r="http://schemas.openxmlformats.org/officeDocument/2006/relationships" id="270" r:id="R04210bb39c6e4db4"/>
    <p:sldId xmlns:r="http://schemas.openxmlformats.org/officeDocument/2006/relationships" id="271" r:id="R2a36f5c69389439d"/>
    <p:sldId xmlns:r="http://schemas.openxmlformats.org/officeDocument/2006/relationships" id="272" r:id="R2d79311d039b455b"/>
    <p:sldId xmlns:r="http://schemas.openxmlformats.org/officeDocument/2006/relationships" id="273" r:id="R76cfc575329a4e21"/>
    <p:sldId xmlns:r="http://schemas.openxmlformats.org/officeDocument/2006/relationships" id="274" r:id="Rf32c370869394fb5"/>
    <p:sldId xmlns:r="http://schemas.openxmlformats.org/officeDocument/2006/relationships" id="275" r:id="R1ff4e1dd95e3470b"/>
    <p:sldId xmlns:r="http://schemas.openxmlformats.org/officeDocument/2006/relationships" id="276" r:id="Rdf9eed4042c449c3"/>
    <p:sldId xmlns:r="http://schemas.openxmlformats.org/officeDocument/2006/relationships" id="277" r:id="Rd2855882286f4e77"/>
    <p:sldId xmlns:r="http://schemas.openxmlformats.org/officeDocument/2006/relationships" id="278" r:id="R21ea65efec19487a"/>
    <p:sldId xmlns:r="http://schemas.openxmlformats.org/officeDocument/2006/relationships" id="279" r:id="R86ddfa67425248e0"/>
    <p:sldId xmlns:r="http://schemas.openxmlformats.org/officeDocument/2006/relationships" id="280" r:id="R2647a1a8303749d0"/>
    <p:sldId xmlns:r="http://schemas.openxmlformats.org/officeDocument/2006/relationships" id="281" r:id="R3f476787170d4684"/>
    <p:sldId xmlns:r="http://schemas.openxmlformats.org/officeDocument/2006/relationships" id="282" r:id="Refb75d9cd51947fe"/>
    <p:sldId xmlns:r="http://schemas.openxmlformats.org/officeDocument/2006/relationships" id="283" r:id="Rb8f29861a0784fcc"/>
    <p:sldId xmlns:r="http://schemas.openxmlformats.org/officeDocument/2006/relationships" id="284" r:id="R8b521325ddca4872"/>
    <p:sldId xmlns:r="http://schemas.openxmlformats.org/officeDocument/2006/relationships" id="285" r:id="R254d8a30cff84291"/>
    <p:sldId xmlns:r="http://schemas.openxmlformats.org/officeDocument/2006/relationships" id="286" r:id="R96860e94247f4e41"/>
    <p:sldId xmlns:r="http://schemas.openxmlformats.org/officeDocument/2006/relationships" id="287" r:id="R0b8526d0499a4aa9"/>
    <p:sldId xmlns:r="http://schemas.openxmlformats.org/officeDocument/2006/relationships" id="288" r:id="R97861a0f2d6343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0870da4e24bfa" /><Relationship Type="http://schemas.openxmlformats.org/officeDocument/2006/relationships/slideMaster" Target="/ppt/slideMasters/slideMaster1.xml" Id="R5fe8ee88b4944a7c" /><Relationship Type="http://schemas.openxmlformats.org/officeDocument/2006/relationships/notesMaster" Target="/ppt/notesMasters/notesMaster1.xml" Id="R199f13df99b94114" /><Relationship Type="http://schemas.openxmlformats.org/officeDocument/2006/relationships/presProps" Target="/ppt/presProps.xml" Id="R2bf78e946d654ed7" /><Relationship Type="http://schemas.openxmlformats.org/officeDocument/2006/relationships/tableStyles" Target="/ppt/tableStyles.xml" Id="Rdd33665870dd444e" /><Relationship Type="http://schemas.openxmlformats.org/officeDocument/2006/relationships/slide" Target="/ppt/slides/slide1.xml" Id="R45c9ddaa84d74278" /><Relationship Type="http://schemas.openxmlformats.org/officeDocument/2006/relationships/slide" Target="/ppt/slides/slide2.xml" Id="R9a6c6eeaa7ae4d99" /><Relationship Type="http://schemas.openxmlformats.org/officeDocument/2006/relationships/slide" Target="/ppt/slides/slide3.xml" Id="Rf9e61592e0634f48" /><Relationship Type="http://schemas.openxmlformats.org/officeDocument/2006/relationships/slide" Target="/ppt/slides/slide4.xml" Id="Rb4d5bdd82f0c46e3" /><Relationship Type="http://schemas.openxmlformats.org/officeDocument/2006/relationships/slide" Target="/ppt/slides/slide5.xml" Id="R3795e77d0e5947b4" /><Relationship Type="http://schemas.openxmlformats.org/officeDocument/2006/relationships/slide" Target="/ppt/slides/slide6.xml" Id="R29521fb3aad84cb4" /><Relationship Type="http://schemas.openxmlformats.org/officeDocument/2006/relationships/slide" Target="/ppt/slides/slide7.xml" Id="R5dfe6befb4e84e01" /><Relationship Type="http://schemas.openxmlformats.org/officeDocument/2006/relationships/slide" Target="/ppt/slides/slide8.xml" Id="R26227e2c107c4951" /><Relationship Type="http://schemas.openxmlformats.org/officeDocument/2006/relationships/slide" Target="/ppt/slides/slide9.xml" Id="R7d643ed22d2c47cb" /><Relationship Type="http://schemas.openxmlformats.org/officeDocument/2006/relationships/slide" Target="/ppt/slides/slide10.xml" Id="R7f0a5fb3eaa8447c" /><Relationship Type="http://schemas.openxmlformats.org/officeDocument/2006/relationships/slide" Target="/ppt/slides/slide11.xml" Id="Ra971360e0666462d" /><Relationship Type="http://schemas.openxmlformats.org/officeDocument/2006/relationships/slide" Target="/ppt/slides/slide12.xml" Id="Rcf063e7439974e7b" /><Relationship Type="http://schemas.openxmlformats.org/officeDocument/2006/relationships/slide" Target="/ppt/slides/slide13.xml" Id="R582acd983cab4cfc" /><Relationship Type="http://schemas.openxmlformats.org/officeDocument/2006/relationships/slide" Target="/ppt/slides/slide14.xml" Id="Rd6f2c3389bb0454d" /><Relationship Type="http://schemas.openxmlformats.org/officeDocument/2006/relationships/slide" Target="/ppt/slides/slide15.xml" Id="R04210bb39c6e4db4" /><Relationship Type="http://schemas.openxmlformats.org/officeDocument/2006/relationships/slide" Target="/ppt/slides/slide16.xml" Id="R2a36f5c69389439d" /><Relationship Type="http://schemas.openxmlformats.org/officeDocument/2006/relationships/slide" Target="/ppt/slides/slide17.xml" Id="R2d79311d039b455b" /><Relationship Type="http://schemas.openxmlformats.org/officeDocument/2006/relationships/slide" Target="/ppt/slides/slide18.xml" Id="R76cfc575329a4e21" /><Relationship Type="http://schemas.openxmlformats.org/officeDocument/2006/relationships/slide" Target="/ppt/slides/slide19.xml" Id="Rf32c370869394fb5" /><Relationship Type="http://schemas.openxmlformats.org/officeDocument/2006/relationships/slide" Target="/ppt/slides/slide20.xml" Id="R1ff4e1dd95e3470b" /><Relationship Type="http://schemas.openxmlformats.org/officeDocument/2006/relationships/slide" Target="/ppt/slides/slide21.xml" Id="Rdf9eed4042c449c3" /><Relationship Type="http://schemas.openxmlformats.org/officeDocument/2006/relationships/slide" Target="/ppt/slides/slide22.xml" Id="Rd2855882286f4e77" /><Relationship Type="http://schemas.openxmlformats.org/officeDocument/2006/relationships/slide" Target="/ppt/slides/slide23.xml" Id="R21ea65efec19487a" /><Relationship Type="http://schemas.openxmlformats.org/officeDocument/2006/relationships/slide" Target="/ppt/slides/slide24.xml" Id="R86ddfa67425248e0" /><Relationship Type="http://schemas.openxmlformats.org/officeDocument/2006/relationships/slide" Target="/ppt/slides/slide25.xml" Id="R2647a1a8303749d0" /><Relationship Type="http://schemas.openxmlformats.org/officeDocument/2006/relationships/slide" Target="/ppt/slides/slide26.xml" Id="R3f476787170d4684" /><Relationship Type="http://schemas.openxmlformats.org/officeDocument/2006/relationships/slide" Target="/ppt/slides/slide27.xml" Id="Refb75d9cd51947fe" /><Relationship Type="http://schemas.openxmlformats.org/officeDocument/2006/relationships/slide" Target="/ppt/slides/slide28.xml" Id="Rb8f29861a0784fcc" /><Relationship Type="http://schemas.openxmlformats.org/officeDocument/2006/relationships/slide" Target="/ppt/slides/slide29.xml" Id="R8b521325ddca4872" /><Relationship Type="http://schemas.openxmlformats.org/officeDocument/2006/relationships/slide" Target="/ppt/slides/slide30.xml" Id="R254d8a30cff84291" /><Relationship Type="http://schemas.openxmlformats.org/officeDocument/2006/relationships/slide" Target="/ppt/slides/slide31.xml" Id="R96860e94247f4e41" /><Relationship Type="http://schemas.openxmlformats.org/officeDocument/2006/relationships/slide" Target="/ppt/slides/slide32.xml" Id="R0b8526d0499a4aa9" /><Relationship Type="http://schemas.openxmlformats.org/officeDocument/2006/relationships/slide" Target="/ppt/slides/slide33.xml" Id="R97861a0f2d63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47b0321474f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79f86b97f4a2f" /><Relationship Type="http://schemas.openxmlformats.org/officeDocument/2006/relationships/notesMaster" Target="/ppt/notesMasters/notesMaster1.xml" Id="R4ea923475fef43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809bb11cd942e8" /><Relationship Type="http://schemas.openxmlformats.org/officeDocument/2006/relationships/notesMaster" Target="/ppt/notesMasters/notesMaster1.xml" Id="R58ac3ab2c62f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d26a54b1ed4673" /><Relationship Type="http://schemas.openxmlformats.org/officeDocument/2006/relationships/notesMaster" Target="/ppt/notesMasters/notesMaster1.xml" Id="Ra1e1f6e327354c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4096b83c4a4549" /><Relationship Type="http://schemas.openxmlformats.org/officeDocument/2006/relationships/notesMaster" Target="/ppt/notesMasters/notesMaster1.xml" Id="R056d2e34a9c44b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fdf9207a64b61" /><Relationship Type="http://schemas.openxmlformats.org/officeDocument/2006/relationships/notesMaster" Target="/ppt/notesMasters/notesMaster1.xml" Id="R119a3ccbeffb4e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0cbb5eb5d0488a" /><Relationship Type="http://schemas.openxmlformats.org/officeDocument/2006/relationships/notesMaster" Target="/ppt/notesMasters/notesMaster1.xml" Id="R6db5a6309acd46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a986a1200446d1" /><Relationship Type="http://schemas.openxmlformats.org/officeDocument/2006/relationships/notesMaster" Target="/ppt/notesMasters/notesMaster1.xml" Id="R9902cf0a8850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bcfa77b874649" /><Relationship Type="http://schemas.openxmlformats.org/officeDocument/2006/relationships/notesMaster" Target="/ppt/notesMasters/notesMaster1.xml" Id="Ra04f55f7155d45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896290e0874974" /><Relationship Type="http://schemas.openxmlformats.org/officeDocument/2006/relationships/notesMaster" Target="/ppt/notesMasters/notesMaster1.xml" Id="R55593252518e42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d3625bbcda4529" /><Relationship Type="http://schemas.openxmlformats.org/officeDocument/2006/relationships/notesMaster" Target="/ppt/notesMasters/notesMaster1.xml" Id="Rfdf6eec0b26944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85ed6212ea462f" /><Relationship Type="http://schemas.openxmlformats.org/officeDocument/2006/relationships/notesMaster" Target="/ppt/notesMasters/notesMaster1.xml" Id="Rb709aed4e7ad4c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8e2047bb2b4105" /><Relationship Type="http://schemas.openxmlformats.org/officeDocument/2006/relationships/notesMaster" Target="/ppt/notesMasters/notesMaster1.xml" Id="R108ee0f3036e40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a34b77fdd04bc9" /><Relationship Type="http://schemas.openxmlformats.org/officeDocument/2006/relationships/notesMaster" Target="/ppt/notesMasters/notesMaster1.xml" Id="R9c345b47d01e41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fdd3f6a58841f8" /><Relationship Type="http://schemas.openxmlformats.org/officeDocument/2006/relationships/notesMaster" Target="/ppt/notesMasters/notesMaster1.xml" Id="Rb54addda620247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24359f95bf4796" /><Relationship Type="http://schemas.openxmlformats.org/officeDocument/2006/relationships/notesMaster" Target="/ppt/notesMasters/notesMaster1.xml" Id="R2f7efb0ccd1741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ba6d7eef304327" /><Relationship Type="http://schemas.openxmlformats.org/officeDocument/2006/relationships/notesMaster" Target="/ppt/notesMasters/notesMaster1.xml" Id="R4c6c816249ec44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09b9696bc4485c" /><Relationship Type="http://schemas.openxmlformats.org/officeDocument/2006/relationships/notesMaster" Target="/ppt/notesMasters/notesMaster1.xml" Id="R5440ed4432af44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dfbac10bf14998" /><Relationship Type="http://schemas.openxmlformats.org/officeDocument/2006/relationships/notesMaster" Target="/ppt/notesMasters/notesMaster1.xml" Id="R83a63559807c4a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d3cc98a96241ac" /><Relationship Type="http://schemas.openxmlformats.org/officeDocument/2006/relationships/notesMaster" Target="/ppt/notesMasters/notesMaster1.xml" Id="R8952ee19918a4a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cdbec235e24ab7" /><Relationship Type="http://schemas.openxmlformats.org/officeDocument/2006/relationships/notesMaster" Target="/ppt/notesMasters/notesMaster1.xml" Id="R6fb6e53e3bf042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286a19efac46eb" /><Relationship Type="http://schemas.openxmlformats.org/officeDocument/2006/relationships/notesMaster" Target="/ppt/notesMasters/notesMaster1.xml" Id="Re080632a5c0448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bb6c5b7dc0402e" /><Relationship Type="http://schemas.openxmlformats.org/officeDocument/2006/relationships/notesMaster" Target="/ppt/notesMasters/notesMaster1.xml" Id="Raf45b5f7617e43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5c28f20a494579" /><Relationship Type="http://schemas.openxmlformats.org/officeDocument/2006/relationships/notesMaster" Target="/ppt/notesMasters/notesMaster1.xml" Id="Rd26c481a497944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0ba21a6d0f490e" /><Relationship Type="http://schemas.openxmlformats.org/officeDocument/2006/relationships/notesMaster" Target="/ppt/notesMasters/notesMaster1.xml" Id="R801ef14961a549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05a6c04afe74347" /><Relationship Type="http://schemas.openxmlformats.org/officeDocument/2006/relationships/notesMaster" Target="/ppt/notesMasters/notesMaster1.xml" Id="Rcffe3ca9c43b4b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07492761b714492" /><Relationship Type="http://schemas.openxmlformats.org/officeDocument/2006/relationships/notesMaster" Target="/ppt/notesMasters/notesMaster1.xml" Id="Rc81df8601a4e4c9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b9570b6d9541d9" /><Relationship Type="http://schemas.openxmlformats.org/officeDocument/2006/relationships/notesMaster" Target="/ppt/notesMasters/notesMaster1.xml" Id="R110363afe02441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5a940c0040473f" /><Relationship Type="http://schemas.openxmlformats.org/officeDocument/2006/relationships/notesMaster" Target="/ppt/notesMasters/notesMaster1.xml" Id="R6fc7d22739ed41d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8c8d003e85c42dc" /><Relationship Type="http://schemas.openxmlformats.org/officeDocument/2006/relationships/notesMaster" Target="/ppt/notesMasters/notesMaster1.xml" Id="Rb4ffd516da5c4a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d02d51f0d94f42" /><Relationship Type="http://schemas.openxmlformats.org/officeDocument/2006/relationships/notesMaster" Target="/ppt/notesMasters/notesMaster1.xml" Id="Re75230d213c14d1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174a8cc45114f7e" /><Relationship Type="http://schemas.openxmlformats.org/officeDocument/2006/relationships/notesMaster" Target="/ppt/notesMasters/notesMaster1.xml" Id="R0027678b3b2e475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2e104ac2044ec2" /><Relationship Type="http://schemas.openxmlformats.org/officeDocument/2006/relationships/notesMaster" Target="/ppt/notesMasters/notesMaster1.xml" Id="Ra46266fd221e4ad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03f0eb8afc243f8" /><Relationship Type="http://schemas.openxmlformats.org/officeDocument/2006/relationships/notesMaster" Target="/ppt/notesMasters/notesMaster1.xml" Id="R160659c797114e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教學提示：以客戶價值資料示範從已知到未知的流程。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教學提示：用混淆矩陣與節點資訊練習解讀。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教學提示：將預測結果放回金融決策、監測與責任情境。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13「看看決策樹的結果」，重整 CART、RFM 客戶價值、訓練測試切分、混淆矩陣、樹圖解讀與延伸應用。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9703fe704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80e20db3154674" /><Relationship Type="http://schemas.openxmlformats.org/officeDocument/2006/relationships/slideLayout" Target="/ppt/slideLayouts/slideLayout1.xml" Id="R93467ca9a22548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467ca9a22548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e8c8ee03a4e96" /><Relationship Type="http://schemas.openxmlformats.org/officeDocument/2006/relationships/notesSlide" Target="/ppt/notesSlides/notesSlide1.xml" Id="R65355be3f7464f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780a59c874d34" /><Relationship Type="http://schemas.openxmlformats.org/officeDocument/2006/relationships/notesSlide" Target="/ppt/notesSlides/notesSlide2.xml" Id="R00fac195ca31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40c4f6cce42c9" /><Relationship Type="http://schemas.openxmlformats.org/officeDocument/2006/relationships/notesSlide" Target="/ppt/notesSlides/notesSlide3.xml" Id="Ra02a082168664c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f9af9e95f46cc" /><Relationship Type="http://schemas.openxmlformats.org/officeDocument/2006/relationships/notesSlide" Target="/ppt/notesSlides/notesSlide4.xml" Id="Rfcd1a2f046544a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b9cef71ef4976" /><Relationship Type="http://schemas.openxmlformats.org/officeDocument/2006/relationships/notesSlide" Target="/ppt/notesSlides/notesSlide5.xml" Id="Ra73b5dc775b548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2a19df26b47dd" /><Relationship Type="http://schemas.openxmlformats.org/officeDocument/2006/relationships/notesSlide" Target="/ppt/notesSlides/notesSlide6.xml" Id="R22f3fd7e2b344a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335b8bfb8407c" /><Relationship Type="http://schemas.openxmlformats.org/officeDocument/2006/relationships/notesSlide" Target="/ppt/notesSlides/notesSlide7.xml" Id="R239bdb08c48b45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1695068684555" /><Relationship Type="http://schemas.openxmlformats.org/officeDocument/2006/relationships/notesSlide" Target="/ppt/notesSlides/notesSlide8.xml" Id="R01265cf66f934a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5c83ff1114b62" /><Relationship Type="http://schemas.openxmlformats.org/officeDocument/2006/relationships/notesSlide" Target="/ppt/notesSlides/notesSlide9.xml" Id="R4775a84cc6a14e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3e2c756544b2e" /><Relationship Type="http://schemas.openxmlformats.org/officeDocument/2006/relationships/notesSlide" Target="/ppt/notesSlides/notesSlide10.xml" Id="Ra641f63d6a704f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8f770f1044904" /><Relationship Type="http://schemas.openxmlformats.org/officeDocument/2006/relationships/notesSlide" Target="/ppt/notesSlides/notesSlide11.xml" Id="Rdc090912211c40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5b75f14b44237" /><Relationship Type="http://schemas.openxmlformats.org/officeDocument/2006/relationships/notesSlide" Target="/ppt/notesSlides/notesSlide12.xml" Id="Ra2d23074607043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db74d8ab24089" /><Relationship Type="http://schemas.openxmlformats.org/officeDocument/2006/relationships/notesSlide" Target="/ppt/notesSlides/notesSlide13.xml" Id="R34850951e55946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906cddd08407a" /><Relationship Type="http://schemas.openxmlformats.org/officeDocument/2006/relationships/notesSlide" Target="/ppt/notesSlides/notesSlide14.xml" Id="Rd204484c37bf46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62162003d4300" /><Relationship Type="http://schemas.openxmlformats.org/officeDocument/2006/relationships/notesSlide" Target="/ppt/notesSlides/notesSlide15.xml" Id="Rdee07b1f22e64c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4ffafb57642ef" /><Relationship Type="http://schemas.openxmlformats.org/officeDocument/2006/relationships/notesSlide" Target="/ppt/notesSlides/notesSlide16.xml" Id="R4dfd77628b784d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fc92753184774" /><Relationship Type="http://schemas.openxmlformats.org/officeDocument/2006/relationships/notesSlide" Target="/ppt/notesSlides/notesSlide17.xml" Id="R43648957390f45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7d6f55041490a" /><Relationship Type="http://schemas.openxmlformats.org/officeDocument/2006/relationships/notesSlide" Target="/ppt/notesSlides/notesSlide18.xml" Id="R9bee680ea7c94c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d5563a74246f5" /><Relationship Type="http://schemas.openxmlformats.org/officeDocument/2006/relationships/notesSlide" Target="/ppt/notesSlides/notesSlide19.xml" Id="Rd5292af3192a48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41e50bc1a4392" /><Relationship Type="http://schemas.openxmlformats.org/officeDocument/2006/relationships/notesSlide" Target="/ppt/notesSlides/notesSlide20.xml" Id="R80d0a8950f1743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2b66587b34e52" /><Relationship Type="http://schemas.openxmlformats.org/officeDocument/2006/relationships/notesSlide" Target="/ppt/notesSlides/notesSlide21.xml" Id="Ra109f152352b48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7e497769647ea" /><Relationship Type="http://schemas.openxmlformats.org/officeDocument/2006/relationships/notesSlide" Target="/ppt/notesSlides/notesSlide22.xml" Id="R7ad0a0541e6f43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6ccd4f40347dd" /><Relationship Type="http://schemas.openxmlformats.org/officeDocument/2006/relationships/notesSlide" Target="/ppt/notesSlides/notesSlide23.xml" Id="R7ec6c916592145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a538309dc42c7" /><Relationship Type="http://schemas.openxmlformats.org/officeDocument/2006/relationships/notesSlide" Target="/ppt/notesSlides/notesSlide24.xml" Id="R420232d3f15242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de920cabf4459" /><Relationship Type="http://schemas.openxmlformats.org/officeDocument/2006/relationships/notesSlide" Target="/ppt/notesSlides/notesSlide25.xml" Id="R6c31a34a67ce49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32d51fdae4d1a" /><Relationship Type="http://schemas.openxmlformats.org/officeDocument/2006/relationships/notesSlide" Target="/ppt/notesSlides/notesSlide26.xml" Id="Rcff447a825144d2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8b1909820401c" /><Relationship Type="http://schemas.openxmlformats.org/officeDocument/2006/relationships/notesSlide" Target="/ppt/notesSlides/notesSlide27.xml" Id="Rf7a785ac13cc48b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b9fbdeace4ab5" /><Relationship Type="http://schemas.openxmlformats.org/officeDocument/2006/relationships/notesSlide" Target="/ppt/notesSlides/notesSlide28.xml" Id="R98bacfb510d343f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317d25e1540c2" /><Relationship Type="http://schemas.openxmlformats.org/officeDocument/2006/relationships/notesSlide" Target="/ppt/notesSlides/notesSlide29.xml" Id="R382a60c3423e4db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b9e2dfd534d23" /><Relationship Type="http://schemas.openxmlformats.org/officeDocument/2006/relationships/notesSlide" Target="/ppt/notesSlides/notesSlide30.xml" Id="R025f8471410848a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87b844554829" /><Relationship Type="http://schemas.openxmlformats.org/officeDocument/2006/relationships/notesSlide" Target="/ppt/notesSlides/notesSlide31.xml" Id="R25a38b5ee84e41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b9b05a7fd49ca" /><Relationship Type="http://schemas.openxmlformats.org/officeDocument/2006/relationships/notesSlide" Target="/ppt/notesSlides/notesSlide32.xml" Id="R2f9363e9b80b4dd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ee6c3b2954f7b" /><Relationship Type="http://schemas.openxmlformats.org/officeDocument/2006/relationships/notesSlide" Target="/ppt/notesSlides/notesSlide33.xml" Id="R704057d8f2b44a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5B2CA-38D7-496C-8839-61A827F5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02A51-ED6E-4018-BD7C-0F6D2698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13｜決策樹預測未知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B6C83-A238-422E-9E0D-F5D3632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3E48B-55A8-4598-AF2C-B54D0AD5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05DC8-626A-4241-B39F-3D68B8C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8A56C-81AE-4188-BF7C-813341CF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008CD-CB5E-4305-9D99-971B1CAE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用已建立的決策樹判斷未知資料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9FC34-742C-4CAA-AA5F-ED416C10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2C9B7-82C3-49CA-B639-E123EA75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學習主線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E92AD-81AD-40DC-BC4E-CB3C2E4A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資料切分、模型訓練、測試評估與預測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BE307-9B11-4348-A81D-E6D889A1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471D9-D22C-4034-8A2D-711DE81F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2E7FD-F763-4442-B327-3D4BD78D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能說明一筆新資料如何得到預測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36758-4F02-421B-B98E-FBCE240E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D4868-0458-4668-8501-69070359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金融連結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5BE96-EB80-4FCD-B490-C03E3074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客戶價值、回購與風險分類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0401A-45D6-45FE-BFD7-0D0AC1AA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57819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9870F-BEB2-44BD-816D-0AC39C1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352DA-3926-4DED-88A2-9565F853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從已知走向未知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0653B-188B-4A93-A8D0-B8F261BD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12CD1-52EF-451F-AEA3-07A99A3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3CC57-2685-40E7-A5A7-667D836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983C6-B708-4BC9-B649-4EAAC378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過去資料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06586-6C2D-4877-BD76-4C71484B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同時具有特徵與正確類別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D6129-98F3-4EC6-B81D-7095106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DAB02-5A6A-44C3-863F-F5D82897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模型學習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DD641-79B0-4B8B-AE12-48C34F4D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從歷史資料建立判斷規則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AA44F-4847-45C2-9D1D-5A45AB07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BB51D-154E-4048-B0A6-DF91D177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未知資料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B745C-0021-439A-BFD6-CDF70EC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只有特徵，尚未知道實際類別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A2B15-5EAC-4833-9F8E-BBABDE3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B7A51-DB9C-4A02-9081-EEDE6F06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模型輸出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CCC82-D3A7-4A18-BBB6-444988E2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提供預測類別與判斷依據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FCEB2-64AD-4AF2-8018-B799FB7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8887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44F6F-1A3E-4BEC-BAA8-07B56323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53A86-AD06-4C15-B525-B784AF1D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完整分析流程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947DB-9166-4C73-9DB5-48B620B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E4556-750B-4C41-8353-26FAF03C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9D3C9-2422-46A6-8BD9-1D769F4E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4CF4D-B7A3-4E34-A714-7E3EEF94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第一階段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425BB-75C9-43A6-A028-3AA49598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定義目標欄位與輸入特徵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5846F-FAD0-4724-98C2-3433753C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18EAC-F25E-4FFD-B2CE-BB4094E7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第二階段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8DA20-8BAF-4CDE-918A-9C665CD3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切分訓練資料與測試資料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E371D-2847-4C07-8604-7486CD04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FF664-A549-4665-9B5F-FA42E43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第三階段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5BD77-745A-499E-9BFF-1C4541C6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建樹並評估測試結果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2541D-AEF9-453C-A135-09E9A0A0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228F9-61C0-4825-8140-0360BA30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第四階段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3098C-98CF-4820-AC11-9BD5198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通過檢驗後預測新資料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4CE1A-C75B-4274-B886-BB5AB29D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44990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EC848-35C6-4C24-99EB-338CD8C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97752-E38B-4240-BB79-A480685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客戶價值案例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5E814-BAC8-441E-98FF-37C8E0FE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F579A-7144-460B-BD69-98DE76A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9B49A-E446-4798-BBEA-F0089B3B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1167C-9B20-4DB3-BB12-DC47132B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目標類別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E2E2D-D16C-498D-AFDD-D9C51A8B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高貢獻或低貢獻客戶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3F570-4307-4593-A718-BB71DA22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CC493-725C-4153-AA12-D659C0C8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R Recency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47496-F293-4C3A-9755-7F5A601A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距離最近一次交易的時間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B4538-5581-4411-88BF-F0CFC403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EA356-B382-4C05-A0CF-D5D674FB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F Frequency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2C4B2-0B5F-452C-BF08-80ADE34A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一定期間內的交易次數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5CE29-35EF-47D4-8ED7-66631E90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FEBB4-8464-4FA0-87AB-2CD457A5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M Monetary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B054B-12B6-4DA2-9BDD-07DDD42F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一定期間內的交易金額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4F620-CEF0-4AEF-BEAD-C9CBB483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90295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45C93-C80A-4EC6-A01A-DFE773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C55E2-D5DD-45A5-8D22-FADA35B2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目標變數與自變數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89AF3-D27D-41A5-8F36-2F7F1682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1378E-F33E-44DE-8798-38FBC1F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58B27-6BAF-4839-B288-91BD73D3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390F1-E07D-4A10-B36A-7DB006FB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目標變數 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30343-D058-4554-8BCC-3EC4AC87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模型要學習與預測的類別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37E9A-D36D-4990-AE44-1C8139D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2D070-4A8A-4DA9-8CA1-6FB977FF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自變數 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3A20F-E7D8-4A43-A8E6-DA7CB355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提供判斷資訊的特徵欄位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753B7-94B5-426F-935D-363713A9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4FEFF-E328-45A0-9B44-00138130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案例 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D0FE6-6CBA-4606-9863-FF03357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客戶價值為高或低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A183B-C8C5-4C0F-AD83-5F08C23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F5408-BE6F-4CCF-AA7D-D875D031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案例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36570-0537-46BF-BCF0-DC8D6FB9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R、F、M 與其他適當欄位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B99A4-9441-4579-BCD8-0737556B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0623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2DD6E-6881-4404-8C71-5AFD40D8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75F98-A961-4ABD-8ED7-15DB56DD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資料切分的目的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6C8E0-9FBC-41CE-AFE9-0AF93916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F3942-B68B-4F0B-990B-74A15E36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92CC8-F405-46FB-A557-C7FC22D6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FBC49-0FF3-4227-AF9F-86E1D9F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訓練資料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FBBCC-218C-4B38-976C-85EFA5C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讓模型看見特徵與答案並建立規則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23DA0-3BE9-4750-BD94-739D729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F5533-7253-4DB9-B7B9-3863644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測試資料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E6301-CC44-4C57-B524-52E31842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保留到最後檢驗模型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618F-C2E7-40B6-A999-7E246C7C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DD398-9F3C-48C3-8CFD-2DE16CD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避免問題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87039-E498-4BE6-8634-B4400105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不能用同一批資料同時訓練又宣稱驗證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B8326-F3CA-45DC-8B51-90C2ADA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3987D-E34C-4E66-B7E5-920C8546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實務效果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6958E-FCCB-4FDE-BC19-06CD4F5A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較接近模型面對新客戶的情境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D4F7E-A10D-4A8E-805C-BCBD42A2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63919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F3BDB-EFB5-4871-BE89-1981A994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5CCD8-D4D4-4F7D-ABAA-4D6E7C3E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75% 與 25% 範例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DB126-39C1-4B48-95A6-278C2ADE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B3E78-28C4-4216-8092-6BCC3594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8DCF1-0A65-4BE1-B14D-0F36C5E9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42542-9B56-48FB-A9F9-CA775C1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訓練集 75%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A7146-2DBC-4583-BE0F-1C1640C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用來建立決策樹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B23C5-E540-4AB7-8CD8-B7326EE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D0214-39C7-48F4-B37E-FF0071DC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測試集 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A5755-1C4E-464A-A99C-11727793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用來計算模型表現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531B3-C598-4026-B6D4-F8F677EE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D315A-1BC9-4B79-81B3-E25A055C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比例性質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F4DCD-AF1E-4BEF-9925-7F3869C9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這是常見示例，並非固定答案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213BE-408F-42F6-B8DF-5F4C534A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25E46-FEB0-4EE1-9620-D0270D6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真正考量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8FA31-1B8B-4F78-B8E2-4FE095B0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資料量、類別比例與時間順序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5412E-C45A-44BF-B4D0-749E12A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48482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D57AF-286A-48D1-815A-5A3DD14D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76FAA-9BA2-467A-AC1F-7B7FB3FE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隨機切分與時間切分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84852-43C5-4436-87A8-1BB5246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C4624-2C57-4397-BEB4-9B946BE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1D096-D043-4C6A-9B92-2754DEAD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A5F45-6E90-4C42-90DC-EDB9B23F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隨機切分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43011-7C0B-4E53-A9D8-42D84BF2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資料順序沒有重要時間意義時可使用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28CF7-D801-4090-B2A3-5761068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6619F-422D-4202-97A0-624C8852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時間切分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9057C-5C0D-4DE2-830D-726F3641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用較早資料訓練，較晚資料測試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B4217-0E6B-4B5D-A1C8-4C60917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84C34-621C-4755-BCB2-B06325B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金融情境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62054-2521-4FB0-932B-82EE83B3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預測未來時通常要尊重時間順序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EE77B-0624-4F49-8371-5FD69A8C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466AC-85CB-4B06-B4F2-B6EA3A22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避免洩漏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AAF31-79FD-4651-9AF6-1DC1A95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未來資訊不可進入訓練特徵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DD784-F2B8-49AE-BFA9-3F02CDCA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907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9E783-208D-4CF9-8548-426BF679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D42F6-0D5D-409E-8774-F80B862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建立基準模型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58FDE-023C-496B-829F-2FE9B33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6F854-45A2-46D3-BF45-8993E912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3D6D7-23DE-4740-98D5-631E0E34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70ACB-CADD-4B59-9602-B4C58842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先做簡單模型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CD756-70CC-4519-9E08-2E1AA4C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限制深度並保留可解釋性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B8B0C-93AF-4112-BF2A-6704DA85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FE26C-9B80-4908-A884-6012B6B0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記錄設定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2FC0F-4248-491D-B39C-5A2ECB4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保存特徵、切分方式與參數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76EDA-13B0-4789-AA74-D3023C1F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9809A-6030-4F79-A23D-89AAB16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建立基準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24DB4-96F8-4E24-B981-5842DA68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後續修改要與同一測試標準比較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87D73-2C5A-481F-84E5-FECF2EF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4D9B9-B20C-4658-9075-D1CCB17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課堂原則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E7D9D-EBDF-4170-9E25-41EAD84C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先確認流程正確，再追求更高分數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8B0D7-5D00-4909-82B4-9590562A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94452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A9B63-DFC8-4F3D-AF2D-A8FBE22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75741-A3FB-40C9-9BA9-912A679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E7F54-5FE2-4D80-A4C8-76AF1089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E60B7-6916-421A-A473-E7F2F06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9CE91-F37B-4B32-93C6-E1BCE0A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55CA6-5EA0-49C5-AA26-43AD669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X 與 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10E60-6CC9-434A-AC34-B5EE4738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自變數提供資訊，目標變數提供答案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0899A-AC1D-404C-8555-C5AE2D7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E5C0B-EA46-45D7-953B-8A1A5CB9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資料切分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BFE00-EA9F-42CC-996D-569CDA68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訓練集建模，測試集評估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5B403-4990-4B2D-A9B1-861D4FBB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81910-54D6-4E64-94CD-B7F5F0A8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時間觀念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77907-2559-45E9-8CFC-2441F30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預測未來時要避免使用未來資料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C5BD6-84DA-4392-9620-7E0B5C16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6B64-442C-41DC-A50D-6108D291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F3E1D-2B59-477A-A89C-BFDFC50C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先驗證模型，再交付未知資料預測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DE0C0-02F1-428D-8E52-0B24441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10481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03E5E-97E9-47FE-AF57-9FE25BEE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B4A77-B58E-4D78-AF86-C95F6C98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25BA3-97EF-453B-9E95-C7BB92D7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89B10-9F49-4D8E-9044-B6875ABC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1ADC3-92D3-4F17-9AEB-F0E0884E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BAE3B-8799-4A45-9842-9880DBD6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0C986-87E7-4FDD-9D95-F9E113C1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目標變數通常記為？（A y　B X）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38096-1A10-444E-AF04-947D92E8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測試集主要用來？（A 建樹　B 評估）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6CC53-2F24-486B-9541-9BFB9409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預測未來時能否使用未來資訊？（A 能　B 不能）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33F7E-E85B-43E3-90B0-A706F34C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75% 與 25% 是否固定答案？（A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8781A-D3FE-44BE-A2A0-FBA7BD9E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模型通過測試後才適合預測新資料嗎？（A 是　B 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81848-4CC7-4C88-AE94-9B26C033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0B40F-0702-4D4C-B97F-7BB58C8B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3-B　4-B　5-A</a:t>
            </a:r>
          </a:p>
        </p:txBody>
      </p:sp>
    </p:spTree>
    <p:extLst>
      <p:ext uri="{BB962C8B-B14F-4D97-AF65-F5344CB8AC3E}">
        <p14:creationId xmlns:p14="http://schemas.microsoft.com/office/powerpoint/2010/main" val="2088767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4913C-4FAC-4AC6-B4EA-BE83FE63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04D86-34CD-43C1-97EE-F54ED843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第二節｜評估並解釋決策樹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E0976-3FB4-43D8-A75F-0D40E81C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0C71F-E29D-41D6-858F-42987EEB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EEA36-BB7A-463C-9F64-7C30BCD8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ECBEA-2130-44FF-AAF6-BB4F568F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評估問題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E3879-362B-457B-A5E5-6176B8DA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模型在未看過的測試資料上表現如何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98F35-F906-46D3-94C2-0EDFDF6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85798-EA9A-463F-A3D2-17DD268D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解釋問題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E08D8-2EF8-418C-9F7C-9EAAE408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哪些特徵與條件形成主要判斷路徑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7F9C3-CDA8-4F85-A22F-3341913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C91E0-4A85-40A5-8E4C-E4D9CF8B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使用原則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94A4A-9A2D-4F69-AF6B-3EA0E45A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分數與解釋要同時檢查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29178-DDEC-4CC0-A561-BEE3D82F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0664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A3C78-0FF3-4AA4-9FBB-45F02377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2BCC7-8AA2-430B-9A52-8F99FA3E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預測與實際答案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0D1F3-8C53-4550-876F-A47256B9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733CF-5391-404F-98F2-104D0C4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F76D8-3106-45F3-A6FC-3656368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BF978-93D8-4A2F-A8D7-5663C044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模型預測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AFA8D-FB18-413D-BC88-2C6A9519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每筆測試資料得到一個類別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F7C15-83AF-416D-8E39-1DD77B2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C8F1F-42E3-44C9-B3E4-4956942C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實際答案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E9BBD-25AB-4A8A-BA60-678F286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測試資料原本保留的正確類別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AB141-796F-4F2E-AF6F-A3E4F5A0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90A0C-4D0F-4F18-AE84-98D005D5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逐筆比較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BC98B-91BA-4DB6-8E65-BF805863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形成正確與錯誤的四種情況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46448-54A8-42B6-9E35-5C7F2243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09296-650E-410A-9688-D4A5F83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彙整工具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95BB5-D14C-4F9E-8D37-997642E7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使用混淆矩陣呈現結果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D952E-43C2-4AB2-B5D2-C125D417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384548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B736F-FDEA-4779-92B5-84C97821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34AE1-AB1B-45CC-A5D1-C6F69BBF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混淆矩陣四格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D1C5A-F7CD-43A2-8DF9-DA35A3C5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8F1E5-EA94-4FAD-B9CF-1F43E410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BD2B0-2AC4-4874-9A3E-FB414CBE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68FD1-ADA3-4398-898F-D8F7739D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真正例 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06A76-480F-4AFE-A597-81C403E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實際為高，預測也為高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B48E6-7CE1-47BA-BFCC-5AC33F35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1DBC6-2BA9-406D-81E6-23EDE35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真反例 TN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47CBE-378F-4E47-A8DD-CD978E48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實際為低，預測也為低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C83C0-B87C-4510-BFBB-294C1F9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CBFBE-2A42-46AE-A6A9-422619C0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偽陽性 FP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A2C21-9C62-4919-A363-9CE94884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實際為低，預測為高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581FB-B78C-4F9C-A21B-44E8D2CD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86236-F23D-4CB3-AD2A-1E0950E9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偽陰性 FN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AFEBB-5583-4531-86B6-82F60FE9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實際為高，預測為低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2A3A6-7258-4A1A-92B2-745C2CFE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4059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8E6C1-2C1C-475A-8F2E-FF4EA08B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A7E01-697E-4BBF-B14D-7562F766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Accuracy 正確率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355C8-865C-4084-9CEA-4E84B95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1304D-315B-4DE0-8DA8-2C9ACCE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B2EEB-A8EE-4214-8C17-D2E87259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6230A-B1EE-4E5D-A104-1F437C5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計算概念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8B788-643C-438F-8CF0-BA2089B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正確預測筆數除以全部測試筆數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3D075-4E04-4592-A073-ED7A6B24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32145-B47D-411A-A0F9-8F3FE69F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優點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96B19-0010-4856-ABFC-2AF6869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容易理解並可快速比較模型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E8136-3A6F-4A90-9942-26FBFD62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EB88F-6499-4416-94DF-E75306CA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E06D1-520D-45F7-B5EC-8DDE0563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類別比例不均時可能過度樂觀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841EE-5E6F-491C-B7D9-BFBAA21F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DE79F-52CA-4507-BB9C-3BC87130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使用方式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0DE9F-4B38-4D67-A866-2C368C00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搭配混淆矩陣與錯誤成本解讀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88A70-34A0-4C5F-A50D-28A4AECD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42484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02D6B-C50F-4368-B16E-6A1DF9DD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2A3F0-F50D-42C2-8177-764F446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Precision 精確率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8AEB8-A4AA-49B7-94A2-F99D4FD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2DE47-8058-4D7D-A951-8DA6134A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7910A-5485-424B-86BC-8EF78221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C94BC-9AE1-4934-8CF5-257F157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關心問題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64543-EA66-49BD-957D-A4149BFD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模型判定為正類時，有多少是真的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A7C92-0D33-453D-87CD-73360BBB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417EA-F3B8-4F2F-9EAC-A7E025D9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適合情境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DA579-FE00-4003-AB0A-0C61767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誤報會造成較高成本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C0828-F887-44E9-9058-CE9A0CAF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EF3A9-5245-4C28-9C97-11DFDCC1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金融例子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CAE4D-50EC-49EA-AC3A-A2CA275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把低風險客戶誤判為高風險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F7079-1FB6-49D4-8AC6-B8A046CC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D76D2-DA76-46E5-82ED-97FAF5C5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8027E-84F7-4DC3-9639-84FDA76C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提升 Precision 可能影響其他指標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9C480-D903-45A3-B088-251DE16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312905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9E1E1-ABA8-4EF4-82AC-1566F8EA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2996F-9793-49A2-93DC-DDDFA62C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Recall 召回率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6D902-2707-48EB-AADC-A3D0DBEF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EE067-1E28-43DC-97DC-0DB691A6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9E717-12B2-4C79-92C6-10271DF1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5B003-079D-44C5-8989-8C901BF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關心問題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BC8BE-5F0B-453C-BDB9-48840C8F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所有實際正類中，模型找出了多少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3D787-3E29-4C41-AF4F-ABBACA6B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A47DF-980B-44E1-80F8-BBCD8A50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適合情境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129D5-5AD4-4731-985A-D513E8D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漏掉正類會造成較高成本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80E09-D75A-4567-9BD0-2CC44D2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6DFC2-B77D-4322-87A5-380BB841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金融例子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28165-A9B5-4571-A2E2-E3B9B138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漏掉真正的異常交易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102C6-39A9-43A9-94C2-C2F53A22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C28BC-EB0F-44A5-A0CF-E3C38EF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取捨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F9BAF-D873-4720-BD7B-027D5E49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提高 Recall 可能增加誤報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3C932-344B-44FB-AF10-CDBF7C2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259846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9DA15-AC47-4109-A5C2-C96451BA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7393E-619A-4961-8093-D244AE0B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類別比例不均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1D0F8-BCEE-4652-A1D9-DBACDA3A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3A723-F718-42F1-A62F-839FA15D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0F879-81B9-4084-B3BF-C07B8527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9CA87-A50A-48B1-A9F7-CAA04E8B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常見狀況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37786-BBAA-422C-AFEF-6CC84A3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異常交易通常只占少數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DF66B-5E8E-46CF-9E49-F41A40B4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BFFF5-2CD1-4470-A76C-FAD4C2AE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表面高分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FC954-745D-4F82-878E-9E353D5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全部預測正常也可能有高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31C9C-369A-4605-9124-3134ABC9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B35D7-54D5-4832-B2B9-035D1246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實際問題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D35FA-F53B-474B-A174-74C5956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模型完全沒有找到重要少數類別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921E0-231E-408C-B6AB-E9AD857B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71315-3EB8-4EB1-9223-7C7645C6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處理原則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80184-20FE-4DAF-80D9-2FB55DD5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看混淆矩陣、Precision 與 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05A77-AF0E-41DB-8B8B-2C1669D4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036057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0557F-B820-4368-9663-38C9481B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E0BFB-8C6E-41A8-A165-C8B67FA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讀懂一個樹節點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A2A53-B4AE-45CB-8085-E7AA789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1AB49-B698-474B-80BC-5E1CF800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9CFD5-3C9F-4EFD-BC00-0D2BDE0A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9D20B-B091-4272-A045-A85ABB20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分割條件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76D9A-53BF-4732-BA0F-5CD5DBF8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某個特徵是否小於或等於門檻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18E35-3E73-4433-ACE6-A5FEAEF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7F375-9932-4AC6-AA72-BF00E01F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samples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D7110-445A-499D-9160-9AE3B6DC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到達該節點的樣本數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64A7D-0680-413B-AD77-143EEB8A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83ED5-54FC-47E1-8D38-8080BBFB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95FDD-9085-48C1-B19C-7A54117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各類別在節點中的數量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865FF-E60D-4BC3-8A38-6FF5030E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7438E-EC91-41F8-B466-EEA556EA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BC992-9A5B-4901-9D7E-24AFCFD3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該節點目前預測的主要類別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B51A9-8DD0-49C7-873F-689633FB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31005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F8377-9EB9-4C08-BD8D-BA48D2C8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6A80E-1315-4EE1-A25B-A6FA2FA5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解釋一條預測路徑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AB96B-AD63-4C5C-A199-683BEE02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02E4-46B0-4CFF-8A26-C0E1ED8B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06FF3-100E-4F13-B69D-9CF94378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1F68B-C4D9-4CB3-9D57-632B05D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起點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800C4-BF0A-46AA-8314-95F49A2B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從樹根檢查第一個條件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F5895-B361-467C-835A-44A4555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C2F8A-2D09-48BC-86D8-E1C9EDBD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每一層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34318-397D-4C25-8670-D488938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依新資料的特徵值選擇分枝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1D707-75B4-434E-85AD-237F6FF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BE6D5-38B4-48F1-A9B3-8CE4A628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終點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E64D0-D825-4502-B40E-1090CB63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到葉節點取得預測類別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94B77-7C5E-4967-B127-F90ADC5A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ADD69-18D0-4AF1-AF69-41E1F4E3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白話說明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3F771-18D7-42DD-A758-05C4B9CA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把沿途條件整理成一組如果與那麼規則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91542-0B20-42D1-A871-741CB76B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22939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DF4CF-2337-4CF0-876D-CA90F616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F7B08-0E9E-4907-A56C-43F9648B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0F358-FAB1-468E-A006-A56A240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6CA56-FB39-45AF-B2AE-9A48B861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1F50A-43C4-4ABD-ADEE-2AD36657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CC211-B07D-4D49-841A-840315B6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模型評估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C3055-498E-4EE6-BCA8-9523B9E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以測試資料比較預測與實際答案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3A54E-B620-4C20-8A49-E64FC09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92383-F6B2-4CE3-9408-0776F504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主要工具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0D1ED-32DD-47A4-A534-077EA77D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混淆矩陣與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F6C85-8D4D-4885-871C-4A87D0A0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33E0B-5BCC-4A99-9932-D39AAC45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錯誤取捨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19366-7A46-4214-99C8-1BA3D3F0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依情境同時看 Precision 與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ACB3F-890D-42C2-BD32-8F8F64A2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6CA10-02B5-4224-ACD6-7EDA400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模型解釋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94740-F78D-4FE4-B2D9-CCF3D5E6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沿著節點條件說明個案路徑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530ED-EF90-40A0-9DCC-2979474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376973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C392F-8F27-4448-820A-960324E8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45E9A-E324-402B-9992-E97956B2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AF974-F37A-43BA-8DA5-6745B64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8B661-8855-4570-8A28-6ECF575C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5F6A3-D433-40DA-9C4D-0F773AAA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58457-52DD-489E-ADCF-A8B22C38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0846F-D1EB-43BF-9468-12FFE53A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混淆矩陣比較什麼？（A 預測與實際　B 金額與日期）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8A626-788B-405A-A466-8F0F29A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Accuracy 是否永遠足夠？（A 是　B 否）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18200-E3DC-434A-B802-AC6601A9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Precision 關心預測為正時有多少是真的嗎？（A 是　B 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30B2B-C59D-4775-A94F-DEFDE2F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Recall 關心實際正類找出多少嗎？（A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7C4FA-9C93-494A-9F06-AAAC6EA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預測路徑從哪裡開始？（A 樹根　B 葉子）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93D62-6C79-417D-A3E5-3621BD42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6E505-0BE6-42C1-A6DE-A3A24C09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5723787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628BD-FE45-46A6-BBEE-E6B77910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AF048-292D-4A59-918B-6F7B9E5C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第三節｜未知資料預測與使用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CD289-D7E2-4D1C-98EE-9419F349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1024D-799A-48FD-9108-EAF2B87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A61C3-112E-48D6-A9B1-0003F5DE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B786B-2C60-451C-9142-AA8EA184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預測前提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860CB-358D-43AB-A971-C9E59A7F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新資料欄位必須與訓練資料一致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5A342-1C9D-4508-9343-E373A0A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8CA30-468D-4463-AE16-C130717C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輸出內容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EE018-0F7D-4CC6-B626-553BC74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預測類別、機率或信心及判斷路徑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5A8C3-9E45-4881-9C4C-F463CDFE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4F59B-4B5F-4134-BC28-500D3F7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實務界線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A02EE-6AE5-49DD-AB51-EAC91315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預測支援決策，不直接取代決策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3892E-576B-4DE2-9085-BA7A18C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05255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EB2BF-4E10-4DEE-AFB8-2864779F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6F85F-55E0-49B6-B775-46BC99B6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新資料的格式一致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C128A-DFF6-4BE6-A195-A292B984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16583-6001-4932-A80D-FC558461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2639-CFD3-45A0-8EE7-D1EEE08B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2FBF7-69DE-4D10-B006-D2190E74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欄位名稱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AFA54-AD3E-45EA-8EF8-6B40E544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必須與訓練時使用的特徵相同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7B4EF-82E3-4C9E-A2FB-EEE57BC2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8265B-70C7-4AC5-B7D7-8FE4574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資料型態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D28B4-7495-4BB5-A9CD-83A7329C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數值與類別格式不能任意改變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9BBD8-50B3-4432-8C78-2C504825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1D5AA-9BD7-483F-A2C6-5559007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前處理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95F4F-9A35-4BC5-955C-C35D8C7E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缺失值與類別編碼要採相同規則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F9641-E0A6-459D-9748-497545FA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8B88B-ABC2-4CC0-9B5A-99A06680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常見錯誤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1C01E-F2F4-4D46-A3B2-CB89AB2E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訓練與預測使用不同單位或期間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2F69F-506F-4DF4-A202-1C03DA1C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37019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CDA12-AE02-4590-A83F-7C471C76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A2033-BCD8-4403-A194-5CE9DA63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未知客戶預測範例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DDDE1-9DDC-48FF-BBCA-E840A20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66648-213D-4680-8BB6-1A69FED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0D62B-4444-4F52-83BA-82EC7AA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8E9BB-9AF5-4269-954E-10F40B44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輸入資料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721D7-2565-4407-ACF9-BE54151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新客戶的 R、F、M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99734-4613-4140-973E-219F727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A5160-CC64-42E1-8947-1DC2A1BE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模型運作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F6591-A468-410A-8125-17586CBD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依節點條件選擇分枝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825D4-85FF-4E40-8B2A-55F19732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52C53-7E5B-4E57-81F2-23B6D2D7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輸出類別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C1E22-B1B1-4F96-8BD1-68D76E7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預測為高價值或低價值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BEA31-C482-4AA9-B509-0B5447A8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5DDE8-0AE8-4B29-8163-33CF509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後續工作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26367-7AA6-42BD-AAD9-0E6CDFDD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等實際結果出現後再核對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1949D-87DD-4498-BF15-D178F9D0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33654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AEEAF-5488-4E40-AD86-59306147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0947B-0222-4FD4-A4C5-AFB1872E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預測機率的解讀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A9865-EB78-455F-BE98-4757443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27E57-5D04-465D-97ED-1A91F17C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93881-9E45-41D6-BFB3-3FEA8E7F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3ED2E-DBB1-4E27-A9DF-E73A5720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機率用途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4CD7F-AACB-4148-9A50-8A20BBD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表達模型對各類別的相對信心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526B9-92FD-4762-9EED-9243708E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9643B-9124-401D-B18B-4686A193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門檻設定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A6172-1D35-47C3-97ED-463104C6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可依業務風險調整分類門檻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5FE46-FB90-4BC9-AC68-B1547A03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84D2C-85EC-4E4F-AD2F-31E8F066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不能誤解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7B140-6533-452E-BFD9-7839A3B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80% 不代表個案一定會發生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1F162-FBA9-4216-81ED-B3A010D1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E35C5-CAD1-499E-ACB7-4DEDE20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校準需求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039E5-697E-4E04-A3AE-734B3A52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預測機率要與實際發生率比較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3EF85-1954-41E8-A9D3-2BFEC92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330853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07B54-B446-46D6-B510-0FC272A5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15695-700F-496C-9705-367063B7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批次預測與即時預測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3E290-955F-40F6-BB6E-5674D31D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EBAE4-2E33-4BED-AF70-8B93BC9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F46B6-DDFC-492B-B8BE-E46362F8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1C4AC-0A0D-46AE-B962-0F50DF7F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批次預測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D2B1-CDB4-460A-B762-4DD7067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定期對一批客戶或案件評分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0F6FA-FBCF-4C6E-A1FF-ADA9729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189C5-502F-43AD-BCC7-BC9CF12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即時預測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14A12-0B54-4045-8274-34AD4ADA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事件發生時立即輸入模型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A84B2-C552-4AE4-B08F-B9EAEE5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71F43-737D-4798-8014-7B3F4D9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選擇依據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60D6D-A620-4300-8B87-4B0B227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決策時效、系統成本與資料可用性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A175F-9B9A-4DDE-B22D-79FFC01D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B0556-952F-428F-B9D2-F1E8F9AE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共同要求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8501A-B7B9-4CFA-AA9A-7C82FB68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輸入資料與模型版本都要可追蹤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A0B8C-4BF6-48CD-B7B3-BD019B97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64225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9358E-2937-4D0A-9C60-C8DE3A75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FBADC-547F-408D-9987-686464D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預測後的行動設計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64433-099E-45BD-A529-D868836E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C508E-F5E1-486B-A9A8-6171A7A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5CE9E-5456-48A9-AC4A-B9188CC1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99BFC-AA65-417B-86B1-5964182F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低風險行動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69474-4AB2-4611-B771-2949284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提供服務提醒或人工關懷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0EA9C-E40E-4337-BBC5-70670A9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EDC15-1BA5-4947-BE43-6ED5F42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高影響行動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88C01-A904-4443-818E-4E9D22B4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須增加人工覆核與申訴管道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74E3C-F4EC-4E9E-A9B0-E473499B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6A731-724A-4151-AF27-95FD2D6F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避免自動化偏誤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A6392-5E98-46CE-8C6D-E4C32241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人員不能只因模型輸出停止思考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BC56E-807C-4B98-9EC5-D81D42EF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F6434-CCBC-4C59-9B2B-A4D1199B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記錄結果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4122B-ACE5-4E45-87FF-750745BF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保存最後決策及其理由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C2792-67D0-40CA-BAAB-68A819AC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278622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41297-0D5E-406A-A228-727BBFC1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68CD7-ADB8-4E3D-B2ED-6716AA13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模型漂移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26BA4-6EB4-432D-B3DC-2BBADC87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BBEF3-2C16-44D4-B167-EA797794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E202E-8159-46F8-BDAE-4AFD00A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1AD93-E47E-4358-B3FF-F660C0F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1A1ED-4D63-4EAC-BC67-FF4C09E4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新資料與訓練時的資料逐漸不同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615C1-A9A6-4A52-98C7-B9111B82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60341-6C3E-4D94-8CB1-7E367502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416C2-34B9-4606-908F-F3C916D6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產品、客群、市場或詐欺手法改變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CA3E5-2E46-474F-B4A0-93CB881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1CA41-18A1-4A32-B595-CDA27652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觀察訊號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EC224-CD1F-44B9-8F5E-878B9813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錯誤率上升或特徵分布改變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51320-A053-404A-9DC4-DBEE246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546F1-3DD2-4899-ABAD-EA7A7A6E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處理方式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F853C-5BE0-4285-9EEF-4514F292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重新檢驗、更新資料並評估新模型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F435B-C1C3-4551-8F04-6669FA05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718444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E864A-640E-4B7F-81B6-E3525AD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DE4E7-DDC5-4CA4-958B-626C879B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客戶價值模型的限制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F347-DE60-448C-B2D6-FD22305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3320D-51E8-4118-80D6-32E70132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2B7B9-A9C6-4D2D-BD28-53AA2C64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01DC2-EA7C-461E-A347-4DCF6AB5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價值定義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6D464-1488-4199-8466-5D89AA16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高交易金額不代表完整的客戶關係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1EE4E-4487-4819-8414-D7A2D58F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BE0EB-2754-4E4E-BF40-C1EF474D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時間範圍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072B6-A5A9-48DF-93C4-C28306B7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不同觀察期間可能得到不同類別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AD506-1176-4464-9098-5C7A887F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843DD-2F26-492F-9B4F-CCDDD9EF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行動風險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8B736-E656-418C-9659-98F8F9A8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不可因此忽略暫時低交易的客戶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90963-0531-4E5D-A59F-2CAAC9B9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EB1EA-28F5-4B5C-8007-2354503A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7C8AF-8E11-4B8F-AEDD-A5916550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模型結果要與服務政策共同檢查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87158-314C-429F-9877-DCBA931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101485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8C155-3366-4AF1-87F7-3123856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9BD23-514C-4749-A26A-D5D934C4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給決策者的結果摘要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7AD3E-FA19-4BA5-8AF2-DF7B7F1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CC3B6-0DEC-4410-AA45-5745124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CD8D6-CF50-4C82-8D00-A334E6C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3C0CC-3D1E-4175-B5C8-91DE9E65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FC5E3-3BDA-4E81-8300-9CD0141B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說明要預測的類別與使用情境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0CF7E-BCAA-4A91-9AC5-6B781984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433BE-ED21-44DE-9498-9679388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測試表現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80DB5-CAB2-4977-B6AD-F3FFFF1D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呈現混淆矩陣與重要錯誤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5FA90-F640-4ECD-8463-6F5C54FD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9F81A-E3B1-4D67-8BF8-F5F989B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主要路徑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18881-243A-4D75-B97A-8F9E3101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用白話整理關鍵分割條件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9F732-A856-4ADD-8831-74D5CECF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EB444-6947-42B4-8CF7-5E88B0BB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限制與監測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EDB0C-EE26-44B2-9075-21A20775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說明適用範圍、更新時點與覆核方式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74115-14C1-4508-827C-02E9B9FD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852107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1F4D9-5DD8-48CB-8FAD-6724337D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96C6-87BA-4A2D-B233-9DD8DFDD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13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12EF1-D5BF-4C48-98A3-625FE9C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CF16D-3286-4316-9040-937B7CF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0134-0863-4F1A-A0A8-15BACD2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22276-BFE3-4AA8-9F67-F1E79FF6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99F02-F959-43B3-9662-B493E664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切分訓練與測試資料，避免資料洩漏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F48F1-20C8-4B5A-9260-34380C2B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F8EC1-CD77-442F-849C-6E5E2C3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結果評估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4CDB4-9872-4433-8F01-E83ECE21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依錯誤成本閱讀多項指標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E7D75-21BE-4691-9D5E-2A909BAF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78139-B8ED-4BBF-81F3-7B0D86C0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未知預測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37AF4-BB8E-48B8-BF72-00BD484F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保持欄位與前處理規則一致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34784-E35C-41E5-9970-DC7FA581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9E907-DF76-4608-A6E2-190F3353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實務管理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45166-8518-48F9-9C4F-5A8DBB82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監測模型漂移並保留人工責任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F5A71-A556-4BAC-821D-4DF432C2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52193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ECF98-CA26-4791-BE13-7C433BA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DC155-AFB1-41A3-B744-DBF511AB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5E551-4110-4E39-9A28-60EB68C8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FFB4C-97C3-4733-AD11-51242321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B8FDE-A6C9-49E8-A83A-5C4D15AD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59BCF-FDDB-4E5F-B68D-4E8E615E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E1F66-15DE-4C42-A385-90432394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新資料欄位是否要與訓練資料一致？（A 要　B 不用）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4A7CD-A908-4947-A33F-293F64DA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80% 機率是否保證個案發生？（A 是　B 否）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7AB0B-49D7-479A-A034-99187BC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高影響決策是否要人工覆核？（A 要　B 不用）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EF3AC-E559-4B43-AD03-DA5323C3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模型漂移代表資料可能改變嗎？（A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416FA-AD49-4FC1-90D3-B300BBF1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預測完成後是否仍要監測？（A 要　B 不用）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9EC8D-48B6-45A0-9516-B65D6CA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63BD8-EB69-46A3-A429-22EF2E14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1935338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2026-09-04T08:14:44.3770000Z</dcterms:created>
  <dcterms:modified xsi:type="dcterms:W3CDTF">2026-09-04T08:14:44.3770000Z</dcterms:modified>
</coreProperties>
</file>