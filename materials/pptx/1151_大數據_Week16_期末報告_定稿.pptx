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a28770d29a4d00" /><Relationship Type="http://schemas.openxmlformats.org/officeDocument/2006/relationships/extended-properties" Target="/docProps/app.xml" Id="R07472fbc7eed4758" /><Relationship Type="http://schemas.openxmlformats.org/officeDocument/2006/relationships/officeDocument" Target="/ppt/presentation.xml" Id="R877378af29c54b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7c08baef8d496b"/>
  </p:sldMasterIdLst>
  <p:notesMasterIdLst>
    <p:notesMasterId xmlns:r="http://schemas.openxmlformats.org/officeDocument/2006/relationships" r:id="R82d7334cbbdf4ab4"/>
  </p:notesMasterIdLst>
  <p:sldIdLst>
    <p:sldId xmlns:r="http://schemas.openxmlformats.org/officeDocument/2006/relationships" id="256" r:id="R39ba0aea73954b76"/>
    <p:sldId xmlns:r="http://schemas.openxmlformats.org/officeDocument/2006/relationships" id="257" r:id="R15441ef4160a40a2"/>
    <p:sldId xmlns:r="http://schemas.openxmlformats.org/officeDocument/2006/relationships" id="258" r:id="R7988f8041832492d"/>
    <p:sldId xmlns:r="http://schemas.openxmlformats.org/officeDocument/2006/relationships" id="259" r:id="R3f3ba7cda5aa4c31"/>
    <p:sldId xmlns:r="http://schemas.openxmlformats.org/officeDocument/2006/relationships" id="260" r:id="R8c73dfd033c04267"/>
    <p:sldId xmlns:r="http://schemas.openxmlformats.org/officeDocument/2006/relationships" id="261" r:id="Rcce707cc8ce548b3"/>
    <p:sldId xmlns:r="http://schemas.openxmlformats.org/officeDocument/2006/relationships" id="262" r:id="Rf5135cdd5f4c4ef5"/>
    <p:sldId xmlns:r="http://schemas.openxmlformats.org/officeDocument/2006/relationships" id="263" r:id="R67fd2b747b2c4dcd"/>
    <p:sldId xmlns:r="http://schemas.openxmlformats.org/officeDocument/2006/relationships" id="264" r:id="R5e33afcb736e4c17"/>
    <p:sldId xmlns:r="http://schemas.openxmlformats.org/officeDocument/2006/relationships" id="265" r:id="R7455bbe4147f4e10"/>
    <p:sldId xmlns:r="http://schemas.openxmlformats.org/officeDocument/2006/relationships" id="266" r:id="R2b7dfb7bc4c44a58"/>
    <p:sldId xmlns:r="http://schemas.openxmlformats.org/officeDocument/2006/relationships" id="267" r:id="R716ef5c7cf5e4162"/>
    <p:sldId xmlns:r="http://schemas.openxmlformats.org/officeDocument/2006/relationships" id="268" r:id="R35e7f5fe503a44a4"/>
    <p:sldId xmlns:r="http://schemas.openxmlformats.org/officeDocument/2006/relationships" id="269" r:id="R9fb060c905b1444c"/>
    <p:sldId xmlns:r="http://schemas.openxmlformats.org/officeDocument/2006/relationships" id="270" r:id="R673e7852b5c7482b"/>
    <p:sldId xmlns:r="http://schemas.openxmlformats.org/officeDocument/2006/relationships" id="271" r:id="R44164363d1a949d3"/>
    <p:sldId xmlns:r="http://schemas.openxmlformats.org/officeDocument/2006/relationships" id="272" r:id="R27203101ed254ed8"/>
    <p:sldId xmlns:r="http://schemas.openxmlformats.org/officeDocument/2006/relationships" id="273" r:id="R41635d53a4a0473d"/>
    <p:sldId xmlns:r="http://schemas.openxmlformats.org/officeDocument/2006/relationships" id="274" r:id="Rce8736f919774c88"/>
    <p:sldId xmlns:r="http://schemas.openxmlformats.org/officeDocument/2006/relationships" id="275" r:id="R7ad12b30d9c14701"/>
    <p:sldId xmlns:r="http://schemas.openxmlformats.org/officeDocument/2006/relationships" id="276" r:id="R1a864fee2cdd40af"/>
    <p:sldId xmlns:r="http://schemas.openxmlformats.org/officeDocument/2006/relationships" id="277" r:id="R52acc09182874980"/>
    <p:sldId xmlns:r="http://schemas.openxmlformats.org/officeDocument/2006/relationships" id="278" r:id="Rf6e39e3d758146ad"/>
    <p:sldId xmlns:r="http://schemas.openxmlformats.org/officeDocument/2006/relationships" id="279" r:id="Rb82647e0091345d8"/>
    <p:sldId xmlns:r="http://schemas.openxmlformats.org/officeDocument/2006/relationships" id="280" r:id="R750dbe6389c64c52"/>
    <p:sldId xmlns:r="http://schemas.openxmlformats.org/officeDocument/2006/relationships" id="281" r:id="R6428b6d2928446ac"/>
    <p:sldId xmlns:r="http://schemas.openxmlformats.org/officeDocument/2006/relationships" id="282" r:id="R253011657878402e"/>
    <p:sldId xmlns:r="http://schemas.openxmlformats.org/officeDocument/2006/relationships" id="283" r:id="R101004c7fcbb460c"/>
    <p:sldId xmlns:r="http://schemas.openxmlformats.org/officeDocument/2006/relationships" id="284" r:id="Rdae446abca1d4ab2"/>
    <p:sldId xmlns:r="http://schemas.openxmlformats.org/officeDocument/2006/relationships" id="285" r:id="R1d4de1a044ed4d65"/>
    <p:sldId xmlns:r="http://schemas.openxmlformats.org/officeDocument/2006/relationships" id="286" r:id="R919c1b94463b43d1"/>
    <p:sldId xmlns:r="http://schemas.openxmlformats.org/officeDocument/2006/relationships" id="287" r:id="R921e843579d34605"/>
    <p:sldId xmlns:r="http://schemas.openxmlformats.org/officeDocument/2006/relationships" id="288" r:id="Ra7aee1638cf941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164ea2d3a34048" /><Relationship Type="http://schemas.openxmlformats.org/officeDocument/2006/relationships/slideMaster" Target="/ppt/slideMasters/slideMaster1.xml" Id="R037c08baef8d496b" /><Relationship Type="http://schemas.openxmlformats.org/officeDocument/2006/relationships/notesMaster" Target="/ppt/notesMasters/notesMaster1.xml" Id="R82d7334cbbdf4ab4" /><Relationship Type="http://schemas.openxmlformats.org/officeDocument/2006/relationships/presProps" Target="/ppt/presProps.xml" Id="R55369b524f0d4e42" /><Relationship Type="http://schemas.openxmlformats.org/officeDocument/2006/relationships/tableStyles" Target="/ppt/tableStyles.xml" Id="Re4dd6896fb8545a0" /><Relationship Type="http://schemas.openxmlformats.org/officeDocument/2006/relationships/slide" Target="/ppt/slides/slide1.xml" Id="R39ba0aea73954b76" /><Relationship Type="http://schemas.openxmlformats.org/officeDocument/2006/relationships/slide" Target="/ppt/slides/slide2.xml" Id="R15441ef4160a40a2" /><Relationship Type="http://schemas.openxmlformats.org/officeDocument/2006/relationships/slide" Target="/ppt/slides/slide3.xml" Id="R7988f8041832492d" /><Relationship Type="http://schemas.openxmlformats.org/officeDocument/2006/relationships/slide" Target="/ppt/slides/slide4.xml" Id="R3f3ba7cda5aa4c31" /><Relationship Type="http://schemas.openxmlformats.org/officeDocument/2006/relationships/slide" Target="/ppt/slides/slide5.xml" Id="R8c73dfd033c04267" /><Relationship Type="http://schemas.openxmlformats.org/officeDocument/2006/relationships/slide" Target="/ppt/slides/slide6.xml" Id="Rcce707cc8ce548b3" /><Relationship Type="http://schemas.openxmlformats.org/officeDocument/2006/relationships/slide" Target="/ppt/slides/slide7.xml" Id="Rf5135cdd5f4c4ef5" /><Relationship Type="http://schemas.openxmlformats.org/officeDocument/2006/relationships/slide" Target="/ppt/slides/slide8.xml" Id="R67fd2b747b2c4dcd" /><Relationship Type="http://schemas.openxmlformats.org/officeDocument/2006/relationships/slide" Target="/ppt/slides/slide9.xml" Id="R5e33afcb736e4c17" /><Relationship Type="http://schemas.openxmlformats.org/officeDocument/2006/relationships/slide" Target="/ppt/slides/slide10.xml" Id="R7455bbe4147f4e10" /><Relationship Type="http://schemas.openxmlformats.org/officeDocument/2006/relationships/slide" Target="/ppt/slides/slide11.xml" Id="R2b7dfb7bc4c44a58" /><Relationship Type="http://schemas.openxmlformats.org/officeDocument/2006/relationships/slide" Target="/ppt/slides/slide12.xml" Id="R716ef5c7cf5e4162" /><Relationship Type="http://schemas.openxmlformats.org/officeDocument/2006/relationships/slide" Target="/ppt/slides/slide13.xml" Id="R35e7f5fe503a44a4" /><Relationship Type="http://schemas.openxmlformats.org/officeDocument/2006/relationships/slide" Target="/ppt/slides/slide14.xml" Id="R9fb060c905b1444c" /><Relationship Type="http://schemas.openxmlformats.org/officeDocument/2006/relationships/slide" Target="/ppt/slides/slide15.xml" Id="R673e7852b5c7482b" /><Relationship Type="http://schemas.openxmlformats.org/officeDocument/2006/relationships/slide" Target="/ppt/slides/slide16.xml" Id="R44164363d1a949d3" /><Relationship Type="http://schemas.openxmlformats.org/officeDocument/2006/relationships/slide" Target="/ppt/slides/slide17.xml" Id="R27203101ed254ed8" /><Relationship Type="http://schemas.openxmlformats.org/officeDocument/2006/relationships/slide" Target="/ppt/slides/slide18.xml" Id="R41635d53a4a0473d" /><Relationship Type="http://schemas.openxmlformats.org/officeDocument/2006/relationships/slide" Target="/ppt/slides/slide19.xml" Id="Rce8736f919774c88" /><Relationship Type="http://schemas.openxmlformats.org/officeDocument/2006/relationships/slide" Target="/ppt/slides/slide20.xml" Id="R7ad12b30d9c14701" /><Relationship Type="http://schemas.openxmlformats.org/officeDocument/2006/relationships/slide" Target="/ppt/slides/slide21.xml" Id="R1a864fee2cdd40af" /><Relationship Type="http://schemas.openxmlformats.org/officeDocument/2006/relationships/slide" Target="/ppt/slides/slide22.xml" Id="R52acc09182874980" /><Relationship Type="http://schemas.openxmlformats.org/officeDocument/2006/relationships/slide" Target="/ppt/slides/slide23.xml" Id="Rf6e39e3d758146ad" /><Relationship Type="http://schemas.openxmlformats.org/officeDocument/2006/relationships/slide" Target="/ppt/slides/slide24.xml" Id="Rb82647e0091345d8" /><Relationship Type="http://schemas.openxmlformats.org/officeDocument/2006/relationships/slide" Target="/ppt/slides/slide25.xml" Id="R750dbe6389c64c52" /><Relationship Type="http://schemas.openxmlformats.org/officeDocument/2006/relationships/slide" Target="/ppt/slides/slide26.xml" Id="R6428b6d2928446ac" /><Relationship Type="http://schemas.openxmlformats.org/officeDocument/2006/relationships/slide" Target="/ppt/slides/slide27.xml" Id="R253011657878402e" /><Relationship Type="http://schemas.openxmlformats.org/officeDocument/2006/relationships/slide" Target="/ppt/slides/slide28.xml" Id="R101004c7fcbb460c" /><Relationship Type="http://schemas.openxmlformats.org/officeDocument/2006/relationships/slide" Target="/ppt/slides/slide29.xml" Id="Rdae446abca1d4ab2" /><Relationship Type="http://schemas.openxmlformats.org/officeDocument/2006/relationships/slide" Target="/ppt/slides/slide30.xml" Id="R1d4de1a044ed4d65" /><Relationship Type="http://schemas.openxmlformats.org/officeDocument/2006/relationships/slide" Target="/ppt/slides/slide31.xml" Id="R919c1b94463b43d1" /><Relationship Type="http://schemas.openxmlformats.org/officeDocument/2006/relationships/slide" Target="/ppt/slides/slide32.xml" Id="R921e843579d34605" /><Relationship Type="http://schemas.openxmlformats.org/officeDocument/2006/relationships/slide" Target="/ppt/slides/slide33.xml" Id="Ra7aee1638cf941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e4877b8e0b43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3b9535942049db" /><Relationship Type="http://schemas.openxmlformats.org/officeDocument/2006/relationships/notesMaster" Target="/ppt/notesMasters/notesMaster1.xml" Id="R5f33cb7ded2944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a20c03326439f" /><Relationship Type="http://schemas.openxmlformats.org/officeDocument/2006/relationships/notesMaster" Target="/ppt/notesMasters/notesMaster1.xml" Id="R15289bd75fd743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714d7a583f40e8" /><Relationship Type="http://schemas.openxmlformats.org/officeDocument/2006/relationships/notesMaster" Target="/ppt/notesMasters/notesMaster1.xml" Id="R62993de29b934c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c47876cd6347be" /><Relationship Type="http://schemas.openxmlformats.org/officeDocument/2006/relationships/notesMaster" Target="/ppt/notesMasters/notesMaster1.xml" Id="R285e84dcba3349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c7d5d319064d5c" /><Relationship Type="http://schemas.openxmlformats.org/officeDocument/2006/relationships/notesMaster" Target="/ppt/notesMasters/notesMaster1.xml" Id="R8051528a86e148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1bb7cffc66421a" /><Relationship Type="http://schemas.openxmlformats.org/officeDocument/2006/relationships/notesMaster" Target="/ppt/notesMasters/notesMaster1.xml" Id="Rdba5be43dc7646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c66e09fad543ab" /><Relationship Type="http://schemas.openxmlformats.org/officeDocument/2006/relationships/notesMaster" Target="/ppt/notesMasters/notesMaster1.xml" Id="Rf79fcc6753144d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2371879c8e4e88" /><Relationship Type="http://schemas.openxmlformats.org/officeDocument/2006/relationships/notesMaster" Target="/ppt/notesMasters/notesMaster1.xml" Id="Ra9386a19bb1645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4cde35a5c342b6" /><Relationship Type="http://schemas.openxmlformats.org/officeDocument/2006/relationships/notesMaster" Target="/ppt/notesMasters/notesMaster1.xml" Id="R19fcda40ea3d46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af459498a5143c1" /><Relationship Type="http://schemas.openxmlformats.org/officeDocument/2006/relationships/notesMaster" Target="/ppt/notesMasters/notesMaster1.xml" Id="Rbb3a62d24b7c42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6f97b82024dae" /><Relationship Type="http://schemas.openxmlformats.org/officeDocument/2006/relationships/notesMaster" Target="/ppt/notesMasters/notesMaster1.xml" Id="R22529cc401e748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8afd0c0f3a4f5f" /><Relationship Type="http://schemas.openxmlformats.org/officeDocument/2006/relationships/notesMaster" Target="/ppt/notesMasters/notesMaster1.xml" Id="Rc693fba3acc14ee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42924ed2a64e22" /><Relationship Type="http://schemas.openxmlformats.org/officeDocument/2006/relationships/notesMaster" Target="/ppt/notesMasters/notesMaster1.xml" Id="Rebf6f2e44b074f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1bc645b6cab4038" /><Relationship Type="http://schemas.openxmlformats.org/officeDocument/2006/relationships/notesMaster" Target="/ppt/notesMasters/notesMaster1.xml" Id="Rc7281b8fdab643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5c9b9cda964f8d" /><Relationship Type="http://schemas.openxmlformats.org/officeDocument/2006/relationships/notesMaster" Target="/ppt/notesMasters/notesMaster1.xml" Id="Reea8914dc51e4f7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f45419788604714" /><Relationship Type="http://schemas.openxmlformats.org/officeDocument/2006/relationships/notesMaster" Target="/ppt/notesMasters/notesMaster1.xml" Id="R73b9370bf4c64b4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375a0e1f2824341" /><Relationship Type="http://schemas.openxmlformats.org/officeDocument/2006/relationships/notesMaster" Target="/ppt/notesMasters/notesMaster1.xml" Id="R38c7ab4d35cb44b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bd7850097147b6" /><Relationship Type="http://schemas.openxmlformats.org/officeDocument/2006/relationships/notesMaster" Target="/ppt/notesMasters/notesMaster1.xml" Id="R12dcedaff48643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f8eca089bf4581" /><Relationship Type="http://schemas.openxmlformats.org/officeDocument/2006/relationships/notesMaster" Target="/ppt/notesMasters/notesMaster1.xml" Id="Rd6aa1cc7bc4741d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46c97f730a437b" /><Relationship Type="http://schemas.openxmlformats.org/officeDocument/2006/relationships/notesMaster" Target="/ppt/notesMasters/notesMaster1.xml" Id="Re245739ed12c4fd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10737449f9040a2" /><Relationship Type="http://schemas.openxmlformats.org/officeDocument/2006/relationships/notesMaster" Target="/ppt/notesMasters/notesMaster1.xml" Id="Rfddd420629b24b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7b94800a3894969" /><Relationship Type="http://schemas.openxmlformats.org/officeDocument/2006/relationships/notesMaster" Target="/ppt/notesMasters/notesMaster1.xml" Id="R15ced660093c496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622f636b844293" /><Relationship Type="http://schemas.openxmlformats.org/officeDocument/2006/relationships/notesMaster" Target="/ppt/notesMasters/notesMaster1.xml" Id="Rdd1eaf6572ae4a1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32f222708aa444c" /><Relationship Type="http://schemas.openxmlformats.org/officeDocument/2006/relationships/notesMaster" Target="/ppt/notesMasters/notesMaster1.xml" Id="R7501d251746c4ac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ae5c08bdc04547" /><Relationship Type="http://schemas.openxmlformats.org/officeDocument/2006/relationships/notesMaster" Target="/ppt/notesMasters/notesMaster1.xml" Id="Ree8cc53c8e8d40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43b270249364bd4" /><Relationship Type="http://schemas.openxmlformats.org/officeDocument/2006/relationships/notesMaster" Target="/ppt/notesMasters/notesMaster1.xml" Id="R1949dd323f084a5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6cb9e451fa04c92" /><Relationship Type="http://schemas.openxmlformats.org/officeDocument/2006/relationships/notesMaster" Target="/ppt/notesMasters/notesMaster1.xml" Id="R61d48fdeee5845b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237e6dbd2a4853" /><Relationship Type="http://schemas.openxmlformats.org/officeDocument/2006/relationships/notesMaster" Target="/ppt/notesMasters/notesMaster1.xml" Id="Ra33f17dcc580420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73d0587b91845d1" /><Relationship Type="http://schemas.openxmlformats.org/officeDocument/2006/relationships/notesMaster" Target="/ppt/notesMasters/notesMaster1.xml" Id="R751c77f8f07b427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4035aa763614472" /><Relationship Type="http://schemas.openxmlformats.org/officeDocument/2006/relationships/notesMaster" Target="/ppt/notesMasters/notesMaster1.xml" Id="R7c20ea9f0e494f6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1123117ad63449d" /><Relationship Type="http://schemas.openxmlformats.org/officeDocument/2006/relationships/notesMaster" Target="/ppt/notesMasters/notesMaster1.xml" Id="Rfc6aa98b7539478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31fdce4382a446c" /><Relationship Type="http://schemas.openxmlformats.org/officeDocument/2006/relationships/notesMaster" Target="/ppt/notesMasters/notesMaster1.xml" Id="R1b756ca3121b4c5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3c0b3da6b8a414c" /><Relationship Type="http://schemas.openxmlformats.org/officeDocument/2006/relationships/notesMaster" Target="/ppt/notesMasters/notesMaster1.xml" Id="R63cc0add443647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教學提示：帶領各組完成報告前最後檢核與彩排。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教學提示：依班級組數調整發表與問答時間。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教學提示：用回饋表統整修正事項並連結全學期學習。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來源：本學期課綱 Week 16「期末報告」；依課程重組規劃新增發表前檢核、報告流程、提問、同儕回饋與修正版說明，並沿用 Week 05 的分析流程語言。</a:t>
            </a:r>
          </a:p>
          <a:p xmlns:a="http://schemas.openxmlformats.org/drawingml/2006/main">
            <a:r>
              <a:t>教學提示：先作答，再核對答案。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019fd1f89c40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4f6a1de85742aa" /><Relationship Type="http://schemas.openxmlformats.org/officeDocument/2006/relationships/slideLayout" Target="/ppt/slideLayouts/slideLayout1.xml" Id="Rca88a38c242346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88a38c242346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d28f0e4624e91" /><Relationship Type="http://schemas.openxmlformats.org/officeDocument/2006/relationships/notesSlide" Target="/ppt/notesSlides/notesSlide1.xml" Id="R547c951021d84f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878b9071f41b0" /><Relationship Type="http://schemas.openxmlformats.org/officeDocument/2006/relationships/notesSlide" Target="/ppt/notesSlides/notesSlide2.xml" Id="Rea4fa69370354e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2f527ad0e4095" /><Relationship Type="http://schemas.openxmlformats.org/officeDocument/2006/relationships/notesSlide" Target="/ppt/notesSlides/notesSlide3.xml" Id="R5966b276ff864a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80cf11b004094" /><Relationship Type="http://schemas.openxmlformats.org/officeDocument/2006/relationships/notesSlide" Target="/ppt/notesSlides/notesSlide4.xml" Id="R8ca07cc28b7648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06882b5f44fe8" /><Relationship Type="http://schemas.openxmlformats.org/officeDocument/2006/relationships/notesSlide" Target="/ppt/notesSlides/notesSlide5.xml" Id="R5f511469c6b143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c52f1d4a94f9b" /><Relationship Type="http://schemas.openxmlformats.org/officeDocument/2006/relationships/notesSlide" Target="/ppt/notesSlides/notesSlide6.xml" Id="Rda3468b1ed204b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a333eb7427451e" /><Relationship Type="http://schemas.openxmlformats.org/officeDocument/2006/relationships/notesSlide" Target="/ppt/notesSlides/notesSlide7.xml" Id="R4c3b336d159246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e170dfec064afe" /><Relationship Type="http://schemas.openxmlformats.org/officeDocument/2006/relationships/notesSlide" Target="/ppt/notesSlides/notesSlide8.xml" Id="Rf0519f6497844d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1bd96e8f64e02" /><Relationship Type="http://schemas.openxmlformats.org/officeDocument/2006/relationships/notesSlide" Target="/ppt/notesSlides/notesSlide9.xml" Id="Rc39e1223b60b4d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6ee689af34b96" /><Relationship Type="http://schemas.openxmlformats.org/officeDocument/2006/relationships/notesSlide" Target="/ppt/notesSlides/notesSlide10.xml" Id="Rd683539a3f3c42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22b6309eb428b" /><Relationship Type="http://schemas.openxmlformats.org/officeDocument/2006/relationships/notesSlide" Target="/ppt/notesSlides/notesSlide11.xml" Id="R5b6874b8578b44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4648f543e4676" /><Relationship Type="http://schemas.openxmlformats.org/officeDocument/2006/relationships/notesSlide" Target="/ppt/notesSlides/notesSlide12.xml" Id="R146fd40339b642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e58849bc042c3" /><Relationship Type="http://schemas.openxmlformats.org/officeDocument/2006/relationships/notesSlide" Target="/ppt/notesSlides/notesSlide13.xml" Id="Re459b2788ab141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749bb694940c1" /><Relationship Type="http://schemas.openxmlformats.org/officeDocument/2006/relationships/notesSlide" Target="/ppt/notesSlides/notesSlide14.xml" Id="R0b4a5b7217a647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31d43c61e94b0d" /><Relationship Type="http://schemas.openxmlformats.org/officeDocument/2006/relationships/notesSlide" Target="/ppt/notesSlides/notesSlide15.xml" Id="Rf9ba3b9566fb41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52b1afc1446e8" /><Relationship Type="http://schemas.openxmlformats.org/officeDocument/2006/relationships/notesSlide" Target="/ppt/notesSlides/notesSlide16.xml" Id="Rbb10711843934d2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3062f4c4e4cb6" /><Relationship Type="http://schemas.openxmlformats.org/officeDocument/2006/relationships/notesSlide" Target="/ppt/notesSlides/notesSlide17.xml" Id="R8b705d4a9f07445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373ec734544c4" /><Relationship Type="http://schemas.openxmlformats.org/officeDocument/2006/relationships/notesSlide" Target="/ppt/notesSlides/notesSlide18.xml" Id="R4709493fc66f4c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6446893f4468b" /><Relationship Type="http://schemas.openxmlformats.org/officeDocument/2006/relationships/notesSlide" Target="/ppt/notesSlides/notesSlide19.xml" Id="R86c51b0ea2174ff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cf71afe0494c1b" /><Relationship Type="http://schemas.openxmlformats.org/officeDocument/2006/relationships/notesSlide" Target="/ppt/notesSlides/notesSlide20.xml" Id="Ra852d231f078475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3c7e591bd4c71" /><Relationship Type="http://schemas.openxmlformats.org/officeDocument/2006/relationships/notesSlide" Target="/ppt/notesSlides/notesSlide21.xml" Id="Rdfef438b8b2944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3a3caa7484b7a" /><Relationship Type="http://schemas.openxmlformats.org/officeDocument/2006/relationships/notesSlide" Target="/ppt/notesSlides/notesSlide22.xml" Id="R14b7283a866542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42fdf952043c9" /><Relationship Type="http://schemas.openxmlformats.org/officeDocument/2006/relationships/notesSlide" Target="/ppt/notesSlides/notesSlide23.xml" Id="R0f976aa2ffb54de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b6ccd32f048b9" /><Relationship Type="http://schemas.openxmlformats.org/officeDocument/2006/relationships/notesSlide" Target="/ppt/notesSlides/notesSlide24.xml" Id="R1b3790ea941649b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c82552e8a46c1" /><Relationship Type="http://schemas.openxmlformats.org/officeDocument/2006/relationships/notesSlide" Target="/ppt/notesSlides/notesSlide25.xml" Id="Re58c0a6ae236452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401cb2f3b40ff" /><Relationship Type="http://schemas.openxmlformats.org/officeDocument/2006/relationships/notesSlide" Target="/ppt/notesSlides/notesSlide26.xml" Id="R777bbad29391447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1f4d81e5c48dd" /><Relationship Type="http://schemas.openxmlformats.org/officeDocument/2006/relationships/notesSlide" Target="/ppt/notesSlides/notesSlide27.xml" Id="R0a3a095d2e8846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5feea4af44423" /><Relationship Type="http://schemas.openxmlformats.org/officeDocument/2006/relationships/notesSlide" Target="/ppt/notesSlides/notesSlide28.xml" Id="Ra465c0e5140849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44438be9c4889" /><Relationship Type="http://schemas.openxmlformats.org/officeDocument/2006/relationships/notesSlide" Target="/ppt/notesSlides/notesSlide29.xml" Id="R36cbea239fa148c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ed35f7d764f8a" /><Relationship Type="http://schemas.openxmlformats.org/officeDocument/2006/relationships/notesSlide" Target="/ppt/notesSlides/notesSlide30.xml" Id="R0c9a79bc0904467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ccc071680429d" /><Relationship Type="http://schemas.openxmlformats.org/officeDocument/2006/relationships/notesSlide" Target="/ppt/notesSlides/notesSlide31.xml" Id="R8b5b2c90d382450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0adc11c8d41f9" /><Relationship Type="http://schemas.openxmlformats.org/officeDocument/2006/relationships/notesSlide" Target="/ppt/notesSlides/notesSlide32.xml" Id="Rb92ae6d10577443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3f78b35554b3d" /><Relationship Type="http://schemas.openxmlformats.org/officeDocument/2006/relationships/notesSlide" Target="/ppt/notesSlides/notesSlide33.xml" Id="R7bb92d7e06054f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BA5E84-D7B7-4BEE-9620-7BF01A0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5C05D-1CDB-498C-98E3-006D519B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16｜期末報告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67D79-989A-482D-A3FA-C21384F5C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5669-9B8E-45AB-BB6D-26375572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9CF1B-5CC4-4065-B321-29A631D1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26621-EE83-40A6-AB74-B40BE5BF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本週任務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091EC-3402-4C77-AB6F-B9D7270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清楚呈現一學期的分析成果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7AFD6-C7CB-4B03-9F25-F9C77148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747A9-E8E3-49F5-8E34-9B115880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2EED1-0C9A-4A87-87D5-22B1DCBA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發表前最後檢核與彩排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D385E-EF9C-4FD5-A1C9-2F3051AE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3A0D8-9220-4B7E-909F-3F2ACDB8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第二節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C5184-2E38-4B86-BCA8-2C1F04CA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分組發表與指定提問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11001-2A9B-47F0-8AAF-4020F6FD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16CAB-A02E-48A3-BD25-22234CFE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第三節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9EF771-D23C-407F-BC9D-CBCC24820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同儕回饋、教師統整與修正方向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25600-2540-4EDA-A248-B3C1890E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40555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E3DD8E-8869-4B72-A590-3B19F91F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B7B8B8-5BB4-4678-9761-E6052BED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一份完整的分析故事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9DBC3-577C-49FC-8971-7FB3E518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E886F-D6CC-4DFD-BF66-C7B7B18D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BABB8A-7A08-4705-BECD-F8FDFE14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D8E3E-9518-4D07-9D01-E3F94C1A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0EE59-33B7-480F-8E20-E3CD1906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說清楚想解決的業務問題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3F4D9-A388-480F-958A-E4A0DED4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1E361-9DDB-4FF6-9BD0-2B2AFA79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DEDE-159A-4427-B001-A757B802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交代資料來源、欄位與範圍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565CCD-903E-40BB-B246-DD8BAE78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E2618-716E-4BB8-A6D2-376737E7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C9954-9F08-4C68-8E2F-C6B72EE3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說明為何選擇這種分析方法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ACBD29-D44D-41A5-8413-26AACF49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3E151-DA99-4437-84E2-7AE30A92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88EB5-F3DA-4AD0-BCB9-0B79BC13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呈現發現、限制與可採取的建議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85B3B3-9B2C-404A-9B58-1BA24237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626947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0D9386-DAA3-48FD-B0C1-4D6D386B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3BB50-71F3-4BEF-839E-D42BDB18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題目與問題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6E9AB2-6632-4989-B5EA-6E4FC3BF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928827-F29E-4E16-9775-F4048ABA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624CC-5685-4C4F-89B7-4437E454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0492F-B52F-4AB1-AAE4-78170626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題目範圍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D2D19-D2C3-4565-A9D1-E7129AA6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聚焦一個可以分析的金融情境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4F4D1-8765-41D2-868F-6FBD4BBE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5795B-E5D6-46FA-BE7B-C78666DF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問題句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C234D-324D-4514-A6DB-DD89148D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指出想比較、預測或發現的內容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FB241-6555-4396-95A7-DBDAE98A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B2320-9299-4A14-933C-A87F506F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對象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5B5DC-644A-4307-824C-87065BB2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說明結果要提供給誰使用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FBBA3-DD5A-47BD-9A1F-C9F39F75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A364D-2D82-4471-A3EF-9742457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成功條件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DA7EB-0FFB-4E37-BF4E-E1533D3A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說明什麼結果能幫助判斷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E60C39-5567-4CFF-B716-65C16B20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0406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44A86-17B1-4A65-939E-7B5BA1B7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A40BD-BE33-42B1-8056-8EA7997C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資料說明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F14B4-3D26-4569-AD3C-891EAD35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EE8CF-072E-4DD8-B145-FAEFCFCE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4A711E-D93F-4352-93CF-B89D082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280E1-09D0-4673-BCB7-C746DD4D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A9AD82-F647-488F-9306-91587EF2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自有資料、公開資料或模擬資料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66B37-30DD-4B5F-A4B1-E7F19B72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26547-3B56-419E-9F9F-4179AA2A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範圍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931B5-EF3C-4E04-A7C1-E988AECB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期間、對象、筆數與重要欄位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ED7E7-F8A8-4514-9DAE-22913A4D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AF579-A470-4981-8F63-82A77FE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F5139-3278-4BA7-ABA8-B0D423A7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缺漏、重複、異常與格式如何處理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78816-FC1C-4DAB-A810-46604009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321C3-2EAC-4565-B211-AFB9CD66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5D59C-FF85-4038-819E-06ED394C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資料不能代表哪些情況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DD99A5-30B8-4235-8957-AECFEE60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70379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817703-3A48-4781-A9EA-82945AA1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2C1F91-ACF9-4ACD-AF7B-4DFAF667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方法選擇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1358C-8E34-4A14-B1A0-2A1F5340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3E08B5-67F0-471D-AEFB-7C1761FF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879D8-CED8-4550-B91C-EB2161AA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3BA31-BA61-4327-999D-83CA42E3A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分群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22962-DABF-41C3-B959-915EA482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找出特徵相近的客戶或案件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0D7DDC-89E7-4FA8-86DF-2F6C8B8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E6FB14-3428-4DE3-8F45-E7942EE4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關聯規則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683DB2-45E9-4AED-98E0-FD26C850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發現項目共同出現的關係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DB139-E2C7-4A62-930B-1625E27D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14470-A622-4083-A668-B1091D44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決策樹與類神經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D1495-3BAB-43E4-8BA6-240C0770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依歷史答案進行分類或預測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F983C-DB8F-46C5-8EE1-5E69A0F8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C85E0-8F63-4CB6-9443-9C3E7C6E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文字探勘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2F7257-AF6E-45A0-AED6-A43ADDE3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整理客服、新聞或申訴等文字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F5335-1D7F-402B-AF01-7FCD4580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66636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5E2A5-C6D3-42B3-A8F0-16E111E6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21150-FB61-47FB-9164-101BF114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結果呈現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A5AB0-BFF5-4D89-908C-41E98798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637ED7-DC4E-4F7E-BDD8-405C03A9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9AD91-CB67-46A7-8448-04DD98DD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617CC-5726-44AF-9645-EF556142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核心圖表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E804B-05D5-4E58-A6B9-74A97A9F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每張圖只回答一個主要問題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978AA-BB8A-4F2B-BAF7-A05CFCB6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23B1C9-75D5-4705-A5F3-9BF35CE5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數值說明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6540A-333C-43D8-BD06-5EB446AF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標示單位、期間與比較基準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E2129-27C3-4C69-BC79-8FAACA46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8303B-422E-4648-BFC8-7BF42F57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文字解讀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07B81-0C72-4ED6-A4AA-94040231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說明看到了什麼及其業務含義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9CB51-6B32-4599-B645-2C44B0ADA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09219-25C3-49AC-8015-984F5CFB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避免誤導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DEA37-9EE3-4C7E-8F37-B359609E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不放大微小差異，也不省略重要限制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251EA-D1CB-4436-B578-65907C6A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9130610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3009FA-65B8-4C9D-BBEF-007981D7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060E49-21F0-45B0-8807-5616154F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結論與建議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83EE9-C485-4CD8-A756-914AF17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4DBA9-76C8-4868-BF3D-356EBEF6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02098-3BB9-4180-9CDE-3FA0E1DD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AD2AD-8500-4490-AFED-09B2BB29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結論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2FAA3-830D-4B38-811C-BC476E9A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直接回答原本提出的問題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F8B70-0435-4B5B-99A9-EFCC319F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C5524-6382-4CED-ADB5-6D66A185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依據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326CA7-6C3A-4A7E-89B5-0F1EE108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指出支持結論的分析結果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09D5B-E422-40F9-BABE-32EB9A36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7E54B-9564-409E-BDB6-D9F6C06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建議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AFFCC-BFCF-4CF4-B0F0-F04B4CB1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說明可採取的下一步行動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AC7275-3470-4DC8-B851-9CEFE17C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15BE9-E3FC-4770-AD96-851D6B95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界線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2589B2-6E8C-42C8-92E6-36702810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區分資料發現、推測與決策建議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A90D-7293-45E4-80DB-BF14F514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47456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E56A1-3820-435C-8674-16294021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93509-FCC9-4C1F-BFA5-F0B5D6DA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限制與倫理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009732-4A23-4858-A1A2-D554722F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900CB-85A6-4A49-B735-C6550FD8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DB364B-5894-4DD7-897C-146FE7A0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B7136-934C-4C60-B9D3-81B5EE8D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資料限制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1B987-54A4-415F-A034-67CC0BF9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樣本、期間或欄位可能不足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C5301-2DE1-4636-A5DF-E5519CDB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F0537-CBCE-4525-96E5-C1CD8299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方法限制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4FA48-A910-4205-A7CE-099E42B5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模型表現不代表因果關係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42E9FA-438D-43EE-8E5E-E4D8A864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2AB50-8A06-4983-9837-E50096F4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個資保護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07E59-D75F-491E-88AF-A5D79BA5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展示內容應移除可辨識資訊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5200D-012E-4BF4-83D7-1325DDB2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D47FE-5CC6-448D-A246-21D0160E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公平責任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0FA00-E664-421B-8B6D-421C1D92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高影響決策需檢查偏誤並人工覆核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D0236-F28F-419E-832C-DAD4B7A3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84257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5A609-3CE7-4805-8CC0-22895CA8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293F10-1E72-4A88-A004-9BD3A875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口頭報告設計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8F205-EF15-4AAE-B91A-ED869082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E0154-055B-4B9D-A897-FF15B218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F24F6-DD08-4764-BA13-CC3E8C07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F87644-718B-47B2-93AB-49CAA145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開場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39052D-888F-4797-B0D6-073A4EB6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先交代問題與報告路線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587FB-ED6E-450E-A866-647A68DA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90874-260C-4C18-A5A6-8BDC9397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主體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CA880-77C2-4C43-9D4E-4740116B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資料、方法與結果依序說明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50CAE-3CFD-42AD-9A66-EB7D2878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34011-C610-4B64-81F8-FEDA5E67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收尾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C85B7-2239-4F91-9BC7-319E6D39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回到問題，提出結論與限制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719AE-0B49-4D7A-9109-6A9B3EA1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C3D52-DD48-4CC6-8A6C-5C92EE8C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時間控制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66229B-B116-4739-8B3D-7CE5FE8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保留提問時間並預先彩排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CF694F-86BC-4DD1-B8D6-3A52C6AE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94034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63542-B3ED-4722-BAA5-90815F421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BB15E-062A-446A-9C5F-BCAD1D0D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98E9F-77E4-4662-A372-25976AE9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265A2-F873-4EA0-8F3A-BCD381D9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F806A-6C72-484E-A436-E98D70E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9173C-4D95-42A5-92CC-F5CFA8B4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故事主線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6A51B-7321-498C-8C33-6D817313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問題、資料、方法、結果與建議要連貫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125D0-57A5-407D-B420-A300CEB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40DCF-9151-42C0-A484-E63E64D2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證據要求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DC824-EB54-4E4C-8853-1AA443D2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圖表與結論需要互相支持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7AC59-2418-4D30-BC25-B569929C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3ABA6-DD6F-4287-A18C-94BFE596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可信度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A1127-A396-4A78-8394-23A9E287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清楚揭露限制、資料來源與倫理風險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E4B255-5183-4B27-95B5-6CBBE1A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C6AD87-5BF2-436D-B235-50107E9B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彩排重點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106AA-7F27-4193-9DE7-15152630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內容取捨、語速與交接都要先練習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2CBCEF-2D0E-44D3-A585-3FC29687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541046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36449-666E-42BC-8093-BDAB8F8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F7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FE775-27D0-4192-A4E7-FAA90B3A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本節快速檢核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5D38D-FF36-4FB7-9838-7FB2BD0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6BDF32-4402-4724-863D-4DD53E0A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6E9F72"/>
                </a:solidFill>
                <a:latin typeface="微軟正黑體"/>
                <a:ea typeface="微軟正黑體"/>
                <a:cs typeface="微軟正黑體"/>
              </a:rPr>
              <a:t>第一節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748F7-08D0-4E09-8464-1A2E2764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FF6B4-0695-4B9C-8BDF-6AFFB794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70323-85E6-48C6-9E81-DD4CD016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完整分析故事應先說明問題嗎？（A 應該　B 不必）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132790-A500-4E2E-A05D-7B5035F1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資料範圍需要交代期間嗎？（A 需要　B 不需要）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F468A-1EF5-4D66-BC4B-8DBFB393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方法選擇要連結分析問題嗎？（A 要　B 不用）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7FE549-8546-4DD3-952E-B06FFA9F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相關性可以直接證明因果嗎？（A 可以　B 不可以）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6F9CF-A84D-4924-9830-3E4BE836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報告前需要彩排時間嗎？（A 需要　B 不需要）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2E8B9-E893-416B-BFCC-A7FF0C80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BD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DD2D4E-9CFE-4AC1-BF23-44346D2F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5-A</a:t>
            </a:r>
          </a:p>
        </p:txBody>
      </p:sp>
    </p:spTree>
    <p:extLst>
      <p:ext uri="{BB962C8B-B14F-4D97-AF65-F5344CB8AC3E}">
        <p14:creationId xmlns:p14="http://schemas.microsoft.com/office/powerpoint/2010/main" val="5778529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0DD793-5089-475E-A679-3F27F0F3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D9A20-E4E6-492E-B0B7-573BD1656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第二節｜分組發表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ADB9A-CC35-4706-8D92-E5D2C106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202DF-4BB0-4912-B953-426D840A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CAB13-9A68-4468-B44E-0C99EAD2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05D481-2DDA-42DC-8E4F-F00457A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共同規則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243E0-9A02-4061-8D13-ACFD5AE7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各組依相同流程與時間完成報告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67B30-43FF-4801-BC03-5B57E4F8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0D5C2-BB09-4A8D-A3EC-504163E5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聽眾任務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49A9C-7BD6-48E9-A0AF-5778B30F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記錄重點並準備一個具體問題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E00E38-9EDD-443C-BC4F-7DFE2607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A852E-74CA-4567-A9D4-F2990975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發表目標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DAF58-0CEE-4469-96FE-6B0AB23F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讓未參與專題的人也能理解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D5C63-0863-49E7-9D25-71B189EA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607849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1BCE9A-FE77-471F-9099-CB5446E1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8A077-E6AC-4DA3-AA26-1272B531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發表流程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2013A-5677-4695-AABA-6D038350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ED3B8-425B-4B93-AFC3-36E69C6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9F402-6B0B-4D18-A539-1DE2061C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01205-56FD-489F-89F9-303F704A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準備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70CC9-AAFD-4CD7-A7B4-29724BB6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檔案先開啟，組員就定位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8E12C-CC8E-44E1-B30D-8BBBEF1C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40EBE-760C-429B-8BF1-821E0CA7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報告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1D773-4924-4629-9D80-7A3FA9E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依問題、資料、方法與結果說明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BDC53-3440-4D33-A251-5F0FD837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20E9F-72EC-43E0-BC8E-2A21CBCD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D8FD4-FB86-475C-BA96-0B217EDD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聽完問題再由適合的組員回答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2B314-A04B-477C-B98E-84A0D27C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313B4-190B-4403-AE2D-E7C3C652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收束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1553C-0B7B-49FD-93F3-E7FE8650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記錄需補充或修正的事項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F6018C-A3B0-4569-8480-480864B8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023174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770B2-0DA5-43ED-9A3D-173488BD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06C3B-7EFF-488A-BDF0-216BA40D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開場檢核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24DE4-DDC3-4B9F-9568-B8E80C7D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04D1A-EC1B-4049-A5C7-433D949A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86ED0-D483-4A1A-A829-1CF0D6E7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8B17D-790B-4C19-B9A5-99E4EF9B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第一句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EF1EF9-2298-42BE-AD3E-2F169201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說明主題與金融情境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BD951D-FCF2-40E5-8726-16CA66C4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B4469-6A9E-4ADA-A7F6-EFD9BF0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核心問題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3BB78-8934-4861-A5C0-877A9E47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用一句話指出想知道什麼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97D80-F759-41D6-BC37-6737144A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6B048D-CD10-485D-9B09-ECF16BC3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使用者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87D3DE-ED91-438E-B1D5-2ADDC17E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說明誰可能使用分析結果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A89752-69CF-40DC-9E53-72466C0B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3C84D-C4DF-4A38-B560-BE681DF3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範圍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0D4E9D-3A9F-4BED-8238-E2A83B34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避免在開場加入過多背景資料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B8058-5EDB-4BEE-9549-1E196867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4863162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4B973-6AAB-46BB-8DDD-4FE7A9D8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8F1C5-A92C-4FE6-89B0-843FE29A7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資料與方法檢核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1058B0-82E2-4438-95FF-846A0CBC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9E14A-3570-43FD-8027-DEB37A7F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01327-7854-4B5C-8C09-767CE579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492811-FB3C-491C-8792-B731CBD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資料來源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F5D76-E7B6-4C8E-AD6F-15D64952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聽眾能辨認資料從哪裡來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A7814-E1B8-4438-A35C-5763E0E2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8B23E-7F27-432C-B421-25A6D84D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前處理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EE58D-D453-439F-A6AA-E3BB7493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只說明會影響結果的重要步驟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2AE08-49BD-408B-8D65-A6832DD3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28FA19-CBAE-430A-AC2F-D54F6CC8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方法理由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106449-3D82-476D-A71F-A8D2F5E8B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連結分析問題與方法功能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8F3E2-0165-4E77-B7D0-20F27384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4DC524-AB3A-4E60-BBBF-D6ED3790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名詞說明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1F047-4CCA-4E08-9F82-04CB120B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第一次出現的專有名詞要用白話解釋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A82EB-C3A9-45B1-95F9-6F9EFD82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734403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BE7DA2-09A5-4BF7-84CB-9627FC62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82E2E-59E3-42B9-82A4-88445155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結果解讀檢核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BFE47-DC73-489D-8D95-FF4253B6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CFD07-CFC4-4D87-AD4C-6C4EFF35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B89574-2534-4608-A198-94C65B01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BACDB-3385-4D31-B8B3-8C12DA4C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先說發現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FECCF-CC5A-406D-B016-CD41AD8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讓聽眾知道圖表要表達什麼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7F8D5-166E-4281-8FE0-B6D3016A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E644E-49BC-4A64-8C01-274944A2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再看證據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426D1-4716-4334-907B-27551DF6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指出關鍵數字、群組或規則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94F14-7535-4B50-84B7-3A18CD50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0FAD11-B764-4D9A-A789-6DFB35E6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說明意義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37DCB0-7210-4BBE-8031-38B2169F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連結可能的業務影響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B2785-CFC3-405E-BE98-17A79917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C6594-653D-47B2-99D9-39209C22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保留界線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FF7F3-9D56-47EB-8873-65F0C1FB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不把相關性說成因果關係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08B310-E4DD-4F48-8DD8-C8D9E9ED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846091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2769DA-EE6F-49EA-94FE-1E9836D9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E9E27-F8BA-44E0-B7C0-65DA9E95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指定提問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28CD0-4BCD-413C-88BE-514B2B9E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47466-A37C-4947-9409-B52419D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36721-72FD-4D6D-BF3A-E87769F5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E6950-640B-4FB2-8C23-005CA5EE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問題對齊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A8CD5-9A34-481E-829A-3AEDBD43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分析結果是否回答原本問題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2F712-C26A-46C7-92A5-D0FCB0650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A3378-FD13-4BA4-A39D-00EC6B5A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資料品質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C2E82-390A-406D-9762-2F744806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資料範圍與處理是否合理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A9A46-5F2D-4541-8DCC-A8EEE18A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AF753-C63F-4757-8766-739C9D1C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方法適切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11FC63-151A-4468-8989-4691AC18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方法是否符合資料與任務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8953A3-4339-4AD0-88D9-C70A1DD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B2708-DBAC-4834-B169-4F91C1F6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決策界線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4A118-70BE-41BE-A92E-B8CD0F55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建議是否考慮限制與風險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59748-162A-4847-B4D8-F82B58C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322613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29ADD-3DDF-487E-9B76-664F0B7B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8EF29-AF84-49D6-9BAB-63FEBCE1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回答提問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69197-49F8-443B-ABA3-C4202E42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EC810-CE76-438D-9057-674F44F3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76F66-F053-46E3-BC6D-4A776B09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EC6F0-4124-4FE4-8D5D-2ADCE291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先確認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5837C-E0F1-440C-B7D2-62274B95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用自己的話重述問題重點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2300B-D8E1-4062-937F-CD384D14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A57E6-D5AD-4B01-9B0E-58DCC241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直接回答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5FA2CD-9F72-4562-B0D1-77D0095D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先說結論，再補充依據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10C570-79E2-459E-A382-845381F2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BDDA7-EBE4-4095-A2C9-476AD973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承認不足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F1F9F-7519-4FED-82F0-85A52B69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不知道或未分析時清楚說明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5F9CCF-7843-4852-8970-CF9EA621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97F89-4439-459C-B060-D5B3EDC21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記錄建議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6AF16-8D18-4C0C-9624-9526D209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將有價值的問題列入修正清單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6E6D33-5CA1-433C-B9FC-6AFFD50C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099085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4AF527-4D37-4610-A4A1-E1077F28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29095-1D72-4DCC-A84F-D9A78C68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常見發表問題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5EA96-8F58-45F9-BF40-51007322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293F3-BE1A-448F-85C9-C208373F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77AA9C-973F-4C05-AD15-3F72E68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4BB32-5F78-40D0-AD56-579A146B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文字過多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C055F-27ED-41B3-9A9B-3ABF550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講者照念，聽眾難抓重點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083A1-516A-4D6A-ADE4-7CD6D1B0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620F6-C3C3-427D-80D9-F587F18F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只報流程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A8E97-FB67-4266-A8E9-24D253AD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沒有說明結果代表什麼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A2589-1341-4622-AFB3-147D0659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83DED-C639-487A-956F-2C532EEA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圖表不清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35CE0-DB0E-4EFC-B243-1A786B0F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缺少標題、單位或比較基準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E2CAD3-9544-4016-BD6A-3756D07E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78127-5FFC-4B1B-A1E8-2E0F7AAC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時間失控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C3366-6763-4972-B153-9CE38619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背景講太久，結論被迫省略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4E84D9-0028-46B9-84C6-27457723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693982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CE5F50-261B-4F90-A430-D83B6A42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4D8FB-A0AF-4D88-AB74-55AC24D1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聽眾回饋紀錄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2FC88E-6946-4DC1-9DFA-A7280029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E6120-EF29-44B0-9E75-B06A132C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C7D74-72E9-4E2B-B222-EC5E5970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FE390-D298-4694-BE54-4FA7B501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我聽懂的問題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3652F-EAB3-4CE2-AB26-287D2701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用一句話重述專題問題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38C1BB-37A1-4194-B632-7110C6E7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51FCC-7646-4F2C-BE54-DF7E8B4F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最有用的發現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AB423-4CE9-44E2-A1F9-1EF3DED6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記下一項有證據的結果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572EE-B575-4300-8967-1FCD9A59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D31FD7-DBB5-4172-8495-80E93DDF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仍有疑問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14486-89E6-478A-A0A9-90FB2AE4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提出一個可以回答的問題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E517A-F424-4681-AE8C-9F773083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D1082-C898-46C8-BFAF-DA555055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修正建議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63489-80E6-4279-8600-389A31F7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指出一項具體可改善之處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0BCDEA-BA71-4E22-9DBF-74E13C16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838100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1428E9-01EA-46D6-8345-24BF520F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C775E-E4E2-4983-8711-968F0E0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第二節小結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1A258-6EE7-4689-968F-28886DF4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FDD7C-FBFE-4B2B-A3DE-DD3D1925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F25DB-7A84-428F-A374-6DD261ED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B8012-6111-424C-A5BC-86C2C1CF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發表者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A0263-3DDE-41A2-9EBD-746371D9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讓問題、證據與結論容易跟上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F6758E-C835-4D07-BDCA-0160C0DA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4D7D7-2040-4699-B36B-A314E85C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提問者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2E36D-F719-4AAC-AD6B-E73EBE8B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針對資料、方法或解讀提出具體問題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211C68-9488-4FA0-A701-B9EAE3BB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336E7-F4A1-4911-96DC-A5F122B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回答者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A0446-A312-4E73-83D8-81697994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直接回應並誠實說明分析界線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1D111-E53D-4784-8432-B3428D40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9E588-4CA0-4876-8F94-159D069A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共同目的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D2C022-F3CB-48D1-8911-1EE931A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利用問答找出最需要修正的地方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C07438-D2AD-4F3B-B35D-CADA91DF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9401909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D772FD-90D9-4F63-A5F2-4D9A4486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18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ECE22-22D1-4B7B-AFD8-EF428EC9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本節快速檢核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E3501-9341-4A88-8A96-11715ADC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9E6D5-BFD2-4A21-8ABC-E3EA3B3D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2D7180"/>
                </a:solidFill>
                <a:latin typeface="微軟正黑體"/>
                <a:ea typeface="微軟正黑體"/>
                <a:cs typeface="微軟正黑體"/>
              </a:rPr>
              <a:t>第二節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B4A88-5BF8-40A1-9EF9-9B3EB1C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57514-32B9-42F0-BF32-6F2CAA74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0A395C-3E73-40DD-BF9B-87E7FDB4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開場應先交代核心問題嗎？（A 應該　B 不必）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1A90D-9C42-44CF-8FBA-29AC5FCB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結果頁只報流程就足夠嗎？（A 足夠　B 不足）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E31A0-F157-46E9-B11B-A3F8C333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圖表需要單位與比較基準嗎？（A 需要　B 不需要）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220E8A-043D-4208-81EE-A25D2919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不知道答案時應誠實說明嗎？（A 應該　B 不應該）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6BB1D-BA0E-4DB3-90C0-22DF1ABE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聽眾回饋應提出具體問題嗎？（A 應該　B 不必）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0EBFC-C6B1-4021-911F-BEDCAA4D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DE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8DB35C-5E75-4CE1-98DD-A8520C6D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2-B　3-A　4-A　5-A</a:t>
            </a:r>
          </a:p>
        </p:txBody>
      </p:sp>
    </p:spTree>
    <p:extLst>
      <p:ext uri="{BB962C8B-B14F-4D97-AF65-F5344CB8AC3E}">
        <p14:creationId xmlns:p14="http://schemas.microsoft.com/office/powerpoint/2010/main" val="197523719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A9A47-A870-4F14-9114-723F7D4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FA381-C36D-4C0F-8CD0-03816271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第三節｜回饋與修正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EFBDC-031F-4E32-BB8D-8D0CB884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01/11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8D145-52E9-4E26-93F6-58A219A3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A89F0-EBCF-493D-AE4C-66A5A9AA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1BEDA-B179-4551-9FF8-B96755F1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回饋目的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5D448-9CEB-4E2D-A9C0-B59569CE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協助作品更清楚、更可靠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00FE57-5DB0-4234-9714-F43839DA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702DB-3C86-471F-BB73-2D540DE9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統整方式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98CB9-DE2F-42C4-B587-B72692B9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區分優點、疑問與可執行修正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30E00-4B03-4E95-A3BA-0230197FF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2F62D-4100-4500-A19A-0DD644D2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最終成果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10D13-3CB0-4991-8DDF-3C6CF754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保留完整版本與修正說明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AE041-C1ED-4B57-9A8E-A824A829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676829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3657B-4072-48E6-8D50-471604F3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7D62A-BB98-41DC-91EE-87DF620E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有效回饋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ADEDE-5890-43CE-8E11-36144CB7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02/11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A4C31-7ABA-49B1-BE4A-940E57C1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70AF6-5960-46C1-9AE1-8706B8AB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DC2E9-B1F7-4B8C-BC8A-B4F283AF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具體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7203C-1017-427E-BFE7-886A21EF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指出哪一頁、哪個圖或哪段說明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29F6B-ABAB-44EF-87C7-197BD44F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F7B85-1E24-4054-9D06-214B289E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有依據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B3F164-5C2D-4773-9AD5-53F70536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說明造成理解困難或風險的原因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2D569-E6FD-4231-B44D-23820600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5178A-AC01-4EC4-B772-C8F9FD5D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可行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31B20-1FE1-455B-A021-EDBAA484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提出在期限內能完成的調整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55C57-04BE-40C2-949B-EF52DACCE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67F45-56DD-434E-8C0B-CE24C5EE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尊重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446B6A-7CB0-4919-9B42-D2A8F14E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討論作品與證據，不評論個人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B63A46-E1D1-46FB-A51D-BD44A88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391347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1495E2-D553-4C8D-885F-2AE33D5E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CEFA8-688E-4CF1-A458-EFD3BDC1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回饋分類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D062A-2CEE-4304-990B-5A4CB3E6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03/11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C64550-F88D-41AE-BB5E-68F893E4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E038FD-945F-4661-A324-10CC505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865B2-E82A-4662-8A5F-6F8C61BC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內容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99B01-029B-4E6F-8651-728F33E36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問題、資料與方法是否連貫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88E72-3B2B-4E81-8115-0B62A1B6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F3180-CBA1-4A05-9409-32E0E65D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證據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8193C-4B04-4353-8F84-731D8088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圖表、數字與結論是否一致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9A76A-5168-47FB-B528-06B7CFF3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43F33-120A-4857-B350-0D51317E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表達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0B6DA-C95F-4203-A7E6-A87853FD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文字、版面與口頭說明是否清楚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172EB-29B4-41FA-897D-4CB925F2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C89075-711B-4D53-A662-6ED2BCAF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風險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75A43-1690-4848-908C-C41DD323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限制、隱私與公平是否交代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B3B73-C1A7-4882-B6EF-7F94D67A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06264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1609DC-AF49-420E-BEED-1954C4E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A3333-C0BC-44C6-B66F-6B0A2A0D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評量面向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B184F-1432-40E1-B3A0-3E73F6B6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04/11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7AC5D-1591-45F7-BA90-C3B30AE4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75B15-C412-4C82-9923-63F4CC8B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B4CE2-2EA8-4E25-A40A-B071DE92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問題定義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1AE19-FE1C-4936-AB8B-395F8D8C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問題清楚且符合金融情境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FF8C46-105F-46A7-830A-D6D0AFC9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E7CDC-D02E-4A59-B253-A8977FA5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分析過程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F9381-5454-4F2A-BAB5-5813D940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資料處理與方法選擇合理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51F39D-4CA8-4971-A5A2-6BBFE148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E564A-2F5C-4C05-9BFB-7D34AEE6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結果解讀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5CA9C-39BB-4682-9276-59886A2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結論由證據支持且沒有過度推論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0AB2D-088D-437D-BDE5-B1C7D1D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037401-84DE-4AD3-942F-1DF65870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溝通責任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7FF65-08DC-4A5F-A63B-83D6AFCC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表達清楚並揭露限制與風險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64C541-CCEE-4731-B57D-94D93F76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4486626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47C42-48EE-4691-8409-BF998B51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78AED-0C4C-4D56-A102-431F2EC6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修正優先順序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DB22A-298D-406D-80B6-A2A78B0C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05/11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B9926-200A-4F95-B5D8-AB8855CD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478AA-83CD-4CC4-A8B3-4CA3BCFA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C57FC-0204-40FD-96D0-0D25A26D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第一優先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F8FA2-2C16-4B9E-B0F5-EE2F32E1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錯誤數值、錯誤結論或個資暴露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F0320-E656-422D-ACB8-5E9960CC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4032D-C984-4D54-8BC1-EA7D75D1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第二優先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56E9B-6651-4984-BCBB-B5A8FBA3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問題、方法與結果之間的斷裂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2BF0A-0E7B-41BE-B412-3DE1B626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91860-5EDE-4328-839E-1F899975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第三優先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D6BD1-C207-40D0-885D-90C5F0EA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圖表標示、文字精簡與版面一致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794AD-F3A9-429A-AE6D-8B38CA16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134F7-7C0F-43A2-8C21-536324B1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時間不足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365E1-1F77-4EE3-9FC2-0960CABA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先處理會改變判斷的問題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D6E8A-AC71-4CD7-B060-3AFEB33B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60035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25F72-17AE-4622-95D4-654D93A0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55D86-E0C7-462E-9EC5-ED57D22B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修正版檢核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713522-47B8-469C-BA7C-0E259703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06/11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3566F-1F4E-4615-91E3-63BF9E75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7E362-9757-40C6-A54E-93D6CF4B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0AB49-64FA-40D8-9BB5-FDA147A8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內容一致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16B30-7AAE-4313-B323-8F812E7F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投影片、口頭說明與附件採用同一版本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D3713-6643-4FA5-B4A1-FA994978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C32C0-EB35-411F-A1F2-88FF373E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來源完整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F6DF3-5F49-4E07-8915-7BD2F03A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資料、圖片與引用可以追溯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FCA42A-05A9-4BF4-9836-A3A84098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875D5-CE2A-4371-B6C4-1E39ED63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結果可讀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50B3A-2442-4F8F-9C3A-38CC8209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圖表單位與標題清楚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6FFEC-F858-441B-94F2-908CE83C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CAFB64-0D99-45C0-A647-CB441DA0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檔案管理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27AC6-B946-4150-AB87-3BB2A589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檔名、格式與繳交位置符合要求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ED38A-A189-4F4B-9B42-B4A116C6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742385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72A27D-BB4D-43AE-A319-BBCEAB4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09BA5-A054-4DF6-AB8D-D7C8C165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一學期方法地圖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965E4-3602-4CB1-AD73-8CBB958D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07/11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8FF1F-ABEA-4955-BA78-4DB07FCF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5C58E-0493-49C7-9A15-9A3E29B4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7D5B66-39BE-4F97-B353-F2CB1368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基礎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2A0A9-CF51-414E-84D2-A1E6E74D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大數據概念、應用與核心技術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87A06-7E8F-4D87-970F-7E9299FD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DE6733-B60B-473C-B990-074FFFF5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81FD1-9938-4F78-8022-3925EBFD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資料挖礦、群集與客戶分群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39B98-B055-483D-AD1D-6AC6E008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1B0FE-0AA4-466B-8BFB-6B45B33E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模型方法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9727EB-9029-4644-BAC3-8BFF862C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關聯規則、決策樹與類神經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4F69C0-C070-43CE-AA43-22212C2D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543ED-68CC-4972-A00B-34FD8DE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文字資料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F5D883-4C9D-4815-82EA-F070521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文字探勘連結非結構化資訊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603722-073D-4A21-8169-A36A01AD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2320530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B60D02-CB9B-48B9-8FEF-94ACEAA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5C7F5-7A4C-4362-B24E-4E8B51E8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從分析到決策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D9C94-27CC-49EB-9A48-603BB812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08/11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6D168-1A2F-49D2-84AD-1B4AFD0A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EE3626-480C-47A5-BBA1-6576C62E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75710E-3814-44E2-92FC-2C5F5EE8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分析輸出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A385ED-DF2D-4B67-99FD-B88A7EDC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群組、規則、預測或文字主題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8C59-D989-47CD-A9A2-D0D0F48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2E96F-22E6-4D52-B635-A21D17E5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業務解讀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D9C186-8AF8-46D7-A97B-40E248A4C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說明輸出對金融情境的意義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4CED4D-A3C5-4137-97A4-79CB4774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D110D7-754D-4B0D-9859-506A6F0E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決策使用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5CA605-DA2F-4704-97F1-7765785B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由具權責人員結合制度與專業判斷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5924E3-D86F-40A7-9A25-8E99A8E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63202-837C-4057-98CD-E615A6FC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持續檢查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06786-0747-46C6-817F-72DDCB7B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資料與環境改變後重新驗證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A2765-A4D2-4D81-8F65-01DCA13A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40091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FE12A-DF63-4E2B-8EB6-3BB5438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8407C6-DFF5-4BF6-B115-7EF9A774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學習反思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6110F-63AF-41F3-9BD6-10FCB7E99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09/11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B2725-95B0-4A97-BE5E-A65441F5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8B769-69B1-4258-9C3C-4E94FFF8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5BBA8-3921-44C8-B40A-4B59F3AE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概念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B1BB6-FB42-4613-8BAE-4E7B89F4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我最能清楚說明的方法是什麼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7CEB7-C14A-4D26-AD6B-B3F483E9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CF61A3-8B14-48E3-B67C-C701EBC6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84710-A9E2-44C4-BE2F-F1CCC1EF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我能完成哪些資料分析步驟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4291D-402D-45A2-AE65-B5DFCCDBD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90A89-5D98-4371-BF41-F5A38026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542438-6B83-464F-A840-7498B51A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我目前最容易忽略哪一種風險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ED4C5-3271-410E-952C-82FE89A6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59B51-B480-48D5-AE7F-1911654C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下一步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050E6-FF13-497E-B93E-0CE9140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我想補強的工具或金融應用是什麼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75D04-14C1-4767-9DEF-5F8ADB96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55668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16CF8-428E-4708-8FA8-926A4008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FF9C5-8830-49C0-BB39-D520ECD8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Week 16 全週小結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46DBB-27D6-4763-B069-A8F25C51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10/11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C3308-0E54-4FF4-A9F4-065D7B84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C121E-F820-4910-AAB2-3E0FBDFE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6095F6-BDF6-4BEC-979A-28FDD112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發表準備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BF298-BD6F-4E97-B1CB-2532F36E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以問題為主線整理資料、方法與結果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3E9CF-7B67-4C51-B7B1-0F024B0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AFA4D4-2D62-4359-8ED6-57B0E1E8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現場溝通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D38CA-6F5E-488C-BB9D-9391E7AB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479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控制時間，清楚回答並記錄問題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62A6C-8296-4B58-B2C7-F6C3A6FF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3BFE0-DD36-4F49-ABDC-1FCECB8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回饋修正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F7859A-1C47-4CEA-A840-1FBFB536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1947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優先處理會影響正確性與可信度之處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EACFF-8809-4758-B077-DEBA4FEB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5292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94E092-5D89-48FC-A6E5-ED84CC85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課程整合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1BCC3-D0C2-47FC-9CC3-301DF9B4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91025"/>
            <a:ext cx="7667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100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把分析結果連結金融決策與責任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BB4DD4-629F-4C48-867C-7A9766E1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324475"/>
            <a:ext cx="1052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EBF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68675054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F3D6F-230B-41FF-8305-45A9619E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15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178D7-D6AB-4EFF-9095-6FC743F7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2850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本節快速檢核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BDB93-C7A4-4A39-A3DC-B0F40F5C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5 分鐘｜先作答，再核對答案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E86D54-FAAC-45EA-9EE5-91247F01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57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350" b="1">
                <a:solidFill>
                  <a:srgbClr val="C95151"/>
                </a:solidFill>
                <a:latin typeface="微軟正黑體"/>
                <a:ea typeface="微軟正黑體"/>
                <a:cs typeface="微軟正黑體"/>
              </a:rPr>
              <a:t>第三節  11/11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5D1C8-10EF-41A1-B6FD-ADC7B210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大數據｜Week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8C606-C45D-4412-A583-652EB88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200" b="0">
                <a:solidFill>
                  <a:srgbClr val="597276"/>
                </a:solidFill>
                <a:latin typeface="微軟正黑體"/>
                <a:ea typeface="微軟正黑體"/>
                <a:cs typeface="微軟正黑體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676B7-C922-4133-B591-180D916E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287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1. 有效回饋應指出具體位置嗎？（A 應該　B 不必）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4BCA87-4D18-4924-98EB-0887B73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027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2. 個資暴露是否屬於優先修正事項？（A 是　B 否）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07068-D73D-415F-8EE1-CC633E56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7180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3. 修正版需要確認資料來源嗎？（A 需要　B 不需要）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65890-FBEE-4977-ADEA-1BE80F77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43325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4. 模型輸出可直接取代金融決策嗎？（A 可以　B 不可以）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8DCA3E-840F-411F-A30F-64F01250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148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0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5. 學習反思應包含下一步嗎？（A 應該　B 不必）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62F5A-71BB-4F01-B298-0A740CC6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58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E6D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F252E-A504-4A5D-880A-425E5A69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defRPr>
            </a:pPr>
            <a:r>
              <a:rPr sz="1875" b="1">
                <a:solidFill>
                  <a:srgbClr val="17383E"/>
                </a:solidFill>
                <a:latin typeface="微軟正黑體"/>
                <a:ea typeface="微軟正黑體"/>
                <a:cs typeface="微軟正黑體"/>
              </a:rPr>
              <a:t>答案：1-A　2-A　3-A　4-B　5-A</a:t>
            </a:r>
          </a:p>
        </p:txBody>
      </p:sp>
    </p:spTree>
    <p:extLst>
      <p:ext uri="{BB962C8B-B14F-4D97-AF65-F5344CB8AC3E}">
        <p14:creationId xmlns:p14="http://schemas.microsoft.com/office/powerpoint/2010/main" val="1485748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2026-09-04T11:25:53.1890000Z</dcterms:created>
  <dcterms:modified xsi:type="dcterms:W3CDTF">2026-09-04T11:25:53.1890000Z</dcterms:modified>
</coreProperties>
</file>