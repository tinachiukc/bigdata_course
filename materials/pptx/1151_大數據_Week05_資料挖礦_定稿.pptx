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4170f256524f38" /><Relationship Type="http://schemas.openxmlformats.org/officeDocument/2006/relationships/extended-properties" Target="/docProps/app.xml" Id="Rf9cb2e4be4224fe1" /><Relationship Type="http://schemas.openxmlformats.org/officeDocument/2006/relationships/officeDocument" Target="/ppt/presentation.xml" Id="Rb99570a1d2cd4a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7e40bbdb5f4cab"/>
  </p:sldMasterIdLst>
  <p:notesMasterIdLst>
    <p:notesMasterId xmlns:r="http://schemas.openxmlformats.org/officeDocument/2006/relationships" r:id="R79a1121c9cf2412f"/>
  </p:notesMasterIdLst>
  <p:sldIdLst>
    <p:sldId xmlns:r="http://schemas.openxmlformats.org/officeDocument/2006/relationships" id="256" r:id="Rad4796371efc4e50"/>
    <p:sldId xmlns:r="http://schemas.openxmlformats.org/officeDocument/2006/relationships" id="257" r:id="Rcd059867caa04fa5"/>
    <p:sldId xmlns:r="http://schemas.openxmlformats.org/officeDocument/2006/relationships" id="258" r:id="Rb5ae629e6aeb47f3"/>
    <p:sldId xmlns:r="http://schemas.openxmlformats.org/officeDocument/2006/relationships" id="259" r:id="R14ce0a4092d14696"/>
    <p:sldId xmlns:r="http://schemas.openxmlformats.org/officeDocument/2006/relationships" id="260" r:id="R89d8d8c321e14005"/>
    <p:sldId xmlns:r="http://schemas.openxmlformats.org/officeDocument/2006/relationships" id="261" r:id="R9f786f5fdc654400"/>
    <p:sldId xmlns:r="http://schemas.openxmlformats.org/officeDocument/2006/relationships" id="262" r:id="Raa7d27f702df462f"/>
    <p:sldId xmlns:r="http://schemas.openxmlformats.org/officeDocument/2006/relationships" id="263" r:id="R12d4bcde23e44513"/>
    <p:sldId xmlns:r="http://schemas.openxmlformats.org/officeDocument/2006/relationships" id="264" r:id="R0961909e6113464e"/>
    <p:sldId xmlns:r="http://schemas.openxmlformats.org/officeDocument/2006/relationships" id="265" r:id="R6c393aa8b50042ab"/>
    <p:sldId xmlns:r="http://schemas.openxmlformats.org/officeDocument/2006/relationships" id="266" r:id="Rf08742662e89401f"/>
    <p:sldId xmlns:r="http://schemas.openxmlformats.org/officeDocument/2006/relationships" id="267" r:id="R1480ba845fd949b5"/>
    <p:sldId xmlns:r="http://schemas.openxmlformats.org/officeDocument/2006/relationships" id="268" r:id="R651023a9b70140c9"/>
    <p:sldId xmlns:r="http://schemas.openxmlformats.org/officeDocument/2006/relationships" id="269" r:id="Rfbc1e6aa37f944a7"/>
    <p:sldId xmlns:r="http://schemas.openxmlformats.org/officeDocument/2006/relationships" id="270" r:id="R475f230e53a94107"/>
    <p:sldId xmlns:r="http://schemas.openxmlformats.org/officeDocument/2006/relationships" id="271" r:id="R5ba4784bb98a4407"/>
    <p:sldId xmlns:r="http://schemas.openxmlformats.org/officeDocument/2006/relationships" id="272" r:id="Rc98d8a33e15c4de5"/>
    <p:sldId xmlns:r="http://schemas.openxmlformats.org/officeDocument/2006/relationships" id="273" r:id="Rb01f2f8da9c64efc"/>
    <p:sldId xmlns:r="http://schemas.openxmlformats.org/officeDocument/2006/relationships" id="274" r:id="R18cca50d43f0427a"/>
    <p:sldId xmlns:r="http://schemas.openxmlformats.org/officeDocument/2006/relationships" id="275" r:id="R05008515f286458e"/>
    <p:sldId xmlns:r="http://schemas.openxmlformats.org/officeDocument/2006/relationships" id="276" r:id="R1464df78dcfe4468"/>
    <p:sldId xmlns:r="http://schemas.openxmlformats.org/officeDocument/2006/relationships" id="277" r:id="Rbd153b5f66a04a2d"/>
    <p:sldId xmlns:r="http://schemas.openxmlformats.org/officeDocument/2006/relationships" id="278" r:id="R5d4ab8cc61634175"/>
    <p:sldId xmlns:r="http://schemas.openxmlformats.org/officeDocument/2006/relationships" id="279" r:id="Rd308e7a7cfb2479a"/>
    <p:sldId xmlns:r="http://schemas.openxmlformats.org/officeDocument/2006/relationships" id="280" r:id="Rf8c99ca1e55e4880"/>
    <p:sldId xmlns:r="http://schemas.openxmlformats.org/officeDocument/2006/relationships" id="281" r:id="Rf7cee9318a474fc3"/>
    <p:sldId xmlns:r="http://schemas.openxmlformats.org/officeDocument/2006/relationships" id="282" r:id="R5eef5630cf61414d"/>
    <p:sldId xmlns:r="http://schemas.openxmlformats.org/officeDocument/2006/relationships" id="283" r:id="R7a6d120d119b4ef0"/>
    <p:sldId xmlns:r="http://schemas.openxmlformats.org/officeDocument/2006/relationships" id="284" r:id="Rb58904a6820e4405"/>
    <p:sldId xmlns:r="http://schemas.openxmlformats.org/officeDocument/2006/relationships" id="285" r:id="Re50e5fff9b2b458f"/>
    <p:sldId xmlns:r="http://schemas.openxmlformats.org/officeDocument/2006/relationships" id="286" r:id="Ra45208e85a6e465f"/>
    <p:sldId xmlns:r="http://schemas.openxmlformats.org/officeDocument/2006/relationships" id="287" r:id="R9e83ed2381554031"/>
    <p:sldId xmlns:r="http://schemas.openxmlformats.org/officeDocument/2006/relationships" id="288" r:id="Re8029517d21248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a05f2a8a5f469b" /><Relationship Type="http://schemas.openxmlformats.org/officeDocument/2006/relationships/slideMaster" Target="/ppt/slideMasters/slideMaster1.xml" Id="Rea7e40bbdb5f4cab" /><Relationship Type="http://schemas.openxmlformats.org/officeDocument/2006/relationships/notesMaster" Target="/ppt/notesMasters/notesMaster1.xml" Id="R79a1121c9cf2412f" /><Relationship Type="http://schemas.openxmlformats.org/officeDocument/2006/relationships/presProps" Target="/ppt/presProps.xml" Id="R4f7e0e19fc244639" /><Relationship Type="http://schemas.openxmlformats.org/officeDocument/2006/relationships/tableStyles" Target="/ppt/tableStyles.xml" Id="Rbce564fd753a4d93" /><Relationship Type="http://schemas.openxmlformats.org/officeDocument/2006/relationships/slide" Target="/ppt/slides/slide1.xml" Id="Rad4796371efc4e50" /><Relationship Type="http://schemas.openxmlformats.org/officeDocument/2006/relationships/slide" Target="/ppt/slides/slide2.xml" Id="Rcd059867caa04fa5" /><Relationship Type="http://schemas.openxmlformats.org/officeDocument/2006/relationships/slide" Target="/ppt/slides/slide3.xml" Id="Rb5ae629e6aeb47f3" /><Relationship Type="http://schemas.openxmlformats.org/officeDocument/2006/relationships/slide" Target="/ppt/slides/slide4.xml" Id="R14ce0a4092d14696" /><Relationship Type="http://schemas.openxmlformats.org/officeDocument/2006/relationships/slide" Target="/ppt/slides/slide5.xml" Id="R89d8d8c321e14005" /><Relationship Type="http://schemas.openxmlformats.org/officeDocument/2006/relationships/slide" Target="/ppt/slides/slide6.xml" Id="R9f786f5fdc654400" /><Relationship Type="http://schemas.openxmlformats.org/officeDocument/2006/relationships/slide" Target="/ppt/slides/slide7.xml" Id="Raa7d27f702df462f" /><Relationship Type="http://schemas.openxmlformats.org/officeDocument/2006/relationships/slide" Target="/ppt/slides/slide8.xml" Id="R12d4bcde23e44513" /><Relationship Type="http://schemas.openxmlformats.org/officeDocument/2006/relationships/slide" Target="/ppt/slides/slide9.xml" Id="R0961909e6113464e" /><Relationship Type="http://schemas.openxmlformats.org/officeDocument/2006/relationships/slide" Target="/ppt/slides/slide10.xml" Id="R6c393aa8b50042ab" /><Relationship Type="http://schemas.openxmlformats.org/officeDocument/2006/relationships/slide" Target="/ppt/slides/slide11.xml" Id="Rf08742662e89401f" /><Relationship Type="http://schemas.openxmlformats.org/officeDocument/2006/relationships/slide" Target="/ppt/slides/slide12.xml" Id="R1480ba845fd949b5" /><Relationship Type="http://schemas.openxmlformats.org/officeDocument/2006/relationships/slide" Target="/ppt/slides/slide13.xml" Id="R651023a9b70140c9" /><Relationship Type="http://schemas.openxmlformats.org/officeDocument/2006/relationships/slide" Target="/ppt/slides/slide14.xml" Id="Rfbc1e6aa37f944a7" /><Relationship Type="http://schemas.openxmlformats.org/officeDocument/2006/relationships/slide" Target="/ppt/slides/slide15.xml" Id="R475f230e53a94107" /><Relationship Type="http://schemas.openxmlformats.org/officeDocument/2006/relationships/slide" Target="/ppt/slides/slide16.xml" Id="R5ba4784bb98a4407" /><Relationship Type="http://schemas.openxmlformats.org/officeDocument/2006/relationships/slide" Target="/ppt/slides/slide17.xml" Id="Rc98d8a33e15c4de5" /><Relationship Type="http://schemas.openxmlformats.org/officeDocument/2006/relationships/slide" Target="/ppt/slides/slide18.xml" Id="Rb01f2f8da9c64efc" /><Relationship Type="http://schemas.openxmlformats.org/officeDocument/2006/relationships/slide" Target="/ppt/slides/slide19.xml" Id="R18cca50d43f0427a" /><Relationship Type="http://schemas.openxmlformats.org/officeDocument/2006/relationships/slide" Target="/ppt/slides/slide20.xml" Id="R05008515f286458e" /><Relationship Type="http://schemas.openxmlformats.org/officeDocument/2006/relationships/slide" Target="/ppt/slides/slide21.xml" Id="R1464df78dcfe4468" /><Relationship Type="http://schemas.openxmlformats.org/officeDocument/2006/relationships/slide" Target="/ppt/slides/slide22.xml" Id="Rbd153b5f66a04a2d" /><Relationship Type="http://schemas.openxmlformats.org/officeDocument/2006/relationships/slide" Target="/ppt/slides/slide23.xml" Id="R5d4ab8cc61634175" /><Relationship Type="http://schemas.openxmlformats.org/officeDocument/2006/relationships/slide" Target="/ppt/slides/slide24.xml" Id="Rd308e7a7cfb2479a" /><Relationship Type="http://schemas.openxmlformats.org/officeDocument/2006/relationships/slide" Target="/ppt/slides/slide25.xml" Id="Rf8c99ca1e55e4880" /><Relationship Type="http://schemas.openxmlformats.org/officeDocument/2006/relationships/slide" Target="/ppt/slides/slide26.xml" Id="Rf7cee9318a474fc3" /><Relationship Type="http://schemas.openxmlformats.org/officeDocument/2006/relationships/slide" Target="/ppt/slides/slide27.xml" Id="R5eef5630cf61414d" /><Relationship Type="http://schemas.openxmlformats.org/officeDocument/2006/relationships/slide" Target="/ppt/slides/slide28.xml" Id="R7a6d120d119b4ef0" /><Relationship Type="http://schemas.openxmlformats.org/officeDocument/2006/relationships/slide" Target="/ppt/slides/slide29.xml" Id="Rb58904a6820e4405" /><Relationship Type="http://schemas.openxmlformats.org/officeDocument/2006/relationships/slide" Target="/ppt/slides/slide30.xml" Id="Re50e5fff9b2b458f" /><Relationship Type="http://schemas.openxmlformats.org/officeDocument/2006/relationships/slide" Target="/ppt/slides/slide31.xml" Id="Ra45208e85a6e465f" /><Relationship Type="http://schemas.openxmlformats.org/officeDocument/2006/relationships/slide" Target="/ppt/slides/slide32.xml" Id="R9e83ed2381554031" /><Relationship Type="http://schemas.openxmlformats.org/officeDocument/2006/relationships/slide" Target="/ppt/slides/slide33.xml" Id="Re8029517d21248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8a6e8d43904f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206cf31302441b" /><Relationship Type="http://schemas.openxmlformats.org/officeDocument/2006/relationships/notesMaster" Target="/ppt/notesMasters/notesMaster1.xml" Id="R7c7ed3c227d640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05a872e34044e8" /><Relationship Type="http://schemas.openxmlformats.org/officeDocument/2006/relationships/notesMaster" Target="/ppt/notesMasters/notesMaster1.xml" Id="R358e643ea1bd42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0a31ace153468d" /><Relationship Type="http://schemas.openxmlformats.org/officeDocument/2006/relationships/notesMaster" Target="/ppt/notesMasters/notesMaster1.xml" Id="R8dd4e7c5b81b4f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9617db3ac2404b" /><Relationship Type="http://schemas.openxmlformats.org/officeDocument/2006/relationships/notesMaster" Target="/ppt/notesMasters/notesMaster1.xml" Id="R88500aa0387a44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062404f6614543" /><Relationship Type="http://schemas.openxmlformats.org/officeDocument/2006/relationships/notesMaster" Target="/ppt/notesMasters/notesMaster1.xml" Id="Rf37b0cc9f30345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b56f8a2b0445fd" /><Relationship Type="http://schemas.openxmlformats.org/officeDocument/2006/relationships/notesMaster" Target="/ppt/notesMasters/notesMaster1.xml" Id="R58ffed3b8ce343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8918b3ecc14b0a" /><Relationship Type="http://schemas.openxmlformats.org/officeDocument/2006/relationships/notesMaster" Target="/ppt/notesMasters/notesMaster1.xml" Id="R5e23c526b49d4d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bc05a43cf745fa" /><Relationship Type="http://schemas.openxmlformats.org/officeDocument/2006/relationships/notesMaster" Target="/ppt/notesMasters/notesMaster1.xml" Id="Raf8a4076c86a44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d2f0ac39874044" /><Relationship Type="http://schemas.openxmlformats.org/officeDocument/2006/relationships/notesMaster" Target="/ppt/notesMasters/notesMaster1.xml" Id="R36ae9deecddf46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5f007c5fa148cb" /><Relationship Type="http://schemas.openxmlformats.org/officeDocument/2006/relationships/notesMaster" Target="/ppt/notesMasters/notesMaster1.xml" Id="R920e967fa7ab47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c8b8e3991f4996" /><Relationship Type="http://schemas.openxmlformats.org/officeDocument/2006/relationships/notesMaster" Target="/ppt/notesMasters/notesMaster1.xml" Id="Rb3c91bb97d7b44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b2f0ad82d84c8d" /><Relationship Type="http://schemas.openxmlformats.org/officeDocument/2006/relationships/notesMaster" Target="/ppt/notesMasters/notesMaster1.xml" Id="R13d07808adf645d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1eecd371bd4db6" /><Relationship Type="http://schemas.openxmlformats.org/officeDocument/2006/relationships/notesMaster" Target="/ppt/notesMasters/notesMaster1.xml" Id="R97defc20c6744b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d93d3a59224e1c" /><Relationship Type="http://schemas.openxmlformats.org/officeDocument/2006/relationships/notesMaster" Target="/ppt/notesMasters/notesMaster1.xml" Id="R841021156c5045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415b11942664161" /><Relationship Type="http://schemas.openxmlformats.org/officeDocument/2006/relationships/notesMaster" Target="/ppt/notesMasters/notesMaster1.xml" Id="Rebdfe31ae65741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5230b9cd1634867" /><Relationship Type="http://schemas.openxmlformats.org/officeDocument/2006/relationships/notesMaster" Target="/ppt/notesMasters/notesMaster1.xml" Id="R3e8ea46723844b3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8d4bcb16da646fa" /><Relationship Type="http://schemas.openxmlformats.org/officeDocument/2006/relationships/notesMaster" Target="/ppt/notesMasters/notesMaster1.xml" Id="R9239f9b776034b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96f805557d4a18" /><Relationship Type="http://schemas.openxmlformats.org/officeDocument/2006/relationships/notesMaster" Target="/ppt/notesMasters/notesMaster1.xml" Id="R14285453173648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d57b07b0e034825" /><Relationship Type="http://schemas.openxmlformats.org/officeDocument/2006/relationships/notesMaster" Target="/ppt/notesMasters/notesMaster1.xml" Id="Reb0a9d7180cc406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441b0d82560454b" /><Relationship Type="http://schemas.openxmlformats.org/officeDocument/2006/relationships/notesMaster" Target="/ppt/notesMasters/notesMaster1.xml" Id="R3855552e5a45419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7c9425cf8014223" /><Relationship Type="http://schemas.openxmlformats.org/officeDocument/2006/relationships/notesMaster" Target="/ppt/notesMasters/notesMaster1.xml" Id="R3eb41213ec9e43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3c2a5d15d484ebb" /><Relationship Type="http://schemas.openxmlformats.org/officeDocument/2006/relationships/notesMaster" Target="/ppt/notesMasters/notesMaster1.xml" Id="Ra174e095a740450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06019d3761347ac" /><Relationship Type="http://schemas.openxmlformats.org/officeDocument/2006/relationships/notesMaster" Target="/ppt/notesMasters/notesMaster1.xml" Id="R0ffa2f12e9c04bb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ac229dd12814ebc" /><Relationship Type="http://schemas.openxmlformats.org/officeDocument/2006/relationships/notesMaster" Target="/ppt/notesMasters/notesMaster1.xml" Id="R4e9a6a32dc88400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ac559c4d1214e65" /><Relationship Type="http://schemas.openxmlformats.org/officeDocument/2006/relationships/notesMaster" Target="/ppt/notesMasters/notesMaster1.xml" Id="R5f761c297ec04f8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95808890d034572" /><Relationship Type="http://schemas.openxmlformats.org/officeDocument/2006/relationships/notesMaster" Target="/ppt/notesMasters/notesMaster1.xml" Id="Reaa62c4cf94042f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bf635dbad7f4275" /><Relationship Type="http://schemas.openxmlformats.org/officeDocument/2006/relationships/notesMaster" Target="/ppt/notesMasters/notesMaster1.xml" Id="Rae45aadfb1f54f5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820f5d7f5994e24" /><Relationship Type="http://schemas.openxmlformats.org/officeDocument/2006/relationships/notesMaster" Target="/ppt/notesMasters/notesMaster1.xml" Id="R121cb53e5453403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401478732c24230" /><Relationship Type="http://schemas.openxmlformats.org/officeDocument/2006/relationships/notesMaster" Target="/ppt/notesMasters/notesMaster1.xml" Id="Raf18db78e7c94ed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5236881ea934e13" /><Relationship Type="http://schemas.openxmlformats.org/officeDocument/2006/relationships/notesMaster" Target="/ppt/notesMasters/notesMaster1.xml" Id="R724b4d8eb29d4ca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9cce58ead26404f" /><Relationship Type="http://schemas.openxmlformats.org/officeDocument/2006/relationships/notesMaster" Target="/ppt/notesMasters/notesMaster1.xml" Id="Rf65ee22127064f3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c55d569600943a9" /><Relationship Type="http://schemas.openxmlformats.org/officeDocument/2006/relationships/notesMaster" Target="/ppt/notesMasters/notesMaster1.xml" Id="R9ab8694a22cb44b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1fe518694e546ca" /><Relationship Type="http://schemas.openxmlformats.org/officeDocument/2006/relationships/notesMaster" Target="/ppt/notesMasters/notesMaster1.xml" Id="R15ac403abb044d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教學提示：承接 Week 04 的方法地圖。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教學提示：用銀行分行排隊或信用卡流失引例。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教學提示：強調痛點不能直接丟進模型。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教學提示：請學生比較模糊與清楚的問法。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教學提示：5W1H 用來整理情境，不代表所有問題都能得到因果答案。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教學提示：兩種知識必須互相補足。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教學提示：不使用虛構數字，只示範定義方式。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教學提示：在蒐集更多資料前先檢查用途。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教學提示：以資料洩漏的直覺例子說明。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教學提示：請學生用一句話寫金融分析問題。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教學提示：介紹 CRISP-DM 六階段。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教學提示：CRISP-DM 是框架，不是僵硬直線。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教學提示：將第一節內容放入流程。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教學提示：先理解，再清理。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教學提示：避免把清理簡化成刪除資料。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教學提示：用客戶地址、交易時間與身分代碼舉例。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教學提示：修正舊教材中平均拆分可視為真實日資料的風險。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教學提示：連結 Week 04 的方法選擇。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教學提示：部署不是把檔案寄給主管。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教學提示：用流程圖口頭回顧。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教學提示：從分析輸出轉為決策溝通。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教學提示：同一結果要依讀者調整層次。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教學提示：圖表只是工具，先說明分析目的。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教學提示：避免把完整資料表直接貼上投影片。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教學提示：強調大字與遠距閱讀。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教學提示：結果不直接證明原因。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教學提示：說限制會提升可信度。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教學提示：不以工具熱門程度作唯一判準。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教學提示：整合三節內容。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教學提示：預告 W06 集群方法，會從流程進入一項演算法。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164、168–218、222–259 頁，依新版重組規劃整併與更新。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9672dfd9a940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351775ac7c4406" /><Relationship Type="http://schemas.openxmlformats.org/officeDocument/2006/relationships/slideLayout" Target="/ppt/slideLayouts/slideLayout1.xml" Id="Rf3495f3a3ae947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495f3a3ae947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320334e1c4d9c" /><Relationship Type="http://schemas.openxmlformats.org/officeDocument/2006/relationships/notesSlide" Target="/ppt/notesSlides/notesSlide1.xml" Id="R52e31fbb509247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33d1645b74d63" /><Relationship Type="http://schemas.openxmlformats.org/officeDocument/2006/relationships/notesSlide" Target="/ppt/notesSlides/notesSlide2.xml" Id="Rbb5f843986a240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d4df293f84405" /><Relationship Type="http://schemas.openxmlformats.org/officeDocument/2006/relationships/notesSlide" Target="/ppt/notesSlides/notesSlide3.xml" Id="R80b22eb7471b44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4b0be527e42e4" /><Relationship Type="http://schemas.openxmlformats.org/officeDocument/2006/relationships/notesSlide" Target="/ppt/notesSlides/notesSlide4.xml" Id="R5fb3e72aa32444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5874715044ef0" /><Relationship Type="http://schemas.openxmlformats.org/officeDocument/2006/relationships/notesSlide" Target="/ppt/notesSlides/notesSlide5.xml" Id="R43305120769a4d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dd4577f2a482c" /><Relationship Type="http://schemas.openxmlformats.org/officeDocument/2006/relationships/notesSlide" Target="/ppt/notesSlides/notesSlide6.xml" Id="Re87f0071080d45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f386d53114d8f" /><Relationship Type="http://schemas.openxmlformats.org/officeDocument/2006/relationships/notesSlide" Target="/ppt/notesSlides/notesSlide7.xml" Id="R1ccbbcb6516c4a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0e31cc0734dd1" /><Relationship Type="http://schemas.openxmlformats.org/officeDocument/2006/relationships/notesSlide" Target="/ppt/notesSlides/notesSlide8.xml" Id="R468f6604569447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cca4860d04d14" /><Relationship Type="http://schemas.openxmlformats.org/officeDocument/2006/relationships/notesSlide" Target="/ppt/notesSlides/notesSlide9.xml" Id="R6c05b109b3ec4b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d5393c41548a6" /><Relationship Type="http://schemas.openxmlformats.org/officeDocument/2006/relationships/notesSlide" Target="/ppt/notesSlides/notesSlide10.xml" Id="Ra08690c8eb4542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8934de8524ff4" /><Relationship Type="http://schemas.openxmlformats.org/officeDocument/2006/relationships/notesSlide" Target="/ppt/notesSlides/notesSlide11.xml" Id="R71020ce7ce6f4b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e545aeae34e28" /><Relationship Type="http://schemas.openxmlformats.org/officeDocument/2006/relationships/notesSlide" Target="/ppt/notesSlides/notesSlide12.xml" Id="R34246bde511746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0840a1049493f" /><Relationship Type="http://schemas.openxmlformats.org/officeDocument/2006/relationships/notesSlide" Target="/ppt/notesSlides/notesSlide13.xml" Id="Ra30cb3a2f5f44b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0c4e44a614f73" /><Relationship Type="http://schemas.openxmlformats.org/officeDocument/2006/relationships/notesSlide" Target="/ppt/notesSlides/notesSlide14.xml" Id="Re9cc41ff523448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cf65c65be4d70" /><Relationship Type="http://schemas.openxmlformats.org/officeDocument/2006/relationships/notesSlide" Target="/ppt/notesSlides/notesSlide15.xml" Id="Rd9002a6381b243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71b1c0c1b4391" /><Relationship Type="http://schemas.openxmlformats.org/officeDocument/2006/relationships/notesSlide" Target="/ppt/notesSlides/notesSlide16.xml" Id="R310e4eb4459e468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a51fa7306424e" /><Relationship Type="http://schemas.openxmlformats.org/officeDocument/2006/relationships/notesSlide" Target="/ppt/notesSlides/notesSlide17.xml" Id="Rb0059e08a7054b6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2af73e55d4263" /><Relationship Type="http://schemas.openxmlformats.org/officeDocument/2006/relationships/notesSlide" Target="/ppt/notesSlides/notesSlide18.xml" Id="R29c8381de78f49c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0a11014ba435f" /><Relationship Type="http://schemas.openxmlformats.org/officeDocument/2006/relationships/notesSlide" Target="/ppt/notesSlides/notesSlide19.xml" Id="Rd7111017bc764af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cda7bbbda49ae" /><Relationship Type="http://schemas.openxmlformats.org/officeDocument/2006/relationships/notesSlide" Target="/ppt/notesSlides/notesSlide20.xml" Id="Rd3376097e4574c6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1299190aa4b0b" /><Relationship Type="http://schemas.openxmlformats.org/officeDocument/2006/relationships/notesSlide" Target="/ppt/notesSlides/notesSlide21.xml" Id="R9122e21929d84d6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63990e332414f" /><Relationship Type="http://schemas.openxmlformats.org/officeDocument/2006/relationships/notesSlide" Target="/ppt/notesSlides/notesSlide22.xml" Id="R6d2c0864252340e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fbe763339453d" /><Relationship Type="http://schemas.openxmlformats.org/officeDocument/2006/relationships/notesSlide" Target="/ppt/notesSlides/notesSlide23.xml" Id="R563cf478a2f74ba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f1ff616e64112" /><Relationship Type="http://schemas.openxmlformats.org/officeDocument/2006/relationships/notesSlide" Target="/ppt/notesSlides/notesSlide24.xml" Id="R0b41f216ef1c4f5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fd0b81088413c" /><Relationship Type="http://schemas.openxmlformats.org/officeDocument/2006/relationships/notesSlide" Target="/ppt/notesSlides/notesSlide25.xml" Id="Ref26d14170e9465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6ffc0cae64416" /><Relationship Type="http://schemas.openxmlformats.org/officeDocument/2006/relationships/notesSlide" Target="/ppt/notesSlides/notesSlide26.xml" Id="R8f17e39767c7454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8e55bf4a2408c" /><Relationship Type="http://schemas.openxmlformats.org/officeDocument/2006/relationships/notesSlide" Target="/ppt/notesSlides/notesSlide27.xml" Id="R6d2965d23df7496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350f7823b4ab9" /><Relationship Type="http://schemas.openxmlformats.org/officeDocument/2006/relationships/notesSlide" Target="/ppt/notesSlides/notesSlide28.xml" Id="R713195368ebe405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a773b3a4545aa" /><Relationship Type="http://schemas.openxmlformats.org/officeDocument/2006/relationships/notesSlide" Target="/ppt/notesSlides/notesSlide29.xml" Id="R783acfadf7fb43b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48ce56ed64908" /><Relationship Type="http://schemas.openxmlformats.org/officeDocument/2006/relationships/notesSlide" Target="/ppt/notesSlides/notesSlide30.xml" Id="Rc904e77cf2e34c8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d92ecbe6e409f" /><Relationship Type="http://schemas.openxmlformats.org/officeDocument/2006/relationships/notesSlide" Target="/ppt/notesSlides/notesSlide31.xml" Id="Ra16755ce256d421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29f1f599249af" /><Relationship Type="http://schemas.openxmlformats.org/officeDocument/2006/relationships/notesSlide" Target="/ppt/notesSlides/notesSlide32.xml" Id="R216d3f6f2a994e2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330ac739b46f5" /><Relationship Type="http://schemas.openxmlformats.org/officeDocument/2006/relationships/notesSlide" Target="/ppt/notesSlides/notesSlide33.xml" Id="R86740da9259247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075C7-5506-40C4-8CB5-E54FC03E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7CE10-0DE0-4A43-BA34-541E9460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05｜資料挖礦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4D661-6AF3-4887-9602-AE9A2B3B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三節路線：問題定義、分析流程、結果溝通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BA89D-A4E8-4B79-9FEF-E28B1B19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7A822-9838-4617-A65D-447682CB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21B8F-F546-446B-8BF8-FB4F70D3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634AC-C4AF-4208-AD65-2109FFEE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4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資料有價值，始於一個清楚的商業問題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3778F-1CE0-4612-A7EA-C5E20C52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E5E4A-5246-4C8E-993E-51A2C204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把痛點變成問題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3F31A-156A-4B0C-9A0A-4FBA089B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第二節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377A2-1CB4-4B56-BB1A-07FC50B3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CRISP-DM 與資料品質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BE494-1EF3-423D-8BDB-5F5CC6C7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第三節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5E151-4D10-4DDB-8531-6C639087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57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把結果變成行動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4293D-C820-4DEC-90FB-5525649F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81625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本週練習一套可重複使用的分析工作方式</a:t>
            </a:r>
          </a:p>
        </p:txBody>
      </p:sp>
    </p:spTree>
    <p:extLst>
      <p:ext uri="{BB962C8B-B14F-4D97-AF65-F5344CB8AC3E}">
        <p14:creationId xmlns:p14="http://schemas.microsoft.com/office/powerpoint/2010/main" val="108799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67471-9068-4658-97E7-0E748198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832BD-6DE5-40B1-BB54-9FEC10B6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資料探勘的商業起點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B203C-8E78-4246-B48D-B6109775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E73D0-2FCD-455E-8191-E7994FD2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59DFF-0B2E-4CCD-8EF3-114CC32B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0DDFB-D030-49CE-8FCA-1D0D6621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1038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3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先問要改善什麼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B85BF-00FF-48F4-9F97-2BDBE03E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0"/>
            <a:ext cx="781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BFC82-CB4D-42A9-8128-429499F0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100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演算法可以找出模式，但只有業務情境能判斷模式是否值得採取行動。</a:t>
            </a:r>
          </a:p>
        </p:txBody>
      </p:sp>
    </p:spTree>
    <p:extLst>
      <p:ext uri="{BB962C8B-B14F-4D97-AF65-F5344CB8AC3E}">
        <p14:creationId xmlns:p14="http://schemas.microsoft.com/office/powerpoint/2010/main" val="16994093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04B62-7AFB-4DCE-AE32-0B500B6A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2AD92-7FE7-4F87-A207-F14FF2BE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商業痛點與分析問題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846F4-2594-4812-BEAD-BCCB8849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981FE-1F4C-40C6-8DCD-CFAE2964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FF5E6-5B2F-4815-9CDB-7B0C2869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BC2E6-2E18-46CE-9035-1007FF34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商業痛點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59D4D-E754-421C-A4E7-651043E5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信用卡客戶逐漸停止使用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4E0CF-3DFE-4875-8C4D-85D989DF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A0994-5CD2-44BA-8B15-9442F4D7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分析問題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CD754-1AA7-4EF0-946F-30B3F136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哪些客戶未來三個月可能流失？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BFBDD-0CAA-4CCB-83AF-2506B83C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A828B-FDE8-4B30-851C-529A359E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衡量結果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D3DAF-0337-4E65-AB85-120A87AE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能否提早辨識並降低流失？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7DBB0-67DF-4AB8-925F-0CD8FCBF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6FD39-11C1-4D50-BAA5-085CD76F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預計行動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FBC61-A4E4-4E0C-BD8F-B0A7CDAA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安排關懷、服務改善或適合的方案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A9BF8-FF5B-44ED-AA39-7BABC176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09317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24B8F-3E15-4BEC-B13E-D0A5341A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A6A32-7E89-4260-AE02-A3F190A0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好問題的四個條件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3C2C9-CF17-45A9-B587-DCD48AF0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F4063-0133-46A3-B12B-20B53DC8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15F55-A74B-4EDC-B045-1B003E93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3BAA0-61B0-411C-94EB-5195D5AB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對象清楚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CD25C-2AB2-435C-A750-1E3DAC4E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要分析哪一群客戶、交易或案件？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329D6-0C15-443E-841D-CCB9BC91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25001-346C-413D-8734-798113E9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結果明確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3597F-7A0E-41FE-A1CE-E1A37D28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希望描述、分類、分群或預測什麼？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70E22-4032-4D09-A6D1-3B9F5B6A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2ED2F-E7D1-4474-84C2-F691FC96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期間明確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423B8-5B67-49CA-A204-F7FB4BD2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觀察多久，預測多遠？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69685-EFF4-456F-A30C-41FF15B4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A068D-269A-4324-BF9E-E98C0BDB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可以行動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5D6E9-D9B7-4908-8C5A-2A95B7DA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得到結果後，組織能採取什麼措施？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BE8E3-DB93-47D7-89F2-6DCBCB9A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835909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C68F4-BFF3-438B-83BD-82876FCD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533FA-0D62-4961-9F4C-255A3AEF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5W1H 問題盤點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26022-27C3-4B47-AD0C-0ACD7371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5C140-32AD-4631-AF86-01F609EB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B77D9-B6E1-471F-9091-2894096E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B927B-9E6E-4AE9-A3A1-9EAC2A48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What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66A66-7938-4C29-A401-4755FA7B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要解決的現象或結果是什麼？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B8D80-2690-4CCD-9B2B-74139767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467D9-2213-4071-8A73-CC16D698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Who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3463E-6647-4727-88EB-38EB4F03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涉及哪些客戶、商品或單位？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F484F-81EB-4E6A-8735-A31CB85D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BC6CA-E096-4700-B5CE-11719827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When 與 Where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1AF32-C25E-4092-B545-5801F05E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發生期間與管道在哪裡？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4CBB9-8919-47D2-B554-4C5D33AA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5301A-81BA-464E-9F4E-1ED66E85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Why 與 How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BB433-2464-4669-B5CE-34B081EE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可能原因與可採取的處理方式？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1AA5C-4AEA-4143-B425-82F1D708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313650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6945E-576D-4EDD-B979-D1FE510F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A7A7C-5D08-4AE9-AA63-7AFD9765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5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領域知識 Domain Knowledge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1CC7C-9879-4B59-B3CF-86AEE035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3DB84-EB50-406B-968A-49C375D7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5B3EC-F163-4F9F-B421-28EC5590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F9420-04C4-41BC-8D9F-32D3902D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資料人員知道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7EADF-B734-46F2-9BBB-FD2A89FC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業務人員知道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08DA3-63ED-4780-A789-AF9AE44B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96F5C-A298-471B-87E7-A49F1A0F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欄位內容與資料限制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可用方法與評估方式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如何重現分析結果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3AF1E-08A5-4752-A5B3-31B92350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流程與客戶情境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哪些錯誤成本較高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結果能否落地使用</a:t>
            </a:r>
          </a:p>
        </p:txBody>
      </p:sp>
    </p:spTree>
    <p:extLst>
      <p:ext uri="{BB962C8B-B14F-4D97-AF65-F5344CB8AC3E}">
        <p14:creationId xmlns:p14="http://schemas.microsoft.com/office/powerpoint/2010/main" val="5340425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889B0-5F97-4396-A603-EF86E1C4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F3995-CCCF-4BC1-9349-A04319E7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從模糊到可衡量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57EC3-03EB-405D-8694-72056213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975E6-D3A3-4036-8D94-99264124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A05B8-C499-4C76-8BBC-9C7CB7B8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B4830-1DAA-4702-811A-BB82E714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模糊說法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D5599-491D-416E-B9B5-5EDC1C40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找出重要客戶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BC2B4-B1D5-47F3-8B06-336FDC5A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3E8DA-713B-46E2-89EE-8CD809ED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對象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EC809-CEBB-41D2-8ED7-739EE03E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近十二個月有往來的個人客戶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B8CCF-A8A0-441E-890B-6E61AEE4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E67DF-3BF3-49BF-A728-6025E236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目標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0CC77-803A-48CC-9F00-24C48A8E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預測未來三個月停止主要服務的風險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D1A6C-39B5-4FB2-93ED-9B729673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4890FA-7F70-4D40-8CBA-D0AF3DD9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衡量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0483C-51C5-43A7-85FA-BD59B137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比較接觸組與未接觸組的留存變化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8FED1-E0AD-4E5C-A01E-27ADB626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877032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9EEEA-51AD-4608-9706-9D9A6BC6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7C6C1-D4A0-4949-BD32-6EFA48FB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問題與資料的第一次對照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60491-5A4D-4AE6-8079-8ADC0ECB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0056C-5A72-4891-A721-74106AE2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7F570-C4CD-40BB-9771-885F1414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3CCA7-4D68-4B83-ABE8-341758C3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想知道流失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D2B66-B3C7-4953-B7F9-4BC829A9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需要先定義何謂流失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EA967-CB47-4BE4-A4BC-E8745C34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87841-FAA9-4CEB-B544-4E69A1D0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想找原因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BB67F-BA59-4E37-8B2D-5166D496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需要可能影響結果的歷史特徵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63C81-1D12-48DF-8D68-E159F58A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B7F63-DE44-44CE-9938-DFFDC493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想即時攔截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A1D3C-4452-498B-AD80-447CDD92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資料必須在事件發生時可取得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CA2CA-E0D1-420A-AE56-E45C0FCF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CEC09-3CC7-44EA-9889-DBA5111B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想採取行動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BDF5F-9CB6-4F8B-9FCE-0E3615DE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資料使用要符合權限、法規與倫理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F80A3-89A9-4E18-A38F-6DA57D47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830576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E6638-7BBE-4476-9868-8E029230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95376-A6AB-47E7-84D5-EC5AB45B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常見的問題設定錯誤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C15A0-CE49-42D8-AEEE-8C8F1DD0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3175A-5726-4413-B4C5-F5E004BE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FE7AC-5E91-40A7-8748-22D65A2F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BC069-16A0-4026-A388-EFF1877C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目標太廣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0A437-BBA2-4BD3-BD6B-E84BA21D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希望一次解決所有客戶問題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ED9B4-ECC3-4B4B-BF41-618C1221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55D05-1429-487D-AE23-951FB14D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偷看未來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81FC4-001B-43FD-95DF-86EBA5D7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使用預測當下尚未出現的欄位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8A715-86A3-4895-A80A-1A3E7517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30C52-44AA-47C8-9DB3-1963F77C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指標錯位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EF729-6212-44C0-9239-425ED639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只追求模型分數，忽略業務成本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EF2B5-5C38-40B2-B77C-6AA1D444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79E49-E151-4BFF-AE07-28C5BBB4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無法行動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2CFD76-3EBB-4040-8095-2D4B637F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即使找到高風險對象，也沒有處理流程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9860B-AC11-4946-B529-CE3C3008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011347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639C1-058E-4D95-8222-B42EAEC2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56021-9839-481C-89E7-3BA146C9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第一節小結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054B6-2CF4-4BC1-8956-115A1B62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98FC7-061D-4408-8A8A-5A1ABB0D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12049-FA4F-404F-9EA1-37CF4E68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BC39B-FD54-48EA-A8D8-C35663E2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商業痛點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92D14-DD4D-41C1-A8A9-56B4630F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說明組織真正遇到的困難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4BB93-6B8B-4122-A968-AA64A707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C0623-2243-4270-8257-32328033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分析問題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81C0C-F5F3-45D5-902E-40424419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界定對象、結果與時間範圍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8834E-69B0-4EA6-8266-F8D58723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949C8-6483-43BD-91A5-9AFBD451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衡量目標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66C37-851D-45DF-BEEB-3C18F7E3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連結模型表現與業務效果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DCF0D9-B5CC-486E-ABA0-AF1E72DA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329D9-8A81-4CC6-9B9D-4A1E7954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領域知識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85C08-2B70-4C7C-856B-B68467CA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協助選資料、解釋結果與設計行動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445E0-C2C4-49AE-91BA-52689883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703371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267C4-7A5B-47BB-B56B-2F63D797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BB773-91D6-4376-BF83-25DD13FC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17F1D-6C2D-4888-A2B9-54657FC0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295A2-1EC5-44B0-A0B4-C20E3477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CDE2E-878E-499B-8093-30905FC9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953F1-0A59-46BF-8731-BB35D32F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47A10-F57F-4DDF-9DC8-48BE4B36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『提升業績』是否已是清楚的分析問題？（A 是　B 否）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FCEA5-CC79-4827-AC52-869530ED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5W1H 主要協助什麼？（A 整理問題情境　B 保證因果）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E3082-9EAB-487C-B237-CA6C68F8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預測問題需要說明什麼？（A 時間範圍　B 字體顏色）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5B9F2-E12B-46C8-9EE8-DC87D361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預測時使用未來才知道的欄位，屬於？（A 資料洩漏　B 分群）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E3CBA-7545-4DA4-97DB-1F6841B5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分析結果最好能連到什麼？（A 可採取的行動　B 更多術語）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4FDF0-ABE0-4257-B153-89F30E08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BD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F98B5-2530-4333-AE54-8B869CAF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答案：1-B　2-A　3-A　4-A　5-A</a:t>
            </a:r>
          </a:p>
        </p:txBody>
      </p:sp>
    </p:spTree>
    <p:extLst>
      <p:ext uri="{BB962C8B-B14F-4D97-AF65-F5344CB8AC3E}">
        <p14:creationId xmlns:p14="http://schemas.microsoft.com/office/powerpoint/2010/main" val="1495011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2A9AC-C00B-498A-A75C-9B667368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ED01D-B72E-4304-B541-E4192034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第二節｜CRISP-DM 與資料品質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59357-611E-496A-8421-E45B4098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F3A4F-7B3D-47A9-9B93-2819370B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2EF46-CD5A-41FB-B8E8-6DC704F9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8C0DC-68D6-4D97-A4DC-9F8609B0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3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分析流程會反覆修正，不是一次走完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ECD9C-2502-4E47-8473-96BAEB2A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76625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理解業務　理解資料　準備資料　建模　評估　部署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BFEE4-FEA9-4B26-ADA1-78ADAE3B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19625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任何一步發現問題，都可能回到前面重新調整</a:t>
            </a:r>
          </a:p>
        </p:txBody>
      </p:sp>
    </p:spTree>
    <p:extLst>
      <p:ext uri="{BB962C8B-B14F-4D97-AF65-F5344CB8AC3E}">
        <p14:creationId xmlns:p14="http://schemas.microsoft.com/office/powerpoint/2010/main" val="16429942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5C4D9C-3C15-41F3-8140-3975D903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5B2FF-A0D3-439D-BE03-DBAC082F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CRISP-DM 六個階段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63187-DF03-4AF7-8A4A-072975A1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9C5E0-0BDA-40CE-9A3A-F67EB6C2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2E7D0-82FF-4334-8A52-2141C6D9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9D650-0EF7-4A3A-97AF-0DE9C1E1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90AE6-762C-4EF4-AD67-12C40FC3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理解業務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96B26-2917-4E0F-9393-A293B97C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07397-1B8B-4200-BE38-6B02400B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38500"/>
            <a:ext cx="15430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目標與限制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1DF35-6998-47F3-B46B-210563B3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714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015EA-C493-41D2-AA60-5B201B1D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23837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理解資料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4DBF3-2B6B-4C1C-9648-0720EC31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00375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8F643-E0A5-4B17-AEAE-1AF0CE47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238500"/>
            <a:ext cx="15430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來源與品質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6A466-335E-4B01-ABE3-BA5F452B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14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BEEA90-1503-4756-A2DA-73C31A03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3837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資料準備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D530D-3D9A-4873-ACDA-BB9E1368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F6422-93BD-44D1-8124-2870C53C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15430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清理與轉換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03B0E8-9420-45D5-8690-A900C059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14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9B08B-2146-4057-8DF0-2EF73F16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3837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建模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7F119-23DC-4C98-BDB9-3F979269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3C75F0-31FB-4E18-8578-AC8FDB2C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38500"/>
            <a:ext cx="15430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選方法訓練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5D2B9-CEE7-4E52-B59E-2F1C0D9D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714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5DCAE3-467B-4AE0-AB36-D1EBFD37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23837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評估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916336-312E-4473-B528-8D34A33E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0375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8F3BE6-D519-4372-B495-B8F0D116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238500"/>
            <a:ext cx="15430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檢查是否可用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E4BC72-1816-4389-BE01-7F2D1797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714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D5E616-6CFF-46F5-ABD8-2CB04BB6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3837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部署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2F8BAE-7BF5-49ED-BE44-C8FADCE8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00375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16AD0B-3A31-4C96-A0C7-B75FB03F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238500"/>
            <a:ext cx="15430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投入流程並監測</a:t>
            </a:r>
          </a:p>
        </p:txBody>
      </p:sp>
    </p:spTree>
    <p:extLst>
      <p:ext uri="{BB962C8B-B14F-4D97-AF65-F5344CB8AC3E}">
        <p14:creationId xmlns:p14="http://schemas.microsoft.com/office/powerpoint/2010/main" val="2456396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9B588-8730-4DEA-BE0E-75C5253E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D4F23-7D3A-4DDE-949C-565BF438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一、理解業務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333B6-EED8-42DA-A3AD-B0B19B4C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0004B-831A-407A-85BE-EE1C9B05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09E38-E92F-4470-9C43-00D0248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41A44-2F47-4DDF-9841-CC818882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決策問題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CBEAB-A4A8-45E8-BE9B-C434AFB1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誰要用結果，準備做什麼決定？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F35DC-1C4E-4E9A-BE62-4619D844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F9A68-F968-4267-A8CE-22C2773B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成功標準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6B22B9-5A0F-4650-A14C-E764B52A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如何判斷分析對業務有幫助？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41F1D-4014-4610-86F3-7BBD7625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63971-79AD-4F71-9D52-B8311D13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限制條件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6F434-D77E-4EB9-AC22-752FE003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時間、成本、法規與人力有哪些限制？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513A4-66F3-4779-B571-3148AA0D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A7309-41F2-41D4-9F11-88581377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風險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3D0F3-0955-47FB-86FE-192E73BB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誤判可能影響哪些客戶與流程？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CFA4A-822C-45A8-8EF4-F2F484A7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808205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CEF0F-3FF4-44AB-94B5-88A7C327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53262-A7F0-4C6F-B323-9093A967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二、理解資料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176AB-CBDF-4D5B-9F03-F3439CCD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D30A3-3928-4653-8876-56BD42A0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4E106-749E-4CF2-A3D0-714C5F24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FAC0F-198F-41BF-833E-5D398A91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資料來源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4DA74-6649-4A17-9E42-E87F2BB1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交易、客戶、通路或外部資料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1F94B-B2D0-4D06-B1E9-8D0D9F07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2CD26-3E8D-41FE-9152-E1B7835C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涵蓋範圍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43811-B512-4775-B75F-44A0D816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期間、對象與缺漏是否符合問題？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C8CFD-1553-46FC-92D2-80A9D617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66BB7-8E72-407E-A7C8-F244291D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欄位意義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2A4EB-8388-4837-9E6E-711EBAED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同名欄位是否具有相同定義？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41FCC-5EC5-4D0B-A733-C7020FD2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5CBBA-7729-4331-8656-F96E7091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初步探索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175B1-DC4A-4A05-BFC1-4085879E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分布、異常值與時間變化是否合理？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36CC5-A370-432E-AF23-53AF60D8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92425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71875-FF31-4502-904B-07D49925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97D6C-2FE8-4BD0-8D3B-01393C8D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三、資料準備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1BC0C-12E6-4E88-9C06-64F7CAF1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435D7-D850-44E0-B8EB-49912B3D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1745F-0956-4140-9131-17D7689E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C162C-8E81-477C-AC5E-EEC34D3E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選擇欄位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12D36-5E58-400C-9BA3-7C1C3152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保留與問題及方法有關的資料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5B924-155B-4AF9-B52F-B5AA2662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EF99E-9FA1-48EA-A01A-EC56B443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處理缺漏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2453B-9EF5-4045-A805-91BF2A87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確認缺值原因，再決定補值或排除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E1483-3CD0-4E95-B193-461A0A5F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F260F-8C5A-42EE-A2DC-D570F1D5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統一格式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58435-64DC-42D0-81F5-6D2489D7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日期、幣別、單位與代碼保持一致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5EFDD-AA05-4008-BF2C-8CBC931A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1C9F3-AC6B-4506-853E-A704381C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建立特徵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D7537-3157-45A6-8A9F-44EC8453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把原始紀錄整理成可分析的欄位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EFE28-816E-4704-A7B1-2BAE3022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009150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1146F-E126-4CEF-AA4A-2F634A42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D2748-13A7-4B85-9EED-A0B49D2C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資料品質的六個面向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5FB63-E287-42C6-92C4-5929D6BE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554DC-1670-4058-94D2-8BBBB639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CD77C-7E2D-42DE-A4A9-4FDD7417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FC670-7458-48C3-8B48-F528CBE4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內容品質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9FAB7-26D5-457F-B8D4-EFF0706B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使用品質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9147A-3EE3-4469-861E-33200CB6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90E22-E7CD-454C-A15A-F87D0738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正確性：資料與現實是否一致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完整性：必要資料是否缺漏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一致性：不同系統定義是否相同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FF3DA-80D6-492F-A2E5-D4C2BE8F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即時性：更新速度是否符合需求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唯一性：同一對象是否重複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有效性：格式與範圍是否合理</a:t>
            </a:r>
          </a:p>
        </p:txBody>
      </p:sp>
    </p:spTree>
    <p:extLst>
      <p:ext uri="{BB962C8B-B14F-4D97-AF65-F5344CB8AC3E}">
        <p14:creationId xmlns:p14="http://schemas.microsoft.com/office/powerpoint/2010/main" val="1522418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17F91-F963-452C-B427-E63F3A71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EF2CF-677A-47E1-A367-107468AB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資料顆粒度 Granularity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561F1-7070-4DE0-B7B4-6050A821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38B0C-561A-4C7A-B742-AB67D28A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8F58D-A777-45F4-A332-A7007960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79643-573D-494F-B338-4653E89F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較細顆粒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B471D-72F8-4219-AE3E-F7AD2C53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每筆交易、每日價格或單次客服紀錄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83393-CCA7-4DC7-9A84-2E35B656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F3478-CE25-43D8-9B76-1981B1B2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較粗顆粒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E5720-8EBE-4FA2-82A0-C6AC2A2F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每月彙總、年度平均或客群總計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6D37A-C34E-4762-A9D9-BE7CCCE5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6812C-499C-4C1E-80C6-1651FB57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由細到粗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62E8C-EB80-4C78-ABD7-997555D8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可以彙總，但會失去部分細節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D178B-EAFF-4F7E-B510-2B29DABA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D72F03-F60C-42E3-A756-B59765D5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由粗到細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44456-10AD-477B-B9AC-0CB4C6F7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無法還原真實明細，容易產生錯覺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65017F-B4ED-4693-8FE8-099D6477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557269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B16EF-AF68-4446-A5B2-4A83D08F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0155E-623C-4E49-8A1F-9C8DA804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四、建模與五、評估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3D542-0362-490E-8AF7-2DFF3BB5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EAC86-385C-40AC-9609-42F65A79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F8805-C2CC-40CE-952B-DE5F9407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CDA17-89D4-40CD-BF6A-8F97D0A7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建模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04C10-AAD7-4E54-9B01-FB7BF2EF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依問題、資料型態與解釋需求選方法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86736-53D3-4399-B2ED-7369E532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CB850-E58D-42FF-B451-159C10FC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技術評估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C54A4-763B-48FA-9976-5BE76446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使用未見資料檢查錯誤與穩定性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BB9C6-697B-4399-B73E-2E07047E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14CA0-7C69-4A90-B34E-02ABA5A8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業務評估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45D8D-3F09-4463-BD17-C121AF1E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判斷結果能否改善原先問題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0EAD8-1DF0-468B-9B96-3910FAEE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DBA9F-7D54-45A8-90A1-16AB3EF7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回頭修正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30C4B-51BD-4011-B9EC-1E27EFCB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若結果無法使用，重新檢查問題與資料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EE66B-03F8-4EF8-85C3-526C652C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769748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491A7-2D62-4AD4-912D-43C8C959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5E3F3-0225-4236-BC9A-12FF2C68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六、部署與持續監測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21D04-2B29-493D-8C11-24846009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1EB81-99D7-40BD-ABA6-6A0722D9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F57A2-0AF6-450A-9387-B9268240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31535-31C3-48D6-83F1-B0F78CD8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投入流程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AC206-AD02-4464-A47E-906FC60B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把分數、規則或分群連到實際作業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47F82-6771-4CDD-9D21-03A024BA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26ECB-7192-4308-AEF5-8A452CC8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權責設計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74F44-28FF-4340-8385-65F1F67C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規定誰可以查看、覆核與採取行動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91C0D-C647-4276-88FC-46C6DBCE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3D91C-3E7E-407C-A977-FDF36504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效果追蹤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3D942-D63A-49C1-BEA4-669F596C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觀察使用後是否改善原定指標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631E5-1E72-4503-9C05-F73709E8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50AD18-BB85-4063-BB42-910EA1D0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模型監測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01BEE-6529-473F-80D7-C23D7442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資料或環境改變時重新評估與更新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44033-E1C7-412C-9FCC-BD5453EB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606249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0C7BC-6467-4443-8012-431E905B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B0E5C-CC18-4944-919B-970707E3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70897-ACFE-49E8-800E-CA606043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FF6BE-2A4C-4825-B670-F6345075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EF472-04CC-4677-8C55-DF5E96BC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83573-BC60-44F0-B642-9D6D4825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CRISP-DM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D1C79-F8E3-402A-A746-6AF8113A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把商業問題連到資料、模型與行動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CFA7C-F785-4B1A-AEC3-AF60761F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1B14E-0951-4D34-9F1B-AA4618FE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資料品質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89A13-44E2-4E8F-BEB8-67570D33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正確、完整、一致、即時、唯一與有效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32AEB-65FD-4B75-AAA3-8DC79FE3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5A80E-ACB9-4800-8FD6-F5833591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顆粒度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EE9CD-C0E8-4086-96A8-921A01F1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分析單位必須配合問題與時間範圍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EC1AD-9050-4E5A-9F87-C8E48261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9633FD-3FBB-418A-A1BA-29049864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反覆修正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DF8E5-EA52-4990-9B10-4E1510D8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評估或部署發現問題時，回到前段調整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E6F45-163C-46B3-9AFC-F5EC4FF9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616448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A8517-E0A9-47FC-A82E-128937C6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FBD9A-562A-4BA3-963E-3AED1614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C242B-4208-404A-BA0C-F6B372F7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49AEA-EB22-4059-8940-BFFBA504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E3A07-6D8E-409B-BCC6-9E5CBA7D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FC14B-B62E-41E5-B2F8-32FD619E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D4003-8E63-47E5-AC48-E890D0E2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CRISP-DM 第一個階段是？（A 理解業務　B 建模）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A558F-CCCE-4982-9DC2-1083740A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發現欄位定義不同，主要是哪項品質問題？（A 一致性　B 顏色）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62876-2033-4E38-84BD-2FA2C05B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每筆交易相較月彙總，顆粒度較？（A 細　B 粗）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22E99-A9AE-47BA-8866-86B6F7E7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由月總額能否還原每天真實交易？（A 能　B 不能）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53B16-F687-43EB-A2BC-0DD063A4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部署之後是否仍要監測？（A 要　B 不用）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00D9D-F8B1-4722-9461-D02FAF5D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978BB-04B3-4876-8DD4-4EB6E171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3-A　4-B　5-A</a:t>
            </a:r>
          </a:p>
        </p:txBody>
      </p:sp>
    </p:spTree>
    <p:extLst>
      <p:ext uri="{BB962C8B-B14F-4D97-AF65-F5344CB8AC3E}">
        <p14:creationId xmlns:p14="http://schemas.microsoft.com/office/powerpoint/2010/main" val="16572661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4669D-7F4B-4420-BAAB-22B1268C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396E4-5274-44F6-AC87-94C2ED84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第三節｜結果溝通與工具選擇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22473-DE34-4E82-9D7F-9C192FBF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88C84-6FB7-466B-90DF-04214E2C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9898C-C68F-4CD8-83E4-DA6A2456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E6484-0FAF-4313-A5C0-97075924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2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主管需要的是可判斷、可追問、可行動的結果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6A70E-EBD8-4E79-8093-B73A18E8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76625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說清楚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4DAF4-FFC3-424B-9B3E-5589713B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問題與結論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373AC-0D67-4EBF-AED2-02CB7C55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76625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選對圖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0B9BF-CBBA-4558-99C8-8F671F36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配合比較目的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7D4C6-2423-4880-8717-5EDA71AC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76625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9852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B9852D"/>
                </a:solidFill>
                <a:latin typeface="微軟正黑體"/>
                <a:ea typeface="微軟正黑體"/>
                <a:cs typeface="微軟正黑體"/>
              </a:rPr>
              <a:t>交代限制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63A60-FE34-4EB7-8E59-B85FFF12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避免過度推論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F1883-47BC-4D3B-A8C6-3A094A51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6625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提出行動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D87A4-4186-4505-9A68-E234CC78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說明責任與追蹤</a:t>
            </a:r>
          </a:p>
        </p:txBody>
      </p:sp>
    </p:spTree>
    <p:extLst>
      <p:ext uri="{BB962C8B-B14F-4D97-AF65-F5344CB8AC3E}">
        <p14:creationId xmlns:p14="http://schemas.microsoft.com/office/powerpoint/2010/main" val="45299181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244E1-A393-470F-9532-76219FC1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CC648-D91C-4FF5-884C-92C3E41B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結果溝通的四個問題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FA2C4-2DA6-4461-9554-7EB89B53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8BD9D-24A8-4007-92E4-ECCF7885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23475-B0CA-41FD-9783-09444FF7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DB901-38D1-4A6D-9CE6-C301158F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對誰說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D760E-13CF-45AF-97EA-95342E27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主管、分析人員與第一線需要的細節不同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545CC-29D8-4076-B710-AE399890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77B79-745E-44D5-A792-DED78F1E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說什麼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C93AB-36B3-43EC-9033-C11424E2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先回答問題，再提供證據與必要背景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F99EB-CF7D-46D6-A57B-D478C51D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52029-2220-4593-B9CC-3638BA04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如何呈現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CDC89-818C-4163-A15B-27AB7261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表格、圖表或文字要配合比較目的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D4DC4-150F-4EF8-965A-306DFCF9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FEC33-9C38-4ADD-B0D8-8DC79184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希望做什麼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A9405-E5CC-47FF-B82A-27B7E118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說明可選行動、風險與後續追蹤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319F8-93E1-471B-B1DC-E216D123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9297066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35B863-7649-4FFB-BC7E-DD38D9CD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9336B-6BAE-4F02-AABB-A67BCBC4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圖表依問題選擇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80729-3679-4D7E-99E1-DD76487E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A7047-6522-404C-A67D-F9274FB9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D7713-22E2-4F2A-B6C4-B74E72FB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97944-39AA-42B9-AE6E-FA672D32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比較大小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B8A79-6B67-41D3-A0B6-707C13F4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長條圖適合比較不同類別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19CF6-9767-4899-8CF5-56F6A4ED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2AD50-D5F5-42F3-9DC6-D802E4BE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觀察時間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F1C04-0131-4874-9690-389C45CA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折線圖適合呈現隨時間變化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E3C16-B126-490A-807D-0E73B380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0227C-DB2F-4083-9D5A-5F244F49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查看分布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BF6C2-37A7-43EA-85A0-666BBC8B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直方圖或箱形圖協助看集中與異常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ADC97-E0FD-489B-8C95-744961E1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04A2C-C4BF-4C4B-9751-B62E1EC5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觀察關係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C1C64-14C8-46C0-8A6C-5D7544D9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散佈圖呈現兩個數值欄位的關係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C3E01-A1BA-4B6D-A143-05DADACF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139006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06C35-A824-457B-A162-F00CDD76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FDD9A-E846-4860-815D-435D1BE5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表格與圖表的分工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A68BA-580B-487D-AFF1-43DE74D8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E08A3-1EA2-4D04-87FD-21F13633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86497-1ABA-4A06-80FC-A787B826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6057C-E47F-41DB-85AC-C4DBB27F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表格較適合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10AAA-66E0-43BF-8093-23418B6B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圖表較適合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58822-C338-4B4D-8E59-982BBD55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1B3ED-15E0-41BB-A137-AC1998BD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查找精確數值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呈現少量欄位與明細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需要逐項核對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638BB-A50A-46DA-AC65-2222846F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快速看出比較與趨勢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發現分布或異常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協助口頭說明重點</a:t>
            </a:r>
          </a:p>
        </p:txBody>
      </p:sp>
    </p:spTree>
    <p:extLst>
      <p:ext uri="{BB962C8B-B14F-4D97-AF65-F5344CB8AC3E}">
        <p14:creationId xmlns:p14="http://schemas.microsoft.com/office/powerpoint/2010/main" val="16131001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C89E7-3FAF-4AEA-9133-700B904D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1181D-B58E-4280-8236-BD35012C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一張圖只說一個重點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8955A-4F4F-4677-8B85-18E1695C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A7E7C-39F1-4C8F-8917-DD061283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A1544-FD72-4A28-BCC2-EA948C09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714D1-B08E-4F43-82B9-F21CA31D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明確標題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C153F-9E59-4EAD-9138-0A97F661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直接指出圖中比較的主題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FEAB2-82F8-46C9-BB60-095FA987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0939A-0305-4526-84B2-4285CEDB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單位完整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7C059-0AF8-415E-8942-51FBCD41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金額、比例與期間不可省略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F83B5-CBC7-492E-92BF-3C349295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7BBC2-366B-48A4-A2C6-662520B3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視覺簡潔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6EECD-A02F-42BF-8B7C-E61A1BBC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移除不影響理解的裝飾與網格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EEFA7-169F-4AFD-8ADA-857F3C74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E9CC1-6530-4C27-9365-2A2FC919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重點標示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CF042-77AD-45E1-8031-71DD3E3E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只凸顯需要讀者注意的部分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B0BA3C-3D6B-4F07-A9C0-D3F9354C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728558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7FB26-3F24-4FE0-A688-73E7D621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389CD-F405-4FC9-A17B-967C39B0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從結果到管理意涵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627C4-B6F5-45CD-A515-9BBFAF48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F3461-4F94-4B46-9236-4AC6FA97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CCB48-9448-49CB-99A5-706A0F8B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D95C0-83C2-4A44-A181-D369AC10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分析結果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D638E-ACBE-44DE-9D6B-C8B4397F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高流失風險集中在特定服務階段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72A21-A737-4723-95B7-C9B39BC2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54663-6E6A-459D-93A3-4C9855CB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可能解釋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1EDA9-C817-4F11-8E96-99C3868C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流程等待或溝通落差可能影響體驗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020DE-E9E5-45A4-9670-932FCE6D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CD094-CB01-4DC3-BD7E-29BCCF8A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仍需驗證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4F104-A62B-44BE-8D46-8C87C4E8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訪談、抽樣查核或小規模測試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7C261-0C2F-4662-AD23-52193B5F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1EF320-56FE-4321-92BB-B72AFC91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行動建議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7104B-1402-44E3-97F7-91951A71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先改善該階段，再追蹤留存是否改變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D4BFA-EC47-42E0-AB67-7CE67C13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2836534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1D3E98-9249-400B-8508-0E7953F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9E7E5-CBBF-4987-ADF1-8387333E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限制一定要說明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E48FB-96A9-48F1-B9AE-9A607E98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D700F-215D-48CB-BC9B-18EC7979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FD85E-1BCA-4CFD-A7CC-6A752A94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9BC6B-3259-488A-88A0-C23FAB6D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資料限制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DC052-F1D4-4274-95EA-CE2D8578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期間、樣本與缺漏可能影響代表性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09631-4FEA-4B8A-BBAF-97331F23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A50FE-BBB9-465F-9A78-CDFEBE83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方法限制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94C2F-35E2-4A38-AA25-C9E750B0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模型分數不是保證，關聯也不是因果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0937B-1D51-4810-9052-468DC126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677B9-D936-4864-9E8B-97132BF0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使用限制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72AEA-B527-4C37-B3C1-54C14321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適用的客群、通路與時間範圍要清楚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283F4-D414-4D9F-B5D3-D1B07485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0CEA7-6C3F-4749-9E33-0BD6409C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公平與隱私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E4296-2C3F-4AD9-B43C-B4175D42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檢查差異影響並限制不必要的資料使用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6D511-2BE4-4A73-8C29-B9BA6E7D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4179982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63043-531C-4D3D-BC9C-D98277AC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80F46-14D2-4046-8AC1-9F7BF8E5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工具選擇的判斷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2D046-152D-44A2-A508-D584DBB6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1DEA4-A9E8-4065-A446-8EEFF755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961B4-A67F-46F9-B167-84BDC8B9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6EFFA-9CD9-4308-B0B7-19C91179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資料規模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6A2EF-75C8-4FC6-AD87-AB8B2B93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一般試算表能否安全、穩定處理？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9B28A-E314-4893-9F64-A5C3DFBA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E43AE-FCBC-4FBB-99C1-426D1FF4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分析需求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66488-1D50-499E-A669-D7D6AD04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需要清理、建模、視覺化或即時監測？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B563E-94A8-4732-9723-CED620FD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B9DBF-8B9E-4C31-931B-62C3AE20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使用者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7221D-5EB2-488D-916C-20072A26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誰要操作，技能與權限如何？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24426-2CAD-456A-B1B8-81A1D5B0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31707-D829-4957-94B8-8DA365F5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維護成本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1E91C-7CFA-4D49-ADE6-041C9FB7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更新、授權、稽核與交接是否可負擔？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20FFB-3DC3-4FC6-AC90-CD41880D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6205760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E6373F-D118-4F26-97E9-B713FC97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2A32C-E955-4959-8B71-0A214DDD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金融案例完整串接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6B044-3063-4860-86E4-B1CFF88D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DBFCF-F157-4A9C-8544-51064F4F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8699E-5742-4E02-9270-558736B8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C2399-AAAD-4D75-A4DF-1AD99610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DBAFA-9A2C-4E3B-83E0-AE70EB09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辨識未來三個月可能流失的信用卡客戶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A17EE-1578-4DE4-AD02-516DD1A8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050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75413-957A-4D4B-A9FD-579ECD36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47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EE5E8-9DF7-4E77-B281-3D06BCA6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76676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往來、服務與客訴紀錄，先檢查品質與權限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7FE5D-A4F8-4D2B-90C7-D0F48FC7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71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FD0B1-6323-46EA-AA84-D6222A1F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247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B7208-76D4-4E81-AED3-2BC69752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9925"/>
            <a:ext cx="76676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使用歷史流失標籤建立分類模型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8616D-2096-493A-B8CC-B5525258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35F60-EA71-4B08-A4DA-DF810D27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247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溝通與行動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456FB-2637-48AC-AE99-571B6CAD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76700"/>
            <a:ext cx="76676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呈現高風險特徵、限制與關懷方案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4767B-1EF6-4D57-A27C-857EF1E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05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191C4B-D528-4DA7-87BD-53F97033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43475"/>
            <a:ext cx="247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追蹤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F79C5-0195-4981-B929-4D1230F8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43475"/>
            <a:ext cx="76676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比較留存、客訴與誤擾情形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F23A9-13B2-40DD-A6FB-48B59AC4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721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3355992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75BE0-16F9-412E-B618-67380FD2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DD3BB-8506-4286-A123-FC31D972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05 全週小結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F0B9D-3446-4024-843E-69143D4F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73128-E8E9-4295-9B45-3A51F705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3AA0A-6321-4EC9-8892-9113F6F9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FA074-7DBC-484D-85E9-AED8A0A2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問題定義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D7F5D-203A-48B0-A96E-10DA17F5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從痛點界定對象、結果、期間與行動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C7510-BD20-4D60-BA20-AD6E299D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96AE6-093C-4590-A820-68C40519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分析流程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2DC6F-E759-440F-8126-DCB48DCB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以 CRISP-DM 串連業務、資料、模型與部署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E26D6-4CCD-43CB-90F6-29CFE37A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1CFF5-24F9-49AD-8F74-F3F59984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資料品質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FF357-4E05-432F-9485-442D445E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確認欄位意義、顆粒度與使用限制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2B07C-D7A5-48E1-A03A-19C9C619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11953-65FF-4E61-8D16-DD21011E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結果溝通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0F2B6-1385-4AAC-B0A1-97713B69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用適合的圖表呈現證據、限制與建議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AD8FA-7301-4522-8FC2-1488D595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3614739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1BE60-39C1-4B2B-8761-A07B894E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BE763-9703-45F4-9FF5-0638F044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002B5-F5EC-4B2D-898F-C1CFE79F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DBDD9-9FA4-4DA8-BBA7-B4F4ABAF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20FBA-C339-438C-8138-80818EBD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16F49-43AA-486B-8A98-B04F04E6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935EF-B702-4152-929C-CBAA08DA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觀察月度變化較適合？（A 折線圖　B 圓餅圖）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92EB7-7E07-4B27-B379-B0D8B6DB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查找精確數值通常較適合？（A 表格　B 裝飾圖）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270BF-0EE5-415E-9142-79004DA0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分析結果是否必然代表因果？（A 是　B 否）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2DAD7-3821-4E52-BA61-25326D52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好的建議需要同時說明？（A 行動與限制　B 只有工具名稱）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53539-9EA0-455B-A5B8-B835FC6F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工具選擇是否只看流行程度？（A 是　B 否）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319CD-2311-428C-BFEE-9DBCF3EC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E6D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34CCC-505E-4D7C-9669-39EB7E0A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3-B　4-A　5-B</a:t>
            </a:r>
          </a:p>
        </p:txBody>
      </p:sp>
    </p:spTree>
    <p:extLst>
      <p:ext uri="{BB962C8B-B14F-4D97-AF65-F5344CB8AC3E}">
        <p14:creationId xmlns:p14="http://schemas.microsoft.com/office/powerpoint/2010/main" val="11783100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2026-09-04T07:10:24.3350000Z</dcterms:created>
  <dcterms:modified xsi:type="dcterms:W3CDTF">2026-09-04T07:10:24.3350000Z</dcterms:modified>
</coreProperties>
</file>