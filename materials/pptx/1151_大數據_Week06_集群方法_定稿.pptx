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73fa865f5459d" /><Relationship Type="http://schemas.openxmlformats.org/officeDocument/2006/relationships/extended-properties" Target="/docProps/app.xml" Id="Re14cffaa11714f4b" /><Relationship Type="http://schemas.openxmlformats.org/officeDocument/2006/relationships/officeDocument" Target="/ppt/presentation.xml" Id="R03a16207908e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e5c31a8f440ca"/>
  </p:sldMasterIdLst>
  <p:notesMasterIdLst>
    <p:notesMasterId xmlns:r="http://schemas.openxmlformats.org/officeDocument/2006/relationships" r:id="R3ba0bef1b4584ebb"/>
  </p:notesMasterIdLst>
  <p:sldIdLst>
    <p:sldId xmlns:r="http://schemas.openxmlformats.org/officeDocument/2006/relationships" id="256" r:id="Rf4b21fc33e6245a5"/>
    <p:sldId xmlns:r="http://schemas.openxmlformats.org/officeDocument/2006/relationships" id="257" r:id="Rbe6fba1a5d8847ff"/>
    <p:sldId xmlns:r="http://schemas.openxmlformats.org/officeDocument/2006/relationships" id="258" r:id="R22b833e316da4c7f"/>
    <p:sldId xmlns:r="http://schemas.openxmlformats.org/officeDocument/2006/relationships" id="259" r:id="R5f78e6d5ebd347e8"/>
    <p:sldId xmlns:r="http://schemas.openxmlformats.org/officeDocument/2006/relationships" id="260" r:id="R1a799c237dfc4971"/>
    <p:sldId xmlns:r="http://schemas.openxmlformats.org/officeDocument/2006/relationships" id="261" r:id="R6916a43bc4df4f73"/>
    <p:sldId xmlns:r="http://schemas.openxmlformats.org/officeDocument/2006/relationships" id="262" r:id="R656230d3a91b4673"/>
    <p:sldId xmlns:r="http://schemas.openxmlformats.org/officeDocument/2006/relationships" id="263" r:id="Rdac927180b504f3c"/>
    <p:sldId xmlns:r="http://schemas.openxmlformats.org/officeDocument/2006/relationships" id="264" r:id="R22ac0bddaa914845"/>
    <p:sldId xmlns:r="http://schemas.openxmlformats.org/officeDocument/2006/relationships" id="265" r:id="R61da6f8323764f8f"/>
    <p:sldId xmlns:r="http://schemas.openxmlformats.org/officeDocument/2006/relationships" id="266" r:id="Reea5c147f78d4873"/>
    <p:sldId xmlns:r="http://schemas.openxmlformats.org/officeDocument/2006/relationships" id="267" r:id="Rca2f9c93f1064526"/>
    <p:sldId xmlns:r="http://schemas.openxmlformats.org/officeDocument/2006/relationships" id="268" r:id="R02e4002ca0dd4e4d"/>
    <p:sldId xmlns:r="http://schemas.openxmlformats.org/officeDocument/2006/relationships" id="269" r:id="R0db636e5297c4d1f"/>
    <p:sldId xmlns:r="http://schemas.openxmlformats.org/officeDocument/2006/relationships" id="270" r:id="Re942f7a594694b9e"/>
    <p:sldId xmlns:r="http://schemas.openxmlformats.org/officeDocument/2006/relationships" id="271" r:id="R4d724cfc178f4f58"/>
    <p:sldId xmlns:r="http://schemas.openxmlformats.org/officeDocument/2006/relationships" id="272" r:id="R131fd838b81a4bd6"/>
    <p:sldId xmlns:r="http://schemas.openxmlformats.org/officeDocument/2006/relationships" id="273" r:id="R237e27117ab84105"/>
    <p:sldId xmlns:r="http://schemas.openxmlformats.org/officeDocument/2006/relationships" id="274" r:id="R91d3d799ce924290"/>
    <p:sldId xmlns:r="http://schemas.openxmlformats.org/officeDocument/2006/relationships" id="275" r:id="Rf79cdceb18ab493f"/>
    <p:sldId xmlns:r="http://schemas.openxmlformats.org/officeDocument/2006/relationships" id="276" r:id="Rf85c92e85cd348d8"/>
    <p:sldId xmlns:r="http://schemas.openxmlformats.org/officeDocument/2006/relationships" id="277" r:id="R2bb1494d9e8e418c"/>
    <p:sldId xmlns:r="http://schemas.openxmlformats.org/officeDocument/2006/relationships" id="278" r:id="R3f6cc335a8e6403f"/>
    <p:sldId xmlns:r="http://schemas.openxmlformats.org/officeDocument/2006/relationships" id="279" r:id="Rf44cb667c2a74a55"/>
    <p:sldId xmlns:r="http://schemas.openxmlformats.org/officeDocument/2006/relationships" id="280" r:id="R5dcb5356a35e4a6e"/>
    <p:sldId xmlns:r="http://schemas.openxmlformats.org/officeDocument/2006/relationships" id="281" r:id="R317db5277a7741b9"/>
    <p:sldId xmlns:r="http://schemas.openxmlformats.org/officeDocument/2006/relationships" id="282" r:id="R05a669b38f4a49a3"/>
    <p:sldId xmlns:r="http://schemas.openxmlformats.org/officeDocument/2006/relationships" id="283" r:id="R5cee92c95b974ebc"/>
    <p:sldId xmlns:r="http://schemas.openxmlformats.org/officeDocument/2006/relationships" id="284" r:id="R3e867f750c414a76"/>
    <p:sldId xmlns:r="http://schemas.openxmlformats.org/officeDocument/2006/relationships" id="285" r:id="Rf571835527244f40"/>
    <p:sldId xmlns:r="http://schemas.openxmlformats.org/officeDocument/2006/relationships" id="286" r:id="Rcb355143a2364b07"/>
    <p:sldId xmlns:r="http://schemas.openxmlformats.org/officeDocument/2006/relationships" id="287" r:id="R9a176646b0904925"/>
    <p:sldId xmlns:r="http://schemas.openxmlformats.org/officeDocument/2006/relationships" id="288" r:id="R7e91889261a343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5904f56084a55" /><Relationship Type="http://schemas.openxmlformats.org/officeDocument/2006/relationships/slideMaster" Target="/ppt/slideMasters/slideMaster1.xml" Id="Rda1e5c31a8f440ca" /><Relationship Type="http://schemas.openxmlformats.org/officeDocument/2006/relationships/notesMaster" Target="/ppt/notesMasters/notesMaster1.xml" Id="R3ba0bef1b4584ebb" /><Relationship Type="http://schemas.openxmlformats.org/officeDocument/2006/relationships/presProps" Target="/ppt/presProps.xml" Id="Rf626ff6f3c774b97" /><Relationship Type="http://schemas.openxmlformats.org/officeDocument/2006/relationships/tableStyles" Target="/ppt/tableStyles.xml" Id="R7820a20548c441bc" /><Relationship Type="http://schemas.openxmlformats.org/officeDocument/2006/relationships/slide" Target="/ppt/slides/slide1.xml" Id="Rf4b21fc33e6245a5" /><Relationship Type="http://schemas.openxmlformats.org/officeDocument/2006/relationships/slide" Target="/ppt/slides/slide2.xml" Id="Rbe6fba1a5d8847ff" /><Relationship Type="http://schemas.openxmlformats.org/officeDocument/2006/relationships/slide" Target="/ppt/slides/slide3.xml" Id="R22b833e316da4c7f" /><Relationship Type="http://schemas.openxmlformats.org/officeDocument/2006/relationships/slide" Target="/ppt/slides/slide4.xml" Id="R5f78e6d5ebd347e8" /><Relationship Type="http://schemas.openxmlformats.org/officeDocument/2006/relationships/slide" Target="/ppt/slides/slide5.xml" Id="R1a799c237dfc4971" /><Relationship Type="http://schemas.openxmlformats.org/officeDocument/2006/relationships/slide" Target="/ppt/slides/slide6.xml" Id="R6916a43bc4df4f73" /><Relationship Type="http://schemas.openxmlformats.org/officeDocument/2006/relationships/slide" Target="/ppt/slides/slide7.xml" Id="R656230d3a91b4673" /><Relationship Type="http://schemas.openxmlformats.org/officeDocument/2006/relationships/slide" Target="/ppt/slides/slide8.xml" Id="Rdac927180b504f3c" /><Relationship Type="http://schemas.openxmlformats.org/officeDocument/2006/relationships/slide" Target="/ppt/slides/slide9.xml" Id="R22ac0bddaa914845" /><Relationship Type="http://schemas.openxmlformats.org/officeDocument/2006/relationships/slide" Target="/ppt/slides/slide10.xml" Id="R61da6f8323764f8f" /><Relationship Type="http://schemas.openxmlformats.org/officeDocument/2006/relationships/slide" Target="/ppt/slides/slide11.xml" Id="Reea5c147f78d4873" /><Relationship Type="http://schemas.openxmlformats.org/officeDocument/2006/relationships/slide" Target="/ppt/slides/slide12.xml" Id="Rca2f9c93f1064526" /><Relationship Type="http://schemas.openxmlformats.org/officeDocument/2006/relationships/slide" Target="/ppt/slides/slide13.xml" Id="R02e4002ca0dd4e4d" /><Relationship Type="http://schemas.openxmlformats.org/officeDocument/2006/relationships/slide" Target="/ppt/slides/slide14.xml" Id="R0db636e5297c4d1f" /><Relationship Type="http://schemas.openxmlformats.org/officeDocument/2006/relationships/slide" Target="/ppt/slides/slide15.xml" Id="Re942f7a594694b9e" /><Relationship Type="http://schemas.openxmlformats.org/officeDocument/2006/relationships/slide" Target="/ppt/slides/slide16.xml" Id="R4d724cfc178f4f58" /><Relationship Type="http://schemas.openxmlformats.org/officeDocument/2006/relationships/slide" Target="/ppt/slides/slide17.xml" Id="R131fd838b81a4bd6" /><Relationship Type="http://schemas.openxmlformats.org/officeDocument/2006/relationships/slide" Target="/ppt/slides/slide18.xml" Id="R237e27117ab84105" /><Relationship Type="http://schemas.openxmlformats.org/officeDocument/2006/relationships/slide" Target="/ppt/slides/slide19.xml" Id="R91d3d799ce924290" /><Relationship Type="http://schemas.openxmlformats.org/officeDocument/2006/relationships/slide" Target="/ppt/slides/slide20.xml" Id="Rf79cdceb18ab493f" /><Relationship Type="http://schemas.openxmlformats.org/officeDocument/2006/relationships/slide" Target="/ppt/slides/slide21.xml" Id="Rf85c92e85cd348d8" /><Relationship Type="http://schemas.openxmlformats.org/officeDocument/2006/relationships/slide" Target="/ppt/slides/slide22.xml" Id="R2bb1494d9e8e418c" /><Relationship Type="http://schemas.openxmlformats.org/officeDocument/2006/relationships/slide" Target="/ppt/slides/slide23.xml" Id="R3f6cc335a8e6403f" /><Relationship Type="http://schemas.openxmlformats.org/officeDocument/2006/relationships/slide" Target="/ppt/slides/slide24.xml" Id="Rf44cb667c2a74a55" /><Relationship Type="http://schemas.openxmlformats.org/officeDocument/2006/relationships/slide" Target="/ppt/slides/slide25.xml" Id="R5dcb5356a35e4a6e" /><Relationship Type="http://schemas.openxmlformats.org/officeDocument/2006/relationships/slide" Target="/ppt/slides/slide26.xml" Id="R317db5277a7741b9" /><Relationship Type="http://schemas.openxmlformats.org/officeDocument/2006/relationships/slide" Target="/ppt/slides/slide27.xml" Id="R05a669b38f4a49a3" /><Relationship Type="http://schemas.openxmlformats.org/officeDocument/2006/relationships/slide" Target="/ppt/slides/slide28.xml" Id="R5cee92c95b974ebc" /><Relationship Type="http://schemas.openxmlformats.org/officeDocument/2006/relationships/slide" Target="/ppt/slides/slide29.xml" Id="R3e867f750c414a76" /><Relationship Type="http://schemas.openxmlformats.org/officeDocument/2006/relationships/slide" Target="/ppt/slides/slide30.xml" Id="Rf571835527244f40" /><Relationship Type="http://schemas.openxmlformats.org/officeDocument/2006/relationships/slide" Target="/ppt/slides/slide31.xml" Id="Rcb355143a2364b07" /><Relationship Type="http://schemas.openxmlformats.org/officeDocument/2006/relationships/slide" Target="/ppt/slides/slide32.xml" Id="R9a176646b0904925" /><Relationship Type="http://schemas.openxmlformats.org/officeDocument/2006/relationships/slide" Target="/ppt/slides/slide33.xml" Id="R7e91889261a3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a851da25c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33b8a1be3c47df" /><Relationship Type="http://schemas.openxmlformats.org/officeDocument/2006/relationships/notesMaster" Target="/ppt/notesMasters/notesMaster1.xml" Id="R66216f9d7bac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aae7b5e9143d7" /><Relationship Type="http://schemas.openxmlformats.org/officeDocument/2006/relationships/notesMaster" Target="/ppt/notesMasters/notesMaster1.xml" Id="R251c1d32072d46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acb56dbed4153" /><Relationship Type="http://schemas.openxmlformats.org/officeDocument/2006/relationships/notesMaster" Target="/ppt/notesMasters/notesMaster1.xml" Id="R38074b12f8db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3530fbd634ee7" /><Relationship Type="http://schemas.openxmlformats.org/officeDocument/2006/relationships/notesMaster" Target="/ppt/notesMasters/notesMaster1.xml" Id="Rde4aa9ddbdbf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d04a789a874c9f" /><Relationship Type="http://schemas.openxmlformats.org/officeDocument/2006/relationships/notesMaster" Target="/ppt/notesMasters/notesMaster1.xml" Id="R7d267c3a82a9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f1c4dfb18c4bc0" /><Relationship Type="http://schemas.openxmlformats.org/officeDocument/2006/relationships/notesMaster" Target="/ppt/notesMasters/notesMaster1.xml" Id="R28032c8977ac4f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8974d689ce4ba7" /><Relationship Type="http://schemas.openxmlformats.org/officeDocument/2006/relationships/notesMaster" Target="/ppt/notesMasters/notesMaster1.xml" Id="R89c505b9d9d148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1a4961848a438e" /><Relationship Type="http://schemas.openxmlformats.org/officeDocument/2006/relationships/notesMaster" Target="/ppt/notesMasters/notesMaster1.xml" Id="Reb64f13d514049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0b1d222d7947ba" /><Relationship Type="http://schemas.openxmlformats.org/officeDocument/2006/relationships/notesMaster" Target="/ppt/notesMasters/notesMaster1.xml" Id="R8191c62f64314c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5ad34d34d14cad" /><Relationship Type="http://schemas.openxmlformats.org/officeDocument/2006/relationships/notesMaster" Target="/ppt/notesMasters/notesMaster1.xml" Id="R0ddbe081735c46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ca092d50d64e92" /><Relationship Type="http://schemas.openxmlformats.org/officeDocument/2006/relationships/notesMaster" Target="/ppt/notesMasters/notesMaster1.xml" Id="R51db897de6a94b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b8c20c873d4570" /><Relationship Type="http://schemas.openxmlformats.org/officeDocument/2006/relationships/notesMaster" Target="/ppt/notesMasters/notesMaster1.xml" Id="Re7296bb55236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3ada987c624b9c" /><Relationship Type="http://schemas.openxmlformats.org/officeDocument/2006/relationships/notesMaster" Target="/ppt/notesMasters/notesMaster1.xml" Id="R00372927c29942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a7208e11fa4531" /><Relationship Type="http://schemas.openxmlformats.org/officeDocument/2006/relationships/notesMaster" Target="/ppt/notesMasters/notesMaster1.xml" Id="Ra96684b6230e4b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de7f6832354622" /><Relationship Type="http://schemas.openxmlformats.org/officeDocument/2006/relationships/notesMaster" Target="/ppt/notesMasters/notesMaster1.xml" Id="Rd13559e1bd024d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87549eb7c341b1" /><Relationship Type="http://schemas.openxmlformats.org/officeDocument/2006/relationships/notesMaster" Target="/ppt/notesMasters/notesMaster1.xml" Id="R4ae257ef558f4c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97278dc2ab4d64" /><Relationship Type="http://schemas.openxmlformats.org/officeDocument/2006/relationships/notesMaster" Target="/ppt/notesMasters/notesMaster1.xml" Id="Raf0a8484f6d14c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a1f41e823d4886" /><Relationship Type="http://schemas.openxmlformats.org/officeDocument/2006/relationships/notesMaster" Target="/ppt/notesMasters/notesMaster1.xml" Id="R0875a337009448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5e844689344be4" /><Relationship Type="http://schemas.openxmlformats.org/officeDocument/2006/relationships/notesMaster" Target="/ppt/notesMasters/notesMaster1.xml" Id="R1eff9553b7664a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71b9cfd38d411d" /><Relationship Type="http://schemas.openxmlformats.org/officeDocument/2006/relationships/notesMaster" Target="/ppt/notesMasters/notesMaster1.xml" Id="Rff2a2bba07014d0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181afe5e9f40c1" /><Relationship Type="http://schemas.openxmlformats.org/officeDocument/2006/relationships/notesMaster" Target="/ppt/notesMasters/notesMaster1.xml" Id="R57aa0d01986a44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c826baeb3347c0" /><Relationship Type="http://schemas.openxmlformats.org/officeDocument/2006/relationships/notesMaster" Target="/ppt/notesMasters/notesMaster1.xml" Id="R450c5736cda64d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02aa99a3bf4cdf" /><Relationship Type="http://schemas.openxmlformats.org/officeDocument/2006/relationships/notesMaster" Target="/ppt/notesMasters/notesMaster1.xml" Id="R81c120b40aea46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6dda14b7b04051" /><Relationship Type="http://schemas.openxmlformats.org/officeDocument/2006/relationships/notesMaster" Target="/ppt/notesMasters/notesMaster1.xml" Id="R58861ffbafcd40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e32f3184524ef7" /><Relationship Type="http://schemas.openxmlformats.org/officeDocument/2006/relationships/notesMaster" Target="/ppt/notesMasters/notesMaster1.xml" Id="Rab5e80c2f92342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47963803ef42d2" /><Relationship Type="http://schemas.openxmlformats.org/officeDocument/2006/relationships/notesMaster" Target="/ppt/notesMasters/notesMaster1.xml" Id="R5c00893a99194a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2bf0a91db14bbb" /><Relationship Type="http://schemas.openxmlformats.org/officeDocument/2006/relationships/notesMaster" Target="/ppt/notesMasters/notesMaster1.xml" Id="R8fdd746b93374f4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55aa15aeaf427f" /><Relationship Type="http://schemas.openxmlformats.org/officeDocument/2006/relationships/notesMaster" Target="/ppt/notesMasters/notesMaster1.xml" Id="Rfc78e380d0ed4f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2f2208bf0e41e1" /><Relationship Type="http://schemas.openxmlformats.org/officeDocument/2006/relationships/notesMaster" Target="/ppt/notesMasters/notesMaster1.xml" Id="Rcdce953483ad42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e107b66a8c40ab" /><Relationship Type="http://schemas.openxmlformats.org/officeDocument/2006/relationships/notesMaster" Target="/ppt/notesMasters/notesMaster1.xml" Id="R67edd4032498437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562a5841c344c3" /><Relationship Type="http://schemas.openxmlformats.org/officeDocument/2006/relationships/notesMaster" Target="/ppt/notesMasters/notesMaster1.xml" Id="Re3d478c7f7e2498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6ed1f35b6a14ac8" /><Relationship Type="http://schemas.openxmlformats.org/officeDocument/2006/relationships/notesMaster" Target="/ppt/notesMasters/notesMaster1.xml" Id="R1ab3c95e86fa420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387beefd4f64c14" /><Relationship Type="http://schemas.openxmlformats.org/officeDocument/2006/relationships/notesMaster" Target="/ppt/notesMasters/notesMaster1.xml" Id="R324f384928a042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教學提示：建立分群直覺與資料準備。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教學提示：以四步循環理解 K-means。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教學提示：連結統計品質、業務解讀與責任。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264–318 頁，依新版重組規劃整併、壓縮手算並更新。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779ca5312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daad712b5d403e" /><Relationship Type="http://schemas.openxmlformats.org/officeDocument/2006/relationships/slideLayout" Target="/ppt/slideLayouts/slideLayout1.xml" Id="R8f9141504c5341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141504c5341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2f5ca42034292" /><Relationship Type="http://schemas.openxmlformats.org/officeDocument/2006/relationships/notesSlide" Target="/ppt/notesSlides/notesSlide1.xml" Id="R01f17f19db9147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1b3d315724232" /><Relationship Type="http://schemas.openxmlformats.org/officeDocument/2006/relationships/notesSlide" Target="/ppt/notesSlides/notesSlide2.xml" Id="R0420cdb1cbe448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7237a051c4233" /><Relationship Type="http://schemas.openxmlformats.org/officeDocument/2006/relationships/notesSlide" Target="/ppt/notesSlides/notesSlide3.xml" Id="R34602d3801fc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183ec2f4240e3" /><Relationship Type="http://schemas.openxmlformats.org/officeDocument/2006/relationships/notesSlide" Target="/ppt/notesSlides/notesSlide4.xml" Id="Rc171e21b4af5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cbbf339824bae" /><Relationship Type="http://schemas.openxmlformats.org/officeDocument/2006/relationships/notesSlide" Target="/ppt/notesSlides/notesSlide5.xml" Id="R6635687fbd8748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ae77cf78643a9" /><Relationship Type="http://schemas.openxmlformats.org/officeDocument/2006/relationships/notesSlide" Target="/ppt/notesSlides/notesSlide6.xml" Id="R8da7be7772ea4a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a6c19e97416e" /><Relationship Type="http://schemas.openxmlformats.org/officeDocument/2006/relationships/notesSlide" Target="/ppt/notesSlides/notesSlide7.xml" Id="R0bb42feae20544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0ff81f2d4aa5" /><Relationship Type="http://schemas.openxmlformats.org/officeDocument/2006/relationships/notesSlide" Target="/ppt/notesSlides/notesSlide8.xml" Id="Reddabeeaa40348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2489f05af454c" /><Relationship Type="http://schemas.openxmlformats.org/officeDocument/2006/relationships/notesSlide" Target="/ppt/notesSlides/notesSlide9.xml" Id="R643dec37b1b744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fbd78c6647af" /><Relationship Type="http://schemas.openxmlformats.org/officeDocument/2006/relationships/notesSlide" Target="/ppt/notesSlides/notesSlide10.xml" Id="R5157c192e6644b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505cf7fa74691" /><Relationship Type="http://schemas.openxmlformats.org/officeDocument/2006/relationships/notesSlide" Target="/ppt/notesSlides/notesSlide11.xml" Id="Rdf5ae9c11a3748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b4b8f0d3140e1" /><Relationship Type="http://schemas.openxmlformats.org/officeDocument/2006/relationships/notesSlide" Target="/ppt/notesSlides/notesSlide12.xml" Id="R0d0e02076c9645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7442dfbc4ac7" /><Relationship Type="http://schemas.openxmlformats.org/officeDocument/2006/relationships/notesSlide" Target="/ppt/notesSlides/notesSlide13.xml" Id="Rb160898594b344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8ee15dc464d5d" /><Relationship Type="http://schemas.openxmlformats.org/officeDocument/2006/relationships/notesSlide" Target="/ppt/notesSlides/notesSlide14.xml" Id="R16e22f2450e24b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1cc87d405441c" /><Relationship Type="http://schemas.openxmlformats.org/officeDocument/2006/relationships/notesSlide" Target="/ppt/notesSlides/notesSlide15.xml" Id="R8d35e47d455b4a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67d54c2945ca" /><Relationship Type="http://schemas.openxmlformats.org/officeDocument/2006/relationships/notesSlide" Target="/ppt/notesSlides/notesSlide16.xml" Id="Re951fda319784f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1238520834865" /><Relationship Type="http://schemas.openxmlformats.org/officeDocument/2006/relationships/notesSlide" Target="/ppt/notesSlides/notesSlide17.xml" Id="R689ed2653e4e40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611855ebd42dd" /><Relationship Type="http://schemas.openxmlformats.org/officeDocument/2006/relationships/notesSlide" Target="/ppt/notesSlides/notesSlide18.xml" Id="Re14411c69ab444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6124ea6b24f9c" /><Relationship Type="http://schemas.openxmlformats.org/officeDocument/2006/relationships/notesSlide" Target="/ppt/notesSlides/notesSlide19.xml" Id="R85fdddfaa69848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5750046d449b0" /><Relationship Type="http://schemas.openxmlformats.org/officeDocument/2006/relationships/notesSlide" Target="/ppt/notesSlides/notesSlide20.xml" Id="Rcf0afcc31fb64a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da414b68f4b54" /><Relationship Type="http://schemas.openxmlformats.org/officeDocument/2006/relationships/notesSlide" Target="/ppt/notesSlides/notesSlide21.xml" Id="Rb8ffacc9b06a44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6639a50c24a28" /><Relationship Type="http://schemas.openxmlformats.org/officeDocument/2006/relationships/notesSlide" Target="/ppt/notesSlides/notesSlide22.xml" Id="R72618d4585b843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62a2fa9b469d" /><Relationship Type="http://schemas.openxmlformats.org/officeDocument/2006/relationships/notesSlide" Target="/ppt/notesSlides/notesSlide23.xml" Id="R6a7ac14e6d8c44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b2fd6a5414654" /><Relationship Type="http://schemas.openxmlformats.org/officeDocument/2006/relationships/notesSlide" Target="/ppt/notesSlides/notesSlide24.xml" Id="Rfac67d07311144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96268dbbc4bed" /><Relationship Type="http://schemas.openxmlformats.org/officeDocument/2006/relationships/notesSlide" Target="/ppt/notesSlides/notesSlide25.xml" Id="R500000a7d9e54f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523f13cf4b68" /><Relationship Type="http://schemas.openxmlformats.org/officeDocument/2006/relationships/notesSlide" Target="/ppt/notesSlides/notesSlide26.xml" Id="Ra6c99bba11f245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de93567a14610" /><Relationship Type="http://schemas.openxmlformats.org/officeDocument/2006/relationships/notesSlide" Target="/ppt/notesSlides/notesSlide27.xml" Id="R2e87c4a42eb545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5bbb1612e4917" /><Relationship Type="http://schemas.openxmlformats.org/officeDocument/2006/relationships/notesSlide" Target="/ppt/notesSlides/notesSlide28.xml" Id="Rae489ea2af8348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ae63a2d541e1" /><Relationship Type="http://schemas.openxmlformats.org/officeDocument/2006/relationships/notesSlide" Target="/ppt/notesSlides/notesSlide29.xml" Id="R7f60b40d671d4d8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b1464da74106" /><Relationship Type="http://schemas.openxmlformats.org/officeDocument/2006/relationships/notesSlide" Target="/ppt/notesSlides/notesSlide30.xml" Id="Rf68b273bea5945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abeb52e6947f8" /><Relationship Type="http://schemas.openxmlformats.org/officeDocument/2006/relationships/notesSlide" Target="/ppt/notesSlides/notesSlide31.xml" Id="R140d35f0652448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fbbc5cef14903" /><Relationship Type="http://schemas.openxmlformats.org/officeDocument/2006/relationships/notesSlide" Target="/ppt/notesSlides/notesSlide32.xml" Id="Rc9fb9576ded44e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970b7f9e44d74" /><Relationship Type="http://schemas.openxmlformats.org/officeDocument/2006/relationships/notesSlide" Target="/ppt/notesSlides/notesSlide33.xml" Id="R88f3432c4eb648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07F67-940C-43C0-94D4-5C4F3019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AF0A-227F-48F6-8642-4FE6B7D1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06｜集群方法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633F8-6633-4265-BE62-6F58983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0E2A0-A5D1-49AF-8782-2ED14E0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4AD29-42C4-4799-920F-A579233B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AE0E6-B46F-4A2C-9A52-5B016E61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本週路線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8C7C-1F09-4BAE-A804-7FE715C5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相似性與資料準備、K-means、選 K 與解讀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49443-B9D4-4F1F-B78C-0BBC3A77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C0ED6-D2D5-4BD0-A6E2-B4B48ECA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193B0-B0C1-4193-9928-66BCD8F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能說明分群原理，並判斷結果是否合理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77BB5-F0AE-4866-ADEC-209CFA4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1AD8-3C85-4198-860E-E69EAE4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銜接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73753-7659-4D1E-AB40-226365F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本週學方法，下一週完成客戶分群案例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DE9F2-160C-489F-A269-93DF807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16759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D4B1D-C265-4AF3-8D70-60B6C8A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11B17-B58B-49BA-945D-25BA019E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集群分析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75014-EB16-41C5-81F9-8E14A424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11343-00EE-4A59-B135-5893745C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6EC43-BCCE-4A32-982D-3CFDEC1F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80BBF-B5EC-48C0-B7D9-B4ABAD1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36F9C-E51C-499A-BA88-23E70012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哪些對象彼此相似？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228F1-203A-478E-B6FF-540F3FF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98636-BCA1-48AF-992C-9ECF1FF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934DA-E11F-41AC-A782-6382BD6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依選定特徵衡量相似程度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3CB71-2F3D-413E-872D-F1B93F56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0BB94-431A-473C-8334-D9BDA07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資料狀態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FBBCA-15DF-4642-B57E-8F37A89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沒有預先指定的正確群別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83735-E5BD-4431-AC97-C244ECD7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F82DC-413F-4F23-B349-E0FA7C8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結果工作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34805-A2B9-41CC-B3CB-F62252D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演算法分群，人員解讀群組意義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2D399-C746-440B-9FA4-417FBA5A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8432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1E04E-F36B-4E26-A170-CB6CA754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FC9E9-122E-4B8A-BA9D-AF967FBE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分群的核心概念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56AFF-B55E-477B-9743-A595A41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FCDCA-7E5D-4572-AF23-ADE2BF91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854E-B37D-44AE-A8C7-BA788DC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711B0-3D48-47DC-8A23-E89C07B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同一群內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3CD38-E7C6-4741-A614-767BF02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成員在選定特徵上較相似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061AB-F7FA-4B63-9464-E993FBB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8C8F5-8F32-4403-BFC5-5234109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不同群間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DD4E5-0EFA-4F9A-A157-E099A594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各群的特徵輪廓應有差異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7F661-77B5-4DB5-8655-8DFF272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C8EA9-B944-4024-83C4-3D1310B9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非監督式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32A51-6E97-492F-8FF5-17D431B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資料中沒有預先指定的答案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BE208-CD77-487D-B9EC-5D84C27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B1408-B6AB-4F90-A2FB-171BD01F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需要解讀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070DF-72A4-47AF-824A-AEA4AD38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分群不代表成員完全相同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0B601-7D26-47F8-ABCC-8756B585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2513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4C315-37DC-49A7-99E4-C628078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89AC-7152-4723-BFA2-0A94CE3A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相似來自選定的特徵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A500F-8316-4616-9655-2002EF7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AF244-5D9D-4A26-A527-1FEE492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8D01-5686-408D-B71E-9A9E1AB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4A775-B0A7-4241-A5E7-95DE8516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交易行為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AD5F6-265C-4D80-9C0A-DF50BBB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交易次數、金額與常用管道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4DCE7-C0F6-4849-AAB9-7C36EA7B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ECF4A-ACFB-4651-B6B4-6F473AD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產品往來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4AEFF-2CB3-4446-820D-A2C1E75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持有商品數、使用程度與期間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A217C-82B6-4876-97A4-89726437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A5AF7-853F-4A7B-A1DF-301D9D0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服務互動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891C9-CBAA-43BB-AF29-2EB1575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客服頻率、等待時間與數位操作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5064-EFB9-41F1-88F2-8E1E393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DF567-800E-4EC7-BD4B-EC22600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風險表現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1A75A-FC93-4128-9865-00258482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逾期、波動或異常交易特徵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B7FC0-4CC6-4DFF-9A8A-FA4E8CCD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56691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79051-CAAC-4303-89DC-344888A3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8CC9B-C571-4C54-B305-B999D87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資料列與資料欄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C2210-776E-42F9-BB5B-7FBF2DF2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58B25-8BF2-43AC-BBE2-63DB3AD4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B8C55-EAFC-4807-BFC6-F89B69A9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F25AB-360B-40C2-9C1C-C31F1B9D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資料列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6950C-2F5C-4690-8A74-762EA97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通常代表客戶、交易或案件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A9A39-9DE5-421B-994B-AA1A91B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67FF8-A150-4373-B716-E38ACBD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分群對象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F3654-13DE-41A1-BF52-BCBEEA19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K-means 把資料列分成群組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BAC87-8B24-453C-B64C-D5BAD40A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A25AD-CEC6-44B3-A08E-DA613C2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資料欄 Columns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33656-B743-45A4-99DB-F89272E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代表用來比較的特徵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79724-1196-48F6-9E62-3718C912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13EE0-DD18-4F44-99EB-A51C904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重要原則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F48A9-8CBA-43AF-8975-54C8C600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分析單位一致，欄位定義清楚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E8F5A-2F7A-445E-BE36-4836039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09510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DE53E-A727-4B19-B6D3-865941A2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E14DF-7BC7-45C7-8074-31ED894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距離與相似性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46AB7-82F0-48B8-AEDC-BC2DD735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1C26B-1DF3-4B44-83A3-28929FA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9FA72-1F2E-4298-8EE5-B305B74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8B679-BDE1-4DED-ACF8-35B7B44E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距離較小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B49CE-BA3C-4816-B488-59F192CD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通常表示兩筆資料較相似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83FEF-82BE-456B-B720-D72267B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2E27C-E8AE-4D87-8A62-6A5F4C6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計算基礎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A0E5-445D-4018-B2AD-7AD402C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K-means 常使用數值特徵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F1929-3A5A-44FD-A0C1-59366B8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72E75-74BE-4876-A706-E370FD14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解讀範圍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A0AE7-2957-428E-8D34-917FA04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距離只反映已納入的欄位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1B899-D5AB-46C2-944A-B6C46293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60FDD-8679-4AA8-BF53-2595C63C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未納入資訊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1C8EE-EF99-42BC-A754-2CEA2F96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不會影響演算法的分群結果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C070A-7BC5-43DB-8A6C-9E0C622F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7548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EEF30-0F0F-4001-A91F-833B87D7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3B51F-FFBF-4721-B437-8F5F1E2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尺度會影響距離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3D5B0-7F67-4FDF-83B8-31D84778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C1C41-4AC6-420D-A3CF-8F7B766C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C045F-977F-4B80-AFA5-403BD6A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B468-5623-424C-B5FD-290DBDD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年交易金額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0BD28-A3EC-415E-BD30-A090094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數值可能以萬元計算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92DE0-998C-4E88-9AC0-9D272062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03FAF-EEAB-4EC4-BB09-0CF089C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每月登入次數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75402-7590-4E5C-A4B1-69C478E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數值可能只有個位數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99FE0-AAF0-4D90-B923-F644347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0CEBD-2AB5-4EE7-AACF-0C119D6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未經處理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106C2-21C0-439D-87CC-AB32A1F4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範圍大的欄位容易主導距離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F9C4-A269-4223-9BF3-591D772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4218C-87D6-4301-A4B3-2404151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標準化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303DA-F552-465A-B22D-670DA33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把不同尺度轉成較可比較的範圍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4223A-5745-4BCB-B129-AB645E26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0104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0340C-EE74-4767-92F2-325F1CC3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235D4-ADDB-4CC6-A10C-4462B98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分群前的資料準備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879A-2D76-4FF2-8206-B5A16E4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29CE5-5571-446E-8090-31F7A6DD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8B227-6065-48D6-B825-21C1EBA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68110-55E9-460D-AAC1-DD9D1368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09CC6-0447-4F30-855A-CEECDB7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一列代表同一種對象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8E278-31F2-45AB-9905-5EB2CFA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98FF2-0F17-47C5-9855-B1D1A03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欄位品質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F41FC-480D-48C4-9DBA-530FD0B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處理缺漏、錯誤與極端值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8AB44-7124-4770-81AD-D937260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54B2-07A1-46FA-99B0-27F0E28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數值特徵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92F91-87EF-4709-A0EA-B7FB96B2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確認欄位能合理計算距離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98E1-BB71-4730-B7B8-EFC1C97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C12E0-BDDB-420E-A160-224FC1B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尺度處理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06D40-9FC1-4E1A-871D-21C22EF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需要時進行標準化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51CF6-907B-446C-8253-8BB94DB8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2342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FD760-8791-45DD-8FE3-CE208451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2665C-EE84-4CB4-9FAB-CEC4744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分群可以支援的工作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8F270-6B8E-4959-99D4-6547A291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22933-CD1E-40BA-967E-09638F5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C9564-CDE4-4DBD-8C47-8A434422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B17A-F41A-4ED2-9EDB-72EB09F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客戶經營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D4DD7-5F30-4926-8303-4DD302F7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依往來型態設計不同服務方式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95651-B9BF-4071-9A78-A1B2315D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BFAAF-3CCD-44B0-901A-1D0E654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產品研究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50278-FDB8-4939-8FD5-3BC5AEA2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找出具有相似表現的商品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5F512-D936-4F0F-8140-1449EE2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656AE-33DF-4E6F-8721-4F0F117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營運管理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AF12C-9BC6-4E37-A7CD-B74557D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辨識相似分行、通路或案件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7430D-5522-401B-9DAA-3FF333F0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B47AB-1A58-4A21-8969-8AE9205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風險探索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688D8-3358-451B-931C-6AF1223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觀察異常群組，再交由人員查核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E99AD-FCE3-4AD6-B3C4-A2FE6A1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1869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B2335-487A-42E2-B50D-9F4C038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A6DFF-3BB7-42B7-B004-DCC4DCA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89C0A-755B-4BCB-A2FA-6D11AFD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876B5-714F-437D-8455-07DC4C2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43844-C346-4E05-B3F7-0172112A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F1323-912E-4F24-AC68-C820DF4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B707B-0D98-4EBF-96E2-C0BA8688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群內較相似，群間有所差異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34285-96E6-4531-9484-B57FE131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93F8-EAB1-404F-932C-5181553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非監督式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8380A-7CE1-4DC1-BBB7-DBF947E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沒有預先指定的正確群別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75EA-ADDE-4990-B193-6B73FC8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EE195-4FC1-46BB-B8E2-FB979F4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特徵選擇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0F1D1-B341-4077-AFA7-DDF45C53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決定演算法如何理解相似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38A9C-B70D-48EC-B118-67D12E8A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A1851-04E5-4F13-B260-9DD0046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資料準備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65A80-BD3E-485C-8724-3214F76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先處理品質與尺度問題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F6CBA-D599-437D-BFA9-46EE574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903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2D4F0-658A-41C5-B825-42D9CE0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66BD6-B9B6-4B2D-89C0-06214477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9A132-B45D-40CC-A904-6E1400FD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4A765-F505-4331-8868-B496055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F5284-16E7-4024-A393-EFAAE0D3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55978-AA41-45C0-8D4A-3B89D23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07773-33C5-4941-BA7E-35281FA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集群分析通常屬於？（A 非監督式　B 監督式）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C7D82-A1DB-4EF2-87C6-86683741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同群成員是否必須完全相同？（A 必須　B 不必）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96245-027C-4626-9CE0-957E50A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特徵選擇會影響結果嗎？（A 會　B 不會）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23C01-E97C-418F-81C9-81A36894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尺度差異過大時可考慮？（A 標準化　B 隨意刪除）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59DE6-458B-40F6-AC26-1BA9A8E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分群結果由誰解讀？（A 人員　B 演算法保證）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D14FD-5C15-4F3D-B460-A6766FC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43018-1168-4BA6-BEDD-516D360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2081233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C1E18-FDF3-46B6-BEBD-16CDF4E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3F8A9-7EB4-414F-8880-E8B6EC8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第二節｜K-means 的運作方式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487A3-95C6-42FD-B5A7-23ED212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7250E-CE3D-4FFD-86D6-A512798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4CF60-22C3-405C-A386-1032B52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3C81-9C5F-4386-9FAF-5B97B9C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核心循環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968DD-5238-4DE0-8596-1D82CB04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設定 K、分配資料、更新質心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77957-EA8B-4FF0-A9EB-9B51756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D3F34-F9C8-465C-B916-09A478E6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學習重點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EA7F9-2781-4B33-B924-FBCB9DB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理解演算法如何反覆改善群組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5663C-B0E6-4FF0-B5EF-412415E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2B9EC-E17F-4A6E-B161-38C42ED2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課堂原則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A169A-8829-4C34-97CB-654C387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掌握直覺，不手算大量距離表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0D179-3C60-4949-B212-0763DE5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41756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F0C24-2A6F-45AA-AA80-B2F18B3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198FC-D392-45D8-8479-45E8F00B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 與質心 Centroid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E1265-205F-4743-A4D2-129E87C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DED76-4ACE-4FD9-A7CF-046FAD2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0DFAD-0562-4268-B77C-F6B606F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6DF0-4CCA-43F1-8126-E47C109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F1C91-32E8-47DC-BD2F-64160B42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預先指定要分成幾個群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79F2C-E442-464A-BA26-A972916E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4207B-1B4A-4AF7-A505-3DD5325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質心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C7AED-91A7-4020-867B-FE166BD1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一群資料在各特徵上的平均位置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02BD1-987B-40A1-86D4-D52DB825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A520E-11A6-4FBC-A268-C44DA8B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初始質心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19421-652D-4081-B41A-040B0B0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演算法開始時的 K 個中心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657E5-7280-44A1-AED6-6A4D0F9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BE8FB-11E5-47DE-A533-2D68DAF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分群依據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0F75E-7493-43BB-A30A-E11DE7C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每筆資料歸入距離最近的質心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45DF3-E397-4AD0-9171-2385A03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0988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71BBD-98A3-4F9B-9CC9-316BE8C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D9E04-C231-4460-BD15-6C505413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K-means 四步循環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6A924-2C27-4A27-B119-E68E9801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7276B-5B96-482C-80B4-8F694395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5BE09-69E9-475C-92EA-D2EC538E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4D38F-EA6D-4A2D-9E7F-2A6BC272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3FAC9-802F-4AAF-A92D-84C4F2C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選擇 K 與初始質心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6121-A4F8-4C89-AD8D-F7B37E8E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82E27-9813-4307-B937-998D2058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19FCA-BE17-4661-8182-368A3C16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計算每筆資料到各質心的距離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8BDDC-EE01-4B7B-880A-9FBDAC37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68107-1134-47E5-A073-8203A1D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第三步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21EB7-6324-46F3-95DB-5D521429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放入最近質心所代表的群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C639C-525D-44F3-91E8-15A7784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04E18-D64F-48B1-A65B-1EED620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第四步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9D0BD-F653-428C-89A6-A7A65984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重算質心，再次進行分配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D06E-2009-43B7-A9EE-CE1B4133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3363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E6EC0-496C-4C2D-AE5A-5ABC0DF2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1837C-D1E2-4958-A3D6-E1762735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第一步：設定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426EE-855E-4D19-AC35-A6A3DB4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0AC2C-9D4B-4F4D-9635-6316ED2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43A8B-CB99-4ACA-BE36-46B5B1C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65A55-70AF-4630-8A47-949B2F1C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業務需求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06CBF-74ED-47B0-8DBD-C97F32C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組織能否合理服務這麼多群？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61596-9AD6-4169-962F-B4B631F6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53C7-4AEF-4527-8F3F-6F43F6ED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資料結構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DC55B-4325-4BBE-9005-4B7C45E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資料是否呈現可分辨的群組？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D2157-0D7A-4E20-B82C-1336DDAC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B4BA9-FF91-487F-BC6A-7EA80BD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比較方案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024EB-85CF-435E-B376-A8F25C8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嘗試不同 K，再比較結果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367C2-F9BE-43ED-9CE2-5A4654E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8A341-8C58-49A0-9C60-461682E7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避免極端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AE3EB-1CF1-43B9-9192-B548A76E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 太小過度合併，太大難以管理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AEE84-9DF4-4505-B460-CF2E231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21011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BF5B2-6EA5-40A7-B6F4-647DC15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70874-8ECE-4DA7-943F-7AEADC73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第二步：選初始質心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E93B2-64E6-4A21-B8F9-6269EB6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25E99-30BC-4A60-A2BC-69809225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8A5FE-93E9-464F-AE8B-F3277DCF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68BC6-EA1E-414C-9FF6-196CA20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初始位置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4E13B-2494-4EBF-9E3A-09E5771C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演算法先放置 K 個起始中心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B117F-E4E3-4A94-A2D2-3EC71ABD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61CFA-FBBD-4469-BE6B-684A20F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D50F2-A9B4-489A-BA53-B2E674B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可隨機選擇或使用穩定初始化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612DA-28A1-427C-9350-71F52FD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90CB4-A37B-4626-B394-3931AFF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可能影響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0E586-42E0-4873-81AA-23EEA14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不同起點可能得到不同結果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EBDDB-9A9B-4D0B-9AF9-87B63993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91514-2358-4A8B-976E-063423A7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實務做法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A80B9-5C90-4838-948F-737AED5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多次執行並比較，降低偶然性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48ADE-C4EE-4D12-925A-8B0FB45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010806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1D941-CFE5-4662-9397-BAF0890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81C3-1EB9-4CBA-9D42-4E76856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第三步：計算距離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D31D3-F3AE-4D0F-BC3A-04169217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27746-47E2-4E08-A12A-887C415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6A381-0FC6-40AC-BD1D-E5E47E78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64E53-45B5-4A77-88E6-FE7A7DF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平面直覺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09E9F-5D10-4E1C-9B66-17826048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兩個數值特徵可想成平面上的點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EF815-15E7-4779-9F97-96BE2B9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C6BC6-1314-4C8F-A63C-AD72C47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多個特徵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A63E0-5CBE-4F31-B53D-F5DA785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維度增加，判斷原則仍相同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8C821-27B9-4C47-9472-A3E9285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542AB-28B3-4878-88FD-D8938F7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分配規則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43322-294B-40BE-A72F-BCFE8077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尋找距離最近的質心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EF3A6-9E1F-4F4C-9A42-6B232A2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1412A-CC81-4018-ABB1-61FFA3E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前提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BA542-72B4-4031-B6F3-B49F1DCD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不同尺度的欄位要先妥善處理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55E2C-2B31-4DBC-B4D4-5FE5F861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6564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C6D72-F401-4AE4-BC15-97332A50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C1E8-05B4-4F61-BDC7-61E38BD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距離的簡單例子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5038F-2886-4FD9-96A8-8533DBC6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AF42F-C6B8-47AB-A1AB-18AB4075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9C1EC-4A68-428E-9FBB-09F53EE1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89836-165A-462A-B54E-76B523C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客戶甲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AF79B-C300-4FE4-B3FF-00AB87C8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月交易 2 次，平均金額 3 千元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F0603-9BF7-4ECF-8DEF-1393B0E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2DC1F-F920-41E3-B540-ED937CE0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質心一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1E878-CA2F-449D-8C36-47164DB6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月交易 3 次，平均金額 4 千元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6BA04-ED89-4BA0-9E9D-0E6718D2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7A9AD-3077-40F7-8DF0-B8C4E23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質心二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22FDC-4949-486D-BF22-9CE3DB7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月交易 10 次，平均金額 12 千元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627C1-1D2D-42F3-B9D1-642AEBA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F2A1C-50A1-4BC6-A6B2-2000361F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22D00-C867-416B-A29A-55BEA66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若甲較接近質心一，就歸入第一群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F9A35-B975-4D64-A8FA-32050680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41692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0BD03-CF61-48F5-BB50-4619FB9C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20195-6551-4760-AFA1-1DA3135E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第四步：更新質心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C4B60-DDB6-4B75-BC4D-B78C8DC2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7468D-6A65-4171-B565-5EAAF375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BB9FC-F6AA-40FC-BA5E-B40C03F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96F4-9C75-4FBC-9D37-422EF72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暫時群組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86A21-16D8-404B-852E-4221EB6E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每筆資料已分配到最近的群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F3170-8127-4FF6-B6AA-890D4DB0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C4592-15AC-431D-A1F6-C55CAA44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重新平均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8FD90-956A-4F90-AC41-49F8016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計算群內各特徵的平均值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6F631-B600-40A3-B391-44CC7B9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D875C-2061-4461-8AC7-02CAAD4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移動質心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CBDDB-ADFA-41C1-ADED-940EB74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新的平均位置成為下一輪中心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E7112-D3D3-445F-AB9D-5642E9C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B8584-3710-442E-B973-B28D0CCA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再次分配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9C0F6-28E2-4FB6-A794-CEF6D5B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所有資料重新尋找最近質心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C20EC-8B91-4374-8593-9E4B775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19304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CBC04-0233-43B8-A04C-F4A49FFA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D6261-60E5-4259-8AC4-BF63CA0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何時停止反覆計算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7C9C6-C221-40E8-AE07-DDEA586F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FAD8D-438D-4A42-8B33-B78EB371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2836B-8A46-46B8-A88B-19AAE08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2BB29-76BB-4B34-A147-4795461A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群別穩定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018C0-09BD-4092-940A-D8B029C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資料所屬群組不再改變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64E68-B275-4420-996B-227BEE9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49C4D-9F26-49B2-84E8-85B4DFBC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質心穩定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F5DAB-E944-4821-9183-C9E74B1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中心位置只剩很小變化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E7249-8F8A-4E2D-8E1A-6A66F55F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12C4-AF34-45A5-A254-ED4102BB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達到上限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BF2FD-0F21-4760-9FA9-569B58B4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執行到預先設定的最多次數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DFB25-C755-48CA-B0DE-C8018AF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4B5AF-0E47-446E-900D-A488610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完成後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EA283-4C16-480A-AE68-90859CC3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保存群別與質心供後續解讀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ECC09-F54F-4E2E-9743-9BCF474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18010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612C9-B792-4BC8-861F-0B26E93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9678C-901D-4EBB-9105-7678DC7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CEEA5-3E22-4AA8-A1F9-10AEE2B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6C963-4A96-4A0A-B371-97AEB8A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1748F-24B1-458D-A667-048706C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B01CF-6004-4560-BD1A-D835E8D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D03ED-74CE-4F0B-8916-7F3F36A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先指定群組數 K 與初始質心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00B2A-EC32-4576-B200-07EC1A1D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A447-F9D3-4392-98CC-5F391457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295B1-C37F-4CE5-B484-9DB95F4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依距離把資料放入最近的群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A4EDB-1017-4B6F-86C2-09EF36B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41BED-6C32-4DB9-93EF-62D612D4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7F514-0325-485F-8F02-09AA574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重新計算每一群的質心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77A19-C1FB-4B52-A207-6A5EEE1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975E3-E64C-4E8E-9ABC-24B736F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反覆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C9815-C1F3-43E2-B2AB-BCA496A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直到群別或質心大致穩定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BD76A-4BDF-4A29-84F3-CC04BA6B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49537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66E3D-0D83-4633-94D0-B12BD1D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8A70-DBC4-448A-A9A2-2CC33AB6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EBC4C-4025-4C68-B9C0-F00458E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84A89-6723-4409-963E-2E182E7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974CE-484C-42F5-9C2F-CE314C8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C92F3-50CA-4917-B958-9EC12FEC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82AC1-8450-4115-9FB7-AD12B77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K 代表什麼？（A 群數　B 欄位數）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B9C0-320B-4C4B-A296-53802B32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質心代表？（A 群內平均位置　B 群名）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B77E-CC69-4123-B971-43B0077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資料分到哪一群？（A 最近質心　B 最遠質心）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526D3-AA85-4E61-9D2E-8B6BD66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更新質心後是否重新分配？（A 要　B 不用）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5E71E-2598-410E-8147-1F22708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不同初始質心可能造成？（A 結果不同　B 一定相同）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769C1-1684-4D89-B903-D464A8E4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36060-68FC-41C7-9F28-6AFB6C32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3542294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3438D-02C9-45EE-8067-A492017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9496F-50F9-4FD3-AD4E-B8DB9027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第三節｜選 K、解讀與限制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D7695-0652-4015-8017-8D273C4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E5B0C-FEE3-4485-84A9-37551EC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54582-E2A9-47A5-B032-480CFC4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4E4CC-4972-4160-AAF6-57B0D96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品質判斷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F581E-5BA9-42C5-B368-F189A9B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群內集中，群間具有差異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0407E-7516-4C81-87E7-07C6CF5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9A0F4-0B98-49EA-8889-1647FDC6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業務判斷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A8612-32EF-4771-9D62-0AB6853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群組說得通，也能支援行動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C352D-A41D-4C14-94F7-82CA73AC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0E5BC-6601-4DAF-9CCF-25FF30D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E2F37-A633-4A43-81BF-CE98A0F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說明限制，避免把群別當成固定標籤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93F98-0840-447D-B5F1-2C76306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135166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FA07F-8EDA-498D-9209-43946669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2FF5C-54DF-4046-8C33-A86901C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群內誤差平方和 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DC68A-B129-4F34-A02D-AAFD772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F2F6-E743-4644-86E3-107CD94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C0871-9D46-4C17-842E-7A4809A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276EA-52DD-4C48-96D3-95529A65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計算概念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F9C78-9789-4BEE-A274-997D67EC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各資料點到所屬質心的距離平方加總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A2556-3847-4160-A05B-B68666A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10100-D4A4-4476-AC75-8D2B9EC7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數值較小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5166A-EDDE-49F0-BBB5-3E2815CA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通常表示群內資料較集中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A3CF9-E0C7-43F8-81D9-EFB9EDA5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04411-925E-41A8-8F30-C8B69E0B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平方作用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31700-44AF-4302-A99B-6C24AD1B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消除正負方向並加重較大距離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F06E-180E-4BF7-AFC5-BB35B5B6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4A72B-BE23-4010-80A0-FF0FE8C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BC375-81E4-4AA5-B9D9-54ED702C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SSE 不能單獨決定最佳 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95DDC-A9D0-4D33-B540-3CC4E78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716525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7F65F-FDA2-4480-9110-75A77997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AE707-BF30-4A79-9AB6-FA8FEA9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 增加時，SSE 通常下降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08D04-19C6-4500-BCDB-7B9CAF2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4E488-00DA-40A1-A7B7-9458C9B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3E372-B8F7-4774-B92C-9BC3D30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3F266-9C01-4B01-8D12-2A79BE7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K 較小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84BBC-B1F8-4DC2-890A-D1D3E10A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少數群組容納差異較大的成員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2DB1-307E-4D67-982A-DE8B970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8EB03-EC6D-40CA-AC85-2B65989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K 增加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D6F10-1A45-42DD-AD38-8998A4F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每群範圍縮小，距離通常下降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44377-344E-4635-81F0-473510FB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0A804-3F70-4F83-9B3C-2BB4C55C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極端情況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E6F71-DE2D-4FA2-AC50-F28EA00B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每筆資料各成一群，SSE 很小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DFDA3-A94F-4A77-B750-8E369D3D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3B683-9680-453B-A1E0-936E7A2E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判斷重點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BD6F6-BDF2-4253-B22C-8DD9BCC4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不能只追求最低 SSE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FBEF7-32A0-43CD-93CF-D700A21F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51692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D8204-D347-4FD3-B400-7EAC4564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31EFD-2382-4B34-8A94-34C5831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肘部法 Elbow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4704-0356-4A2A-8DA6-117CE7C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57E2-2B48-47C9-9D95-4439ABBB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DA60-54EB-4074-9368-265ABCB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4C987-5567-4A2A-8F81-7CDA8268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橫軸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2105-106D-4B17-A8E3-B7943A7F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群數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77F9C-C554-430D-8E63-4EA03876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EF4D3-36DD-43AD-9F74-FD00C7C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縱軸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63D6A-E912-4690-8677-080ECC0F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群內誤差平方和 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08EEA-B6F4-4C57-9519-17E76193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EFFDF-48C2-4261-B286-8DE1D56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觀察方式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12F44-5295-4C21-939A-B210177E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尋找下降開始趨緩的轉折附近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C3547-5C48-4B81-8F43-485669F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980B7-6502-4448-9F9B-AF297B0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36083-5055-45EE-A96F-E1A35915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沒有明顯轉折時要搭配其他判斷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34240-6A81-45C4-96CA-29E2D79C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128742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97B6A-CAA3-467F-BD8B-7A15DFB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296B2-7747-46AF-B9C8-29668C0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 值的綜合判斷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0668F-AF2B-4C1D-96E6-B0CA6ADA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F3F25-D4F8-4054-85FE-1EE0EC87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E1058-18BE-4DA2-BA89-708A637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3A985-8C4F-43D7-BDD7-8DEB68B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統計表現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44332-D041-4885-BF8B-650404D2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群內是否集中，結果是否穩定？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CB986-C7D8-4706-9934-ED9E8A2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B1AEE-526C-4480-85CC-2249B44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群組規模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0C554-2574-4438-9C72-DCBFB9B2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是否出現極小群或空群？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7A5F5-213A-40DD-A322-AB7D51C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4E42E-4E03-40C5-A400-40BA41D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可解釋性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F5838-4838-4445-872D-79EED801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各群差異是否清楚？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F5E91-5497-4225-95C7-F4E41407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B310D-C079-4742-B704-ABBB54C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可行動性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8A2CE-8B48-4AF8-95F2-4B262391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組織能否對不同群採取做法？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25E09-11C3-4D88-B2E3-70FB5FC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05040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EF418-50C4-47E7-A8DD-FE39F22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A6803-3FCA-4ADD-95BE-262ACCF8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群組輪廓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7A20A-938C-4A62-91A3-1C3FB44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5BB8-D1E7-41C1-9E84-084796A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4E8AA-4196-468B-9E25-36C5076B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19C4A-6FF5-4F7B-98E1-6F0A94A8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群組大小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B7823-8A68-426B-A70D-0ACA43F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每一群有多少客戶或案件？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490B-1D33-4518-8365-156F431A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3AE2B-6BC5-4330-93C8-791CA28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中心特徵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49B2F-9134-4E37-96A2-2AE69EB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各群在主要特徵上的高低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D3B14-4B31-4097-BE6A-D8EE5F6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0F6FE-1118-4E61-81EF-6C101A6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差異來源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919C2-57DD-4E5F-B449-9066DCF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哪些欄位最能區分不同群？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D4667-312F-4FD6-B8A4-C8DA0CDC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B8D08-3964-409E-BA60-40E3396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代表案例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3B42A-A490-4D96-878C-404A28D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接近質心的成員協助理解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E5F79-751C-4F8A-BDBF-18D1AE8A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207368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FE2C9-67D2-4029-8565-91428CFB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398F3-4166-438F-A6DD-E41B98CB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群組命名的原則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69EF0-EEFE-4745-AB7D-CD7E27F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D612C-2FF1-4273-A56D-4C3AC77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75ADE-D344-4981-9CB6-D9CB7869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BD984-6C28-4D94-B40B-9D03D214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依據資料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159B6-794D-4914-8804-CBE8F3D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根據可核對的特徵描述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7879B-0EA8-43BD-A69A-D24964B7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8972B-98B0-4D66-B50D-3687201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清楚具體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48BF2-C384-4C71-A08D-9251E21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例如高頻數位往來群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A7D9F-03E7-4085-B706-AD0079F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1C60A-B036-4AD0-B95C-3BE8920B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避免貼標籤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30CA9-A619-4A29-B7FB-A6971607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不用人格或價值判斷命名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8C9A7-3E7D-43F1-A399-E7444889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72D3D-D08F-4A43-91FD-80D19010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保留差異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95956-1130-4C0E-A72E-33C287A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同群成員仍可能有個別不同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06BB0-E223-44AF-84A7-80951E3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80842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14F84-C377-4741-8CF5-A23A99A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815CA-AD27-4F7C-9F05-350415E8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K-means 的主要限制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51CA6-AE24-41E8-B44B-C954CDCF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605F7-D2B1-4D72-8F9D-1DB9AA2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15F8A-9F9A-4C08-91D4-4404B466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9B995-80D4-4017-8F60-576DC3A7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適用資料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8A844-72C5-4597-8BE1-CB229CF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主要處理可計算平均的數值特徵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E5E06-4C92-4371-BA8A-3B16631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F3B96-95BF-4331-9AEA-A363706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群組形狀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2564E-426C-42A2-B6B2-FC29EDD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不規則群組可能分得不好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44E8F-EC6B-4EE9-8CB9-0237916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089C-539E-4AF2-8997-4301B67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極端值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ED558-94A5-4EFE-9DD0-4B095CF7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離群資料可能拉動質心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6ED0F-23C0-4ECD-9EC4-00C6A26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37263-7F5E-455E-8BD3-B4D0A24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初始敏感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B3BB9-C7B9-4691-88D3-1C3391D7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不同起點可能得到不同結果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2CD04-1CBF-4F9D-A554-08BC773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02896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71475-889C-47C3-9D11-A7B516BC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5458-59E9-4D59-B4A6-A522D313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金融業使用分群的責任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D6BBA-5E56-4BA3-A2F9-8625A6A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CAE4-B7AB-4FAA-86F7-B1B6862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7429D-7173-4506-A903-C11331E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AA1DE-E951-4A03-AD8F-086A407D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用途限定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B73DA-E2D6-4657-8BBE-39672617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結果只用於事先說明的目的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202E-0C30-402B-933C-8562C92A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6FBF8-5BB9-4C2F-B023-729413C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公平檢查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7AD94-2074-48D1-86DF-ED71E82D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避免不合理的差異待遇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BD1AF-4386-4B61-9847-59F91AF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01E85-1DAC-459B-932A-DABBC656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人工覆核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D186F-70AD-4BB7-BCE7-A4FD027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高影響決定不能只依群別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A8F05-8158-4A91-981C-660C71C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A1E9C-7F68-4CFE-A2FF-95F5D29A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持續更新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3B070-F148-4603-BE5E-D94C1B0A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客戶行為改變後重新評估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887C-0180-4DCC-8169-8802C9E1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537744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01408-A97B-499F-AD58-D570E97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C686-67C3-4196-AB15-8119217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06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A7566-E189-40C9-AE38-0E9F386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0C93-8629-42B3-8545-E8556077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B404-EB57-4580-95D8-20A8357E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57952-3279-4B13-9DBF-956F8E3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分群基礎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D20B4-E39A-455E-81BA-2BCC18DB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用選定特徵衡量相似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352EE-0DBF-4639-AF41-EA4E935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D6E20-CFCC-4C2A-9098-7B88F884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K-means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CD583-B6D0-430C-8337-A63443F1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設定 K、分配、更新並反覆進行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0F867-BAC9-4767-8D7C-CF70287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17B72-491D-4875-A6FB-81AC422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選擇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E5DD5-2F18-47BD-9731-C95995E3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結合 SSE、穩定性與業務需求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F10BB-361F-4843-9662-D232CA1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4EF0C-0F4B-430F-B72B-84DB6E2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0F291-E384-4FBA-A8C2-C1813BF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描述輪廓，同時說明限制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F0E6E-0B0E-41CA-B3DA-C0A182D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09444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50C40-D0A8-45E6-A53B-39588222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0EB41-E3D6-409F-A10B-90494369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B298-7B5B-454A-8572-0FD6DFF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C0CA1-CE17-4775-B310-508191C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8820-C447-43FC-8B7A-C8E31FFB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4DF45-7E44-4FD6-89F8-C964065D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88934-B35B-455C-B426-A74D5051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SSE 較小通常表示？（A 群內較集中　B K 一定最佳）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C510D-8F61-4704-8AC9-1F9B551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K 增加時 SSE 通常？（A 下降　B 上升）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6ADC1-AA09-45A8-A12D-ED96D9E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肘部法觀察？（A 下降趨緩轉折　B 最大群名）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685A6-8572-484D-AFB2-C71DC06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群名是否等於客戶本質？（A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66DAC-62D6-4043-AEDF-7F61A82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K-means 是否適合所有資料？（A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7A979-54C9-4789-BD8D-4B5833C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165C2-0F5A-4208-B662-C2CE719E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5-B</a:t>
            </a:r>
          </a:p>
        </p:txBody>
      </p:sp>
    </p:spTree>
    <p:extLst>
      <p:ext uri="{BB962C8B-B14F-4D97-AF65-F5344CB8AC3E}">
        <p14:creationId xmlns:p14="http://schemas.microsoft.com/office/powerpoint/2010/main" val="1686553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2026-09-04T07:25:34.1180000Z</dcterms:created>
  <dcterms:modified xsi:type="dcterms:W3CDTF">2026-09-04T07:25:34.1180000Z</dcterms:modified>
</coreProperties>
</file>