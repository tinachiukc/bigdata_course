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教學提示：回顧 Week 02 的問題與 Week 03 的技術流程。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教學提示：先用問題語句理解，不背演算法名稱。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教學提示：以銀行月報作例子。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教學提示：預告 W06 集群方法與 W07 客戶分群。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教學提示：預告 W10 與 W11。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教學提示：預告 W12 與 W13 決策樹。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教學提示：分類也可視為預測類別，但本週先保持直覺區分。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教學提示：重點是問題不同，方法也不同。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教學提示：把方法選擇連回業務需求。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教學提示：請學生各說一個金融問題。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教學提示：用是否有標籤作第一層區分。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教學提示：不要把探索結果當成自然真相。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教學提示：預告訓練集與測試集概念。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教學提示：以詐欺偵測資料表說明。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教學提示：本週只建立差異，公式後續再談。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教學提示：為 W13 做準備，不深入比例設定。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教學提示：用考前背題比喻。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教學提示：連回金融風險中的誤判成本。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教學提示：用客戶分群與違約預測比較。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教學提示：讓學生用自己的例子判斷學習方式。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教學提示：建立固定的選法流程。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教學提示：同一場域可對應多種任務。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教學提示：高風險決策強調治理。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教學提示：指出真實問題常需要多種方法配合。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教學提示：避免把預測說成保證獲利。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教學提示：方法服務流程，不取代專業審查。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教學提示：預告 W15 文字探勘。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教學提示：可作全學期方法索引。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教學提示：模型不等同最終決策。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教學提示：預告 W05 資料挖礦流程。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來源：舊教材 PDF A 第 111–165 頁，並依新版重組規劃整併。</a:t>
            </a:r>
          </a:p>
          <a:p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30E54C15-E9D8-4376-9124-B5921EA4AA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39AF687-026C-4942-930D-AA2A6D8E79BF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04｜大數據的核心技術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078437-C5BC-4D90-B497-52C21A887ADD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9810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三節路線：分析任務、學習方式、金融方法選擇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A8FB7E-61D4-46D9-9F95-466C8F14AA5C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01/11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70DBE5-9DAB-4817-BDD2-C7C3740EC01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5D1FAF-73EE-408B-850C-96C67B2BF8FA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63D902-D4DB-499C-97EF-D122DD82A5CF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028700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6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先辨認問題，再選擇分析方法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0628CF-6CF9-40C5-93E7-54438E4E53AF}"/>
              </a:ext>
            </a:extLst>
          </p:cNvPr>
          <p:cNvSpPr>
            <a:spLocks noGrp="1"/>
          </p:cNvSpPr>
          <p:nvPr/>
        </p:nvSpPr>
        <p:spPr>
          <a:xfrm>
            <a:off x="1143000" y="33337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F0FB25-C854-4936-8F17-33D9959CAF0C}"/>
              </a:ext>
            </a:extLst>
          </p:cNvPr>
          <p:cNvSpPr>
            <a:spLocks noGrp="1"/>
          </p:cNvSpPr>
          <p:nvPr/>
        </p:nvSpPr>
        <p:spPr>
          <a:xfrm>
            <a:off x="1143000" y="38576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五種分析任務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98875F3-C8DC-4D20-822A-B0D3C4482363}"/>
              </a:ext>
            </a:extLst>
          </p:cNvPr>
          <p:cNvSpPr>
            <a:spLocks noGrp="1"/>
          </p:cNvSpPr>
          <p:nvPr/>
        </p:nvSpPr>
        <p:spPr>
          <a:xfrm>
            <a:off x="4667250" y="33337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第二節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166C36-DA9D-452E-895C-F01BA1D98C83}"/>
              </a:ext>
            </a:extLst>
          </p:cNvPr>
          <p:cNvSpPr>
            <a:spLocks noGrp="1"/>
          </p:cNvSpPr>
          <p:nvPr/>
        </p:nvSpPr>
        <p:spPr>
          <a:xfrm>
            <a:off x="4667250" y="38576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監督式與非監督式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53B55C3-2100-4E8A-9AB0-ADB546CE8188}"/>
              </a:ext>
            </a:extLst>
          </p:cNvPr>
          <p:cNvSpPr>
            <a:spLocks noGrp="1"/>
          </p:cNvSpPr>
          <p:nvPr/>
        </p:nvSpPr>
        <p:spPr>
          <a:xfrm>
            <a:off x="8191500" y="33337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第三節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3497415-2FC7-4C28-82B5-70A701137C39}"/>
              </a:ext>
            </a:extLst>
          </p:cNvPr>
          <p:cNvSpPr>
            <a:spLocks noGrp="1"/>
          </p:cNvSpPr>
          <p:nvPr/>
        </p:nvSpPr>
        <p:spPr>
          <a:xfrm>
            <a:off x="8191500" y="38576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金融問題配對方法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CF580FC-5925-464C-A81D-2CAF4C95FF36}"/>
              </a:ext>
            </a:extLst>
          </p:cNvPr>
          <p:cNvSpPr>
            <a:spLocks noGrp="1"/>
          </p:cNvSpPr>
          <p:nvPr/>
        </p:nvSpPr>
        <p:spPr>
          <a:xfrm>
            <a:off x="2143125" y="5429250"/>
            <a:ext cx="790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本週建立方法地圖，後續各週再深入演算法</a:t>
            </a:r>
          </a:p>
        </p:txBody>
      </p:sp>
    </p:spTree>
    <p:extLst>
      <p:ext uri="{BB962C8B-B14F-4D97-AF65-F5344CB8AC3E}">
        <p14:creationId xmlns:p14="http://schemas.microsoft.com/office/powerpoint/2010/main" val="1978624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4ADBDC0C-AD53-4811-A028-C3186C4A01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91E067E-2921-4D1A-B91E-A091C852E33E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五種核心分析任務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DEB3B8-E878-41E3-9E2B-492DC3BE8916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02/11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326B80-187E-4CDE-BCE6-9B480D43BF8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5F7FF7-8D42-4BFC-B74B-2CB310D9C119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B811C1-62AE-461D-8F7F-902B6665EBE8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8600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描述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3BFB1E-B995-4F36-81B4-D739274A7475}"/>
              </a:ext>
            </a:extLst>
          </p:cNvPr>
          <p:cNvSpPr>
            <a:spLocks noGrp="1"/>
          </p:cNvSpPr>
          <p:nvPr/>
        </p:nvSpPr>
        <p:spPr>
          <a:xfrm>
            <a:off x="3333750" y="1476375"/>
            <a:ext cx="7858125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整理已經發生的現象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5F8FB94-64E6-4CAB-A6AE-D7771FA6C6F6}"/>
              </a:ext>
            </a:extLst>
          </p:cNvPr>
          <p:cNvSpPr>
            <a:spLocks noGrp="1"/>
          </p:cNvSpPr>
          <p:nvPr/>
        </p:nvSpPr>
        <p:spPr>
          <a:xfrm>
            <a:off x="809625" y="2305050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D86FEA-585A-4655-9D31-7946AA9C7E9B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228600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分群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7F7F5F-586B-4432-B972-AC6B80EE4B05}"/>
              </a:ext>
            </a:extLst>
          </p:cNvPr>
          <p:cNvSpPr>
            <a:spLocks noGrp="1"/>
          </p:cNvSpPr>
          <p:nvPr/>
        </p:nvSpPr>
        <p:spPr>
          <a:xfrm>
            <a:off x="3333750" y="2343150"/>
            <a:ext cx="7858125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把相似對象放在一起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0CC986-E5AD-42FB-BF10-85F59693200B}"/>
              </a:ext>
            </a:extLst>
          </p:cNvPr>
          <p:cNvSpPr>
            <a:spLocks noGrp="1"/>
          </p:cNvSpPr>
          <p:nvPr/>
        </p:nvSpPr>
        <p:spPr>
          <a:xfrm>
            <a:off x="809625" y="3171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E43EC24-5426-4920-9FDD-9567B442F59C}"/>
              </a:ext>
            </a:extLst>
          </p:cNvPr>
          <p:cNvSpPr>
            <a:spLocks noGrp="1"/>
          </p:cNvSpPr>
          <p:nvPr/>
        </p:nvSpPr>
        <p:spPr>
          <a:xfrm>
            <a:off x="857250" y="3209925"/>
            <a:ext cx="228600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關聯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12C412A-2B5B-4813-B456-8AF2F9D7B786}"/>
              </a:ext>
            </a:extLst>
          </p:cNvPr>
          <p:cNvSpPr>
            <a:spLocks noGrp="1"/>
          </p:cNvSpPr>
          <p:nvPr/>
        </p:nvSpPr>
        <p:spPr>
          <a:xfrm>
            <a:off x="3333750" y="3209925"/>
            <a:ext cx="7858125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找出經常一起出現的項目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7A5C1A-28A6-49C6-9FE4-10F01999295B}"/>
              </a:ext>
            </a:extLst>
          </p:cNvPr>
          <p:cNvSpPr>
            <a:spLocks noGrp="1"/>
          </p:cNvSpPr>
          <p:nvPr/>
        </p:nvSpPr>
        <p:spPr>
          <a:xfrm>
            <a:off x="809625" y="4038600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2E305FC-B941-433D-BFCE-0F60D4642810}"/>
              </a:ext>
            </a:extLst>
          </p:cNvPr>
          <p:cNvSpPr>
            <a:spLocks noGrp="1"/>
          </p:cNvSpPr>
          <p:nvPr/>
        </p:nvSpPr>
        <p:spPr>
          <a:xfrm>
            <a:off x="857250" y="4076700"/>
            <a:ext cx="228600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分類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6F44BA-DFD9-448A-BB4F-AF56E20B915F}"/>
              </a:ext>
            </a:extLst>
          </p:cNvPr>
          <p:cNvSpPr>
            <a:spLocks noGrp="1"/>
          </p:cNvSpPr>
          <p:nvPr/>
        </p:nvSpPr>
        <p:spPr>
          <a:xfrm>
            <a:off x="3333750" y="4076700"/>
            <a:ext cx="7858125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依已知類別判斷所屬類別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DF9E10E-B360-4F3A-81CD-A04A794E9460}"/>
              </a:ext>
            </a:extLst>
          </p:cNvPr>
          <p:cNvSpPr>
            <a:spLocks noGrp="1"/>
          </p:cNvSpPr>
          <p:nvPr/>
        </p:nvSpPr>
        <p:spPr>
          <a:xfrm>
            <a:off x="809625" y="4905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CF96218-3D5E-45C7-AD7C-FA790DD30492}"/>
              </a:ext>
            </a:extLst>
          </p:cNvPr>
          <p:cNvSpPr>
            <a:spLocks noGrp="1"/>
          </p:cNvSpPr>
          <p:nvPr/>
        </p:nvSpPr>
        <p:spPr>
          <a:xfrm>
            <a:off x="857250" y="4943475"/>
            <a:ext cx="228600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預測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A7A86F-62BF-4140-AA26-E515771117D6}"/>
              </a:ext>
            </a:extLst>
          </p:cNvPr>
          <p:cNvSpPr>
            <a:spLocks noGrp="1"/>
          </p:cNvSpPr>
          <p:nvPr/>
        </p:nvSpPr>
        <p:spPr>
          <a:xfrm>
            <a:off x="3333750" y="4943475"/>
            <a:ext cx="7858125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估計未來數值或結果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51DFEC5-1866-46B9-86B4-BE74A4EA9180}"/>
              </a:ext>
            </a:extLst>
          </p:cNvPr>
          <p:cNvSpPr>
            <a:spLocks noGrp="1"/>
          </p:cNvSpPr>
          <p:nvPr/>
        </p:nvSpPr>
        <p:spPr>
          <a:xfrm>
            <a:off x="809625" y="5772150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921086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C392DB4-4F74-4324-B0F1-FCBDE8DB1D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DD6C5F-85D5-4666-9482-02EDA85DE2B7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描述分析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90DDB24-9471-43D4-B094-FD15EB06B7B9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03/11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CA53EF-3C7C-411B-8801-24CB3B671B6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19A30C-4999-4425-A32A-1E87E7EF6AFE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0FA0F3-1D88-4B6C-9160-63EE69CF75FE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1028700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4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4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發生了什麼？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3D288F-2E7A-4A8E-9890-B986CB4114CB}"/>
              </a:ext>
            </a:extLst>
          </p:cNvPr>
          <p:cNvSpPr>
            <a:spLocks noGrp="1"/>
          </p:cNvSpPr>
          <p:nvPr/>
        </p:nvSpPr>
        <p:spPr>
          <a:xfrm>
            <a:off x="2190750" y="3476625"/>
            <a:ext cx="7810500" cy="28575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25B6E5-6C25-4EE2-B7EE-F88F10266E5D}"/>
              </a:ext>
            </a:extLst>
          </p:cNvPr>
          <p:cNvSpPr>
            <a:spLocks noGrp="1"/>
          </p:cNvSpPr>
          <p:nvPr/>
        </p:nvSpPr>
        <p:spPr>
          <a:xfrm>
            <a:off x="1666875" y="3857625"/>
            <a:ext cx="8858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2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2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以報表、彙總與視覺化呈現交易量、客戶數、損失或服務時間。描述提供現況，但不直接說明原因。</a:t>
            </a:r>
          </a:p>
        </p:txBody>
      </p:sp>
    </p:spTree>
    <p:extLst>
      <p:ext uri="{BB962C8B-B14F-4D97-AF65-F5344CB8AC3E}">
        <p14:creationId xmlns:p14="http://schemas.microsoft.com/office/powerpoint/2010/main" val="1099307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0A2EC81-CD47-436F-B376-9D2BF3C74C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69F998-A4C3-4B36-B4A8-B39728407A2F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分群 Clustering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83CABB-A779-4B9A-BF72-E0AE185D145F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04/11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CFC59B-6E73-4887-AC19-F91C2FEABF3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6798D3-C577-4F2B-943C-A40771BEFBF8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939E61-A18A-4FEB-9C74-753B903DFDA6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1028700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4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4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哪些對象彼此相似？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21B85F-616B-410F-AD7D-58A3EE1D6C77}"/>
              </a:ext>
            </a:extLst>
          </p:cNvPr>
          <p:cNvSpPr>
            <a:spLocks noGrp="1"/>
          </p:cNvSpPr>
          <p:nvPr/>
        </p:nvSpPr>
        <p:spPr>
          <a:xfrm>
            <a:off x="2190750" y="3476625"/>
            <a:ext cx="7810500" cy="28575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D5F82A-F801-4151-8BAF-DA135788BB24}"/>
              </a:ext>
            </a:extLst>
          </p:cNvPr>
          <p:cNvSpPr>
            <a:spLocks noGrp="1"/>
          </p:cNvSpPr>
          <p:nvPr/>
        </p:nvSpPr>
        <p:spPr>
          <a:xfrm>
            <a:off x="1666875" y="3857625"/>
            <a:ext cx="8858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2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2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依資料中的相似性形成群組。分析前通常不知道最後會出現哪些群，也沒有預先指定正確答案。</a:t>
            </a:r>
          </a:p>
        </p:txBody>
      </p:sp>
    </p:spTree>
    <p:extLst>
      <p:ext uri="{BB962C8B-B14F-4D97-AF65-F5344CB8AC3E}">
        <p14:creationId xmlns:p14="http://schemas.microsoft.com/office/powerpoint/2010/main" val="503254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9F1F8FD-73A6-4070-8411-9F81D45AFB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C8506C4-027E-4847-A4AB-EA33974FFD99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關聯 Association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A5743D-A7FC-4B53-A054-ED52257DFA0D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05/11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C215F2-4467-4952-9848-02A3C5A8925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1548AE-6AEB-4CE2-BEEB-66E119697703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CDDF65-2F74-417E-A9CB-B5E8A275823A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1028700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450" b="1">
                <a:solidFill>
                  <a:srgbClr val="B9852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450" b="1">
                <a:solidFill>
                  <a:srgbClr val="B9852D"/>
                </a:solidFill>
                <a:latin typeface="微軟正黑體"/>
                <a:ea typeface="微軟正黑體"/>
                <a:cs typeface="微軟正黑體"/>
              </a:rPr>
              <a:t>哪些項目經常一起出現？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6F5AC3-5290-4B23-9B66-81FADCD27B41}"/>
              </a:ext>
            </a:extLst>
          </p:cNvPr>
          <p:cNvSpPr>
            <a:spLocks noGrp="1"/>
          </p:cNvSpPr>
          <p:nvPr/>
        </p:nvSpPr>
        <p:spPr>
          <a:xfrm>
            <a:off x="2190750" y="3476625"/>
            <a:ext cx="7810500" cy="28575"/>
          </a:xfrm>
          <a:prstGeom prst="rect">
            <a:avLst/>
          </a:prstGeom>
          <a:solidFill>
            <a:srgbClr val="B9852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15FD6F7-54B0-4D36-AB71-CA8E5DC953E4}"/>
              </a:ext>
            </a:extLst>
          </p:cNvPr>
          <p:cNvSpPr>
            <a:spLocks noGrp="1"/>
          </p:cNvSpPr>
          <p:nvPr/>
        </p:nvSpPr>
        <p:spPr>
          <a:xfrm>
            <a:off x="1666875" y="3857625"/>
            <a:ext cx="8858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2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2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從交易或事件中找出共同出現的組合。關聯可以提供線索，但不能直接證明因果關係。</a:t>
            </a:r>
          </a:p>
        </p:txBody>
      </p:sp>
    </p:spTree>
    <p:extLst>
      <p:ext uri="{BB962C8B-B14F-4D97-AF65-F5344CB8AC3E}">
        <p14:creationId xmlns:p14="http://schemas.microsoft.com/office/powerpoint/2010/main" val="1176428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F3539BF-40FE-4B37-B7EF-330C2EC4D0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781727-7B91-42CD-BDEF-4AC2F83D6160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分類 Classification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349D02-077A-40AB-8694-7F34C8781ACA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06/11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6BA15F-57A6-43C4-A57C-E9B683A85D0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15EF74-2054-41A6-BB65-ABBB7C995C3C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EF97FD-BEB6-4BF1-AAFE-7EF88A07D6E7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1028700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4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4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這個對象屬於哪一類？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815D9-30C0-40B2-A991-7752F0AC3241}"/>
              </a:ext>
            </a:extLst>
          </p:cNvPr>
          <p:cNvSpPr>
            <a:spLocks noGrp="1"/>
          </p:cNvSpPr>
          <p:nvPr/>
        </p:nvSpPr>
        <p:spPr>
          <a:xfrm>
            <a:off x="2190750" y="3476625"/>
            <a:ext cx="7810500" cy="28575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109986-EE3C-4A78-BBA2-9845702D3F1C}"/>
              </a:ext>
            </a:extLst>
          </p:cNvPr>
          <p:cNvSpPr>
            <a:spLocks noGrp="1"/>
          </p:cNvSpPr>
          <p:nvPr/>
        </p:nvSpPr>
        <p:spPr>
          <a:xfrm>
            <a:off x="1666875" y="3857625"/>
            <a:ext cx="8858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2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2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從已有類別的歷史資料學習規則，再判斷新資料，例如高風險或低風險、流失或留存。</a:t>
            </a:r>
          </a:p>
        </p:txBody>
      </p:sp>
    </p:spTree>
    <p:extLst>
      <p:ext uri="{BB962C8B-B14F-4D97-AF65-F5344CB8AC3E}">
        <p14:creationId xmlns:p14="http://schemas.microsoft.com/office/powerpoint/2010/main" val="1068793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07B7402-38CF-41A4-8AAB-6E629F21BF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1507C0-C2A2-49BF-B145-1F639324BC5E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預測 Prediction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162460-E2E9-4178-BF62-058308EF5663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07/11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163483-09AD-494F-B128-B3CAAA75920A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1D393B-52FB-48EF-B345-0023EDBC359D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807895-6BC9-4FD9-8AB3-07F01CE7A656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1028700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4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4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接下來可能出現什麼結果？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71EFB6C-78D7-40E7-8BD9-45F891FEDC3B}"/>
              </a:ext>
            </a:extLst>
          </p:cNvPr>
          <p:cNvSpPr>
            <a:spLocks noGrp="1"/>
          </p:cNvSpPr>
          <p:nvPr/>
        </p:nvSpPr>
        <p:spPr>
          <a:xfrm>
            <a:off x="2190750" y="3476625"/>
            <a:ext cx="7810500" cy="28575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47BA20-9845-4D23-8FB7-335AA0A7D578}"/>
              </a:ext>
            </a:extLst>
          </p:cNvPr>
          <p:cNvSpPr>
            <a:spLocks noGrp="1"/>
          </p:cNvSpPr>
          <p:nvPr/>
        </p:nvSpPr>
        <p:spPr>
          <a:xfrm>
            <a:off x="1666875" y="3857625"/>
            <a:ext cx="8858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2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2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估計未來金額、需求、機率或事件結果。預測必須說明時間範圍、誤差與使用限制。</a:t>
            </a:r>
          </a:p>
        </p:txBody>
      </p:sp>
    </p:spTree>
    <p:extLst>
      <p:ext uri="{BB962C8B-B14F-4D97-AF65-F5344CB8AC3E}">
        <p14:creationId xmlns:p14="http://schemas.microsoft.com/office/powerpoint/2010/main" val="560717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F7C0640E-DA68-45CF-B456-220261412C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4E6D4C-550F-4973-90CD-57FEABD3DC45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同一資料可以回答不同問題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A05EF4-54E5-4FDA-BFBA-038266E8A0A8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08/11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3E04F5-8048-4797-B77A-8EC606865B9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178FE8-A987-4BE9-921F-97FAFCC8983C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CD8A4E-7F41-46A7-A66B-07E6601D9CDC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交易表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B1DA19F-6961-448F-9595-2E2F034B2EFE}"/>
              </a:ext>
            </a:extLst>
          </p:cNvPr>
          <p:cNvSpPr>
            <a:spLocks noGrp="1"/>
          </p:cNvSpPr>
          <p:nvPr/>
        </p:nvSpPr>
        <p:spPr>
          <a:xfrm>
            <a:off x="3333750" y="14763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描述本月交易量與失敗率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3B9A97-7418-4420-A31D-5A77103E0D97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62E590-5FB7-48C1-B229-C85EC16F2C7B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交易表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0183E3-4F56-43AF-ABCB-1AD3330F59AD}"/>
              </a:ext>
            </a:extLst>
          </p:cNvPr>
          <p:cNvSpPr>
            <a:spLocks noGrp="1"/>
          </p:cNvSpPr>
          <p:nvPr/>
        </p:nvSpPr>
        <p:spPr>
          <a:xfrm>
            <a:off x="3333750" y="24479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找出常一起購買的金融商品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181C88-9754-4FD5-9B9A-A6019973B3BC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44264D-6133-43C1-8DA3-59D27E7857AD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客戶表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EE95486-7C03-4FAB-AC3B-B492C8542820}"/>
              </a:ext>
            </a:extLst>
          </p:cNvPr>
          <p:cNvSpPr>
            <a:spLocks noGrp="1"/>
          </p:cNvSpPr>
          <p:nvPr/>
        </p:nvSpPr>
        <p:spPr>
          <a:xfrm>
            <a:off x="3333750" y="34194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形成具有相似特徵的客群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69AE15A-CC87-428F-8B45-6C9B75CF5940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9C5CEE-1410-44DF-8241-D0427A247FD3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歷史標籤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AD6D209-2E29-46C2-B789-437B1718E218}"/>
              </a:ext>
            </a:extLst>
          </p:cNvPr>
          <p:cNvSpPr>
            <a:spLocks noGrp="1"/>
          </p:cNvSpPr>
          <p:nvPr/>
        </p:nvSpPr>
        <p:spPr>
          <a:xfrm>
            <a:off x="3333750" y="43910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判斷新交易是否屬高風險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D0D4D4F-98A9-4936-913B-B040F18DBF80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442747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2174CB7E-5BCF-4ADA-A50D-8331A7AE78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06EC0D-DBD0-4D53-B18E-FE7719342CD1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方法選擇的四個問題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0BE060-9FF4-43FC-8448-1ACAFAD22379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09/11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9358D7-9524-4C33-853F-3088A7F5776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09DD648-81E1-49BD-A224-138F4CFB0DC8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8BD493-137B-4EDE-AAEB-4470F032D57E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目標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E4EA47-7200-4D70-A08D-09EB09B5B197}"/>
              </a:ext>
            </a:extLst>
          </p:cNvPr>
          <p:cNvSpPr>
            <a:spLocks noGrp="1"/>
          </p:cNvSpPr>
          <p:nvPr/>
        </p:nvSpPr>
        <p:spPr>
          <a:xfrm>
            <a:off x="3333750" y="14763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要描述、探索、分類還是預測？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B5AD89-2B9E-41A7-9622-2C74234D20B1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4A4D87-2A65-4436-B8E8-6B9127F7AF1B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答案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B63482-11F7-4CBC-A432-73148517798C}"/>
              </a:ext>
            </a:extLst>
          </p:cNvPr>
          <p:cNvSpPr>
            <a:spLocks noGrp="1"/>
          </p:cNvSpPr>
          <p:nvPr/>
        </p:nvSpPr>
        <p:spPr>
          <a:xfrm>
            <a:off x="3333750" y="24479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資料中是否已有可學習的正確結果？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E8DAD7-2464-4B46-B0B6-4F960D2D3893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FEF606-2FB2-4080-8D90-256F3B33C8A0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資料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1BEE8D9-DA2E-42B7-B0FC-FBFEAC37672F}"/>
              </a:ext>
            </a:extLst>
          </p:cNvPr>
          <p:cNvSpPr>
            <a:spLocks noGrp="1"/>
          </p:cNvSpPr>
          <p:nvPr/>
        </p:nvSpPr>
        <p:spPr>
          <a:xfrm>
            <a:off x="3333750" y="34194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欄位型態、品質與筆數是否適合？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668A1E9-7CF0-4755-BA39-6EC60426BF05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77A85F7-730D-448A-84DA-197988C59CEB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使用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2402B04-205B-4A52-A428-1A5397694A41}"/>
              </a:ext>
            </a:extLst>
          </p:cNvPr>
          <p:cNvSpPr>
            <a:spLocks noGrp="1"/>
          </p:cNvSpPr>
          <p:nvPr/>
        </p:nvSpPr>
        <p:spPr>
          <a:xfrm>
            <a:off x="3333750" y="43910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結果需要多快、多準與多可解釋？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96B3FA3-422F-4D3E-ACC0-D31AC7F43776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857963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B40FD406-1257-4066-A16F-EC593737FD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A97A7E-B3B2-438E-BECA-38F42E2B6231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第一節小結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AD4B43-EBD5-4E12-9DC1-14FAA33B772D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10/11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E44283-E30E-4603-8F2D-94AA3865768A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2EEF25-1618-4999-9268-08F26FEC5FFE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BCA5447-E5A0-4601-BC1A-F5308D0D7677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描述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9E85D5-0E3F-4608-BE02-B079EDAD83CE}"/>
              </a:ext>
            </a:extLst>
          </p:cNvPr>
          <p:cNvSpPr>
            <a:spLocks noGrp="1"/>
          </p:cNvSpPr>
          <p:nvPr/>
        </p:nvSpPr>
        <p:spPr>
          <a:xfrm>
            <a:off x="3333750" y="14763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整理已發生的現象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FF54CF-EAF1-4136-ADE5-13875CC6C60E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9C0AAA-E003-4F92-9DC5-4CDF0E7F954D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分群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055D3D-B3D4-497F-977C-40DDA6A1BBC8}"/>
              </a:ext>
            </a:extLst>
          </p:cNvPr>
          <p:cNvSpPr>
            <a:spLocks noGrp="1"/>
          </p:cNvSpPr>
          <p:nvPr/>
        </p:nvSpPr>
        <p:spPr>
          <a:xfrm>
            <a:off x="3333750" y="24479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依相似性形成群組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749C59-ACA6-4046-B873-4DF7B1C1AD02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0E783F-20CA-4998-AB7A-CD566E29B58A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關聯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E46CCBC-8D8B-4DC3-ACA8-D26C75465397}"/>
              </a:ext>
            </a:extLst>
          </p:cNvPr>
          <p:cNvSpPr>
            <a:spLocks noGrp="1"/>
          </p:cNvSpPr>
          <p:nvPr/>
        </p:nvSpPr>
        <p:spPr>
          <a:xfrm>
            <a:off x="3333750" y="34194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尋找共同出現的組合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036F049-485E-4DF3-B212-88CE67D6D88C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38B4FEE-784C-4CAA-A230-E25E5444DA45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分類與預測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FA379D-BA05-419F-AC9C-1CBB6F0A421E}"/>
              </a:ext>
            </a:extLst>
          </p:cNvPr>
          <p:cNvSpPr>
            <a:spLocks noGrp="1"/>
          </p:cNvSpPr>
          <p:nvPr/>
        </p:nvSpPr>
        <p:spPr>
          <a:xfrm>
            <a:off x="3333750" y="43910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從歷史資料判斷新資料或未來結果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8AD0689-9888-428C-B873-268A7ED316D7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029744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05BCEB42-EA5D-41E8-9D5C-0C9254D2C2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6E9F7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26CA98-F576-4C3D-B55E-753FA6C32675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DE458B-8331-4B28-A4FF-1F4BEED5AA51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9810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1354B1-C853-413F-95F2-7097C29E6BF9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11/11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D22C41-72F0-46CA-9C59-E5DB2E143D7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A7AD47-92C1-46DB-B6D1-6D00416C6DAB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BB92E6-E255-4EC6-90B5-874091423E28}"/>
              </a:ext>
            </a:extLst>
          </p:cNvPr>
          <p:cNvSpPr>
            <a:spLocks noGrp="1"/>
          </p:cNvSpPr>
          <p:nvPr/>
        </p:nvSpPr>
        <p:spPr>
          <a:xfrm>
            <a:off x="809625" y="1428750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『本月交易量是多少』屬於哪一類？（A 描述　B 分群）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0E183A-4304-41DA-9B79-8A7825ED5424}"/>
              </a:ext>
            </a:extLst>
          </p:cNvPr>
          <p:cNvSpPr>
            <a:spLocks noGrp="1"/>
          </p:cNvSpPr>
          <p:nvPr/>
        </p:nvSpPr>
        <p:spPr>
          <a:xfrm>
            <a:off x="809625" y="2200275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『哪些客戶彼此相似』屬於哪一類？（A 關聯　B 分群）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7CE079-BA04-4ECB-AE0E-F2A74A0DB1E8}"/>
              </a:ext>
            </a:extLst>
          </p:cNvPr>
          <p:cNvSpPr>
            <a:spLocks noGrp="1"/>
          </p:cNvSpPr>
          <p:nvPr/>
        </p:nvSpPr>
        <p:spPr>
          <a:xfrm>
            <a:off x="809625" y="2971800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『商品 A 與 B 是否常一起出現』屬於？（A 關聯　B 預測）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786170-5F27-486A-91C4-86248BA5CD79}"/>
              </a:ext>
            </a:extLst>
          </p:cNvPr>
          <p:cNvSpPr>
            <a:spLocks noGrp="1"/>
          </p:cNvSpPr>
          <p:nvPr/>
        </p:nvSpPr>
        <p:spPr>
          <a:xfrm>
            <a:off x="809625" y="3743325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判斷新客戶為高或低風險，較接近？（A 分類　B 描述）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2D3742-B4FB-4633-B969-7B9CA3AB1366}"/>
              </a:ext>
            </a:extLst>
          </p:cNvPr>
          <p:cNvSpPr>
            <a:spLocks noGrp="1"/>
          </p:cNvSpPr>
          <p:nvPr/>
        </p:nvSpPr>
        <p:spPr>
          <a:xfrm>
            <a:off x="809625" y="4514850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關聯結果可以直接證明因果嗎？（A 可以　B 不可以）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B76B1E1E-FE87-4544-AD38-5A71AEBECDA6}"/>
              </a:ext>
            </a:extLst>
          </p:cNvPr>
          <p:cNvSpPr>
            <a:spLocks noGrp="1"/>
          </p:cNvSpPr>
          <p:nvPr/>
        </p:nvSpPr>
        <p:spPr>
          <a:xfrm>
            <a:off x="666750" y="5467350"/>
            <a:ext cx="10858500" cy="685800"/>
          </a:xfrm>
          <a:prstGeom prst="roundRect">
            <a:avLst>
              <a:gd name="adj" fmla="val 11111"/>
            </a:avLst>
          </a:prstGeom>
          <a:solidFill>
            <a:srgbClr val="DCEBDD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29AFF7E-20E5-4CC1-8B4E-F14239215260}"/>
              </a:ext>
            </a:extLst>
          </p:cNvPr>
          <p:cNvSpPr>
            <a:spLocks noGrp="1"/>
          </p:cNvSpPr>
          <p:nvPr/>
        </p:nvSpPr>
        <p:spPr>
          <a:xfrm>
            <a:off x="857250" y="556260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2-B　3-A　4-A　5-B</a:t>
            </a:r>
          </a:p>
        </p:txBody>
      </p:sp>
    </p:spTree>
    <p:extLst>
      <p:ext uri="{BB962C8B-B14F-4D97-AF65-F5344CB8AC3E}">
        <p14:creationId xmlns:p14="http://schemas.microsoft.com/office/powerpoint/2010/main" val="107354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FE5A203F-7540-4FE9-8AB3-8E8A3CC364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06D626-40E6-4505-8287-A50BF7E9A253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第二節｜監督式與非監督式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5197F6-C94C-40F5-94D2-FB8F7E28D015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01/11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5D4298-E37A-4B3E-B965-79DBD38DCEB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A21EE6A-16F6-4881-BB2E-1A1ABBD30E8B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B1C0B2-4E5B-4796-8E5F-BDDF5D0859C6}"/>
              </a:ext>
            </a:extLst>
          </p:cNvPr>
          <p:cNvSpPr>
            <a:spLocks noGrp="1"/>
          </p:cNvSpPr>
          <p:nvPr/>
        </p:nvSpPr>
        <p:spPr>
          <a:xfrm>
            <a:off x="904875" y="1905000"/>
            <a:ext cx="1038225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3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關鍵差異：資料中有沒有預先知道的答案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42268E-4FD6-4564-B6FD-0AC726823B17}"/>
              </a:ext>
            </a:extLst>
          </p:cNvPr>
          <p:cNvSpPr>
            <a:spLocks noGrp="1"/>
          </p:cNvSpPr>
          <p:nvPr/>
        </p:nvSpPr>
        <p:spPr>
          <a:xfrm>
            <a:off x="1619250" y="35242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3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非監督式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38BB44-6897-4B51-9E70-DEEB1057267B}"/>
              </a:ext>
            </a:extLst>
          </p:cNvPr>
          <p:cNvSpPr>
            <a:spLocks noGrp="1"/>
          </p:cNvSpPr>
          <p:nvPr/>
        </p:nvSpPr>
        <p:spPr>
          <a:xfrm>
            <a:off x="1619250" y="4191000"/>
            <a:ext cx="3429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從資料中探索結構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6885B1-40E6-4146-9BE0-F0361A4C63A2}"/>
              </a:ext>
            </a:extLst>
          </p:cNvPr>
          <p:cNvSpPr>
            <a:spLocks noGrp="1"/>
          </p:cNvSpPr>
          <p:nvPr/>
        </p:nvSpPr>
        <p:spPr>
          <a:xfrm>
            <a:off x="7143750" y="35242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3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監督式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CF4F3A-A6ED-461C-98BE-63E1F3EC7DAE}"/>
              </a:ext>
            </a:extLst>
          </p:cNvPr>
          <p:cNvSpPr>
            <a:spLocks noGrp="1"/>
          </p:cNvSpPr>
          <p:nvPr/>
        </p:nvSpPr>
        <p:spPr>
          <a:xfrm>
            <a:off x="7143750" y="4191000"/>
            <a:ext cx="3429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從已知答案學習規則</a:t>
            </a:r>
          </a:p>
        </p:txBody>
      </p:sp>
    </p:spTree>
    <p:extLst>
      <p:ext uri="{BB962C8B-B14F-4D97-AF65-F5344CB8AC3E}">
        <p14:creationId xmlns:p14="http://schemas.microsoft.com/office/powerpoint/2010/main" val="1593997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786D77E6-E1CE-447D-A278-843752F8F8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0A9648-4B67-4723-9914-34739EBF6529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非監督式學習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1FE515-A8D1-4190-9C06-1E9A91A6E1B2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02/11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9FE17E-DB17-4FD8-943D-18BE2FBE1D8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B87F1F-F5A8-4187-9456-941F183C7AA7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866CF1-A4F5-4996-A8DD-10A8D2C20D1F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資料狀態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9A0603-D241-4AD8-866B-94A3D5BA8D68}"/>
              </a:ext>
            </a:extLst>
          </p:cNvPr>
          <p:cNvSpPr>
            <a:spLocks noGrp="1"/>
          </p:cNvSpPr>
          <p:nvPr/>
        </p:nvSpPr>
        <p:spPr>
          <a:xfrm>
            <a:off x="3333750" y="14763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沒有預先指定的正確類別或目標值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F66065-ED19-4B34-A71E-057CF5177681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36C860-E0B5-4293-A913-6689678DD657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主要工作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BD4EA75-548B-4128-8D89-62FA5AEF3255}"/>
              </a:ext>
            </a:extLst>
          </p:cNvPr>
          <p:cNvSpPr>
            <a:spLocks noGrp="1"/>
          </p:cNvSpPr>
          <p:nvPr/>
        </p:nvSpPr>
        <p:spPr>
          <a:xfrm>
            <a:off x="3333750" y="24479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探索相似性、群組或共同出現的模式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67B985-EC73-44AA-AEA2-C40E7EDAC433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0C6FB3-D806-4C3B-91CB-6A0FAE4C8486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常見方法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3E22FA-C4C6-4AB7-BB36-B1F46DC04E79}"/>
              </a:ext>
            </a:extLst>
          </p:cNvPr>
          <p:cNvSpPr>
            <a:spLocks noGrp="1"/>
          </p:cNvSpPr>
          <p:nvPr/>
        </p:nvSpPr>
        <p:spPr>
          <a:xfrm>
            <a:off x="3333750" y="34194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集群分析與關聯規則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A85A2CA-8005-4DC7-96B7-43C0A3F34A49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E983ED7-F9E7-4E45-9D93-BD31389C4F43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結果解讀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090E713-CC5D-48E6-A5A5-F00E20BE4754}"/>
              </a:ext>
            </a:extLst>
          </p:cNvPr>
          <p:cNvSpPr>
            <a:spLocks noGrp="1"/>
          </p:cNvSpPr>
          <p:nvPr/>
        </p:nvSpPr>
        <p:spPr>
          <a:xfrm>
            <a:off x="3333750" y="43910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需要領域知識為群組與規則賦予意義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14F2856-F830-42C6-9686-334DD0490B3F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985871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B427B6F6-147D-4CAC-9D98-A45A7A5D2E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F7E84F-4C63-4649-A762-F5D96702D4AC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監督式學習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2AA56C-8F26-4FDE-ACED-B5BFB8936205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03/11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316752-9C7B-46C7-9D0B-06212AA6F06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5B026D-8E84-4D55-9D41-16138391924B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809404-265A-4605-9B40-A351A6CE54E7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資料狀態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5277BF-C2F0-4C03-B85E-CF84EA32DA55}"/>
              </a:ext>
            </a:extLst>
          </p:cNvPr>
          <p:cNvSpPr>
            <a:spLocks noGrp="1"/>
          </p:cNvSpPr>
          <p:nvPr/>
        </p:nvSpPr>
        <p:spPr>
          <a:xfrm>
            <a:off x="3333750" y="14763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歷史資料已有類別或目標結果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94BD21-ED42-4296-9E02-7F11445B9CDE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C6FADC-1E67-41EC-8FE1-8B7DB39B2F2F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主要工作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E44110-568D-4B0E-9861-1BFB003FA74D}"/>
              </a:ext>
            </a:extLst>
          </p:cNvPr>
          <p:cNvSpPr>
            <a:spLocks noGrp="1"/>
          </p:cNvSpPr>
          <p:nvPr/>
        </p:nvSpPr>
        <p:spPr>
          <a:xfrm>
            <a:off x="3333750" y="24479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學習特徵與結果之間的規則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EB3754B-11F6-4579-99BB-7B53F0051CA6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ED1679B-6396-4779-86A3-2B36913517E2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常見方法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A1B0B2-DAD8-4CEF-AA73-742E08BAC420}"/>
              </a:ext>
            </a:extLst>
          </p:cNvPr>
          <p:cNvSpPr>
            <a:spLocks noGrp="1"/>
          </p:cNvSpPr>
          <p:nvPr/>
        </p:nvSpPr>
        <p:spPr>
          <a:xfrm>
            <a:off x="3333750" y="34194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決策樹、迴歸與類神經網路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6E3B14D-EFE3-48DB-B43F-CAC94911B41B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2A9F7CB-B2FA-4E42-967F-D2695FDA0CB1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結果檢查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B136CA-6846-4453-884B-2E45D23ED180}"/>
              </a:ext>
            </a:extLst>
          </p:cNvPr>
          <p:cNvSpPr>
            <a:spLocks noGrp="1"/>
          </p:cNvSpPr>
          <p:nvPr/>
        </p:nvSpPr>
        <p:spPr>
          <a:xfrm>
            <a:off x="3333750" y="43910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用未參與訓練的資料評估表現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70627E-B534-479F-96C7-810209EB63F7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01633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EEED8A5F-F7AB-44D5-8E81-0B631AA6FD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4A4422-4D3B-46A8-9D57-C3E3DB04A202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標籤與特徵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9F6815-AB3D-47FD-8FF8-49775DBF3259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04/11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82E64A-B68C-4DD0-BF92-C24B6218469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F9AE9C-08D2-4453-88C6-DB714E6AE4A0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D2DD708-4A10-4554-BBCF-42FA73A4F29C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特徵 Features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044872-346C-4930-B6C9-C80D07044E9D}"/>
              </a:ext>
            </a:extLst>
          </p:cNvPr>
          <p:cNvSpPr>
            <a:spLocks noGrp="1"/>
          </p:cNvSpPr>
          <p:nvPr/>
        </p:nvSpPr>
        <p:spPr>
          <a:xfrm>
            <a:off x="6572250" y="1571625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標籤 Label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21EA64-5C60-4568-8666-09B9BCC58F16}"/>
              </a:ext>
            </a:extLst>
          </p:cNvPr>
          <p:cNvSpPr>
            <a:spLocks noGrp="1"/>
          </p:cNvSpPr>
          <p:nvPr/>
        </p:nvSpPr>
        <p:spPr>
          <a:xfrm>
            <a:off x="6000750" y="1619250"/>
            <a:ext cx="19050" cy="38576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9371E24-9EDD-445A-A5D6-F4836A171A8F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47625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模型用來判斷的輸入資料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例：金額、時間、交易次數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必須在預測當下可以取得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C12D4A-6F3C-4E84-A70C-2EBBC64EB0C3}"/>
              </a:ext>
            </a:extLst>
          </p:cNvPr>
          <p:cNvSpPr>
            <a:spLocks noGrp="1"/>
          </p:cNvSpPr>
          <p:nvPr/>
        </p:nvSpPr>
        <p:spPr>
          <a:xfrm>
            <a:off x="6572250" y="2238375"/>
            <a:ext cx="47625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希望模型學習的正確結果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例：是否詐欺、是否流失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通常來自後續確認或人工判定</a:t>
            </a:r>
          </a:p>
        </p:txBody>
      </p:sp>
    </p:spTree>
    <p:extLst>
      <p:ext uri="{BB962C8B-B14F-4D97-AF65-F5344CB8AC3E}">
        <p14:creationId xmlns:p14="http://schemas.microsoft.com/office/powerpoint/2010/main" val="886424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2CE775CA-EDA1-46BC-AB51-19BE888BDA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2F9782-8066-4070-8886-F4CFC1985C51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分類與數值預測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7AEA72-CDAA-499D-A00A-69F636553E17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05/11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B39B3F-921B-4A47-B690-7E8AEF70029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1441AC-CC58-49E6-A1FC-EC9BBF62FED5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0574FB-855B-40B0-9F36-D7B526BF706E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分類問題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DFC4B2-ED22-4C10-812D-1A1EF295268D}"/>
              </a:ext>
            </a:extLst>
          </p:cNvPr>
          <p:cNvSpPr>
            <a:spLocks noGrp="1"/>
          </p:cNvSpPr>
          <p:nvPr/>
        </p:nvSpPr>
        <p:spPr>
          <a:xfrm>
            <a:off x="3333750" y="14763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結果是類別，例如高風險或低風險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87A7DD7-D310-4A4C-B08D-1B1407BDA6C0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55C9B8-591E-4F7E-916A-5B2ACDAE954A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數值預測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BCBF33-C8B8-40C2-B1D1-4B614EEEF6CA}"/>
              </a:ext>
            </a:extLst>
          </p:cNvPr>
          <p:cNvSpPr>
            <a:spLocks noGrp="1"/>
          </p:cNvSpPr>
          <p:nvPr/>
        </p:nvSpPr>
        <p:spPr>
          <a:xfrm>
            <a:off x="3333750" y="24479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結果是數值，例如下月需求或損失金額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D122F5-1E24-4CAA-9139-BE10D435A926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68D819-1507-4057-A46F-FC26987448B9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共同要求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5EAA13-2C51-4B4A-89CF-116C44A8BD0D}"/>
              </a:ext>
            </a:extLst>
          </p:cNvPr>
          <p:cNvSpPr>
            <a:spLocks noGrp="1"/>
          </p:cNvSpPr>
          <p:nvPr/>
        </p:nvSpPr>
        <p:spPr>
          <a:xfrm>
            <a:off x="3333750" y="34194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需要歷史結果作為學習目標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3A34A08-E6D7-4FA4-A109-803F5CFFCE8E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C8F8B2-5E82-412A-B210-0EFB1714995E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評估方式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14C076-E758-41E3-B036-743C6BD76D41}"/>
              </a:ext>
            </a:extLst>
          </p:cNvPr>
          <p:cNvSpPr>
            <a:spLocks noGrp="1"/>
          </p:cNvSpPr>
          <p:nvPr/>
        </p:nvSpPr>
        <p:spPr>
          <a:xfrm>
            <a:off x="3333750" y="43910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依任務選擇準確率、誤差或業務成本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CE8A0F-F442-41F7-A557-8E532A55245A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467435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2FBB97A6-2A2D-487C-97DC-8A9A91E85E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869DA8-BD51-4FC1-AFBA-80F6D50FBC21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資料切分的基本觀念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4B8690-82F5-471D-BF42-B45171083A90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06/11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FD0977-A703-4198-9946-E19FAE7BA5D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992B4E-45AC-4936-9162-B091193D0DED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730B5A-883E-4F36-9FCF-476574B95FF5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訓練資料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07BF68-D01B-497F-89E0-53392D3FCC2B}"/>
              </a:ext>
            </a:extLst>
          </p:cNvPr>
          <p:cNvSpPr>
            <a:spLocks noGrp="1"/>
          </p:cNvSpPr>
          <p:nvPr/>
        </p:nvSpPr>
        <p:spPr>
          <a:xfrm>
            <a:off x="3333750" y="14763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讓模型從歷史案例學習規則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3BB5DF-47AD-4E5B-B450-305B4495017E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E89384-DFB2-410F-B03E-DE38980F4F1E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驗證資料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49E14E-EC06-4694-8171-400B4A905190}"/>
              </a:ext>
            </a:extLst>
          </p:cNvPr>
          <p:cNvSpPr>
            <a:spLocks noGrp="1"/>
          </p:cNvSpPr>
          <p:nvPr/>
        </p:nvSpPr>
        <p:spPr>
          <a:xfrm>
            <a:off x="3333750" y="24479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協助調整方法與參數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AAF943-B9B4-47C9-AF04-2BCA8A6D24BF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E15A61D-AA8B-4567-84B0-B26A56DD79FF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測試資料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7D8BFE1-9611-49B5-A6CD-D2FEE16F5979}"/>
              </a:ext>
            </a:extLst>
          </p:cNvPr>
          <p:cNvSpPr>
            <a:spLocks noGrp="1"/>
          </p:cNvSpPr>
          <p:nvPr/>
        </p:nvSpPr>
        <p:spPr>
          <a:xfrm>
            <a:off x="3333750" y="34194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模擬模型遇到未見資料的表現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60125D-AED3-46E6-9FD8-DEBA9DAAB54B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18DF51C-60F7-461D-A119-3F806E82EC58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重要原則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FB1C4B6-F874-497B-9B41-846D4C463180}"/>
              </a:ext>
            </a:extLst>
          </p:cNvPr>
          <p:cNvSpPr>
            <a:spLocks noGrp="1"/>
          </p:cNvSpPr>
          <p:nvPr/>
        </p:nvSpPr>
        <p:spPr>
          <a:xfrm>
            <a:off x="3333750" y="43910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測試答案不能提前洩漏給模型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DA7DA2F-42B7-4E3E-9DE6-5BF3C1918284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649732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D6B01EC-5F28-4BCE-91C8-D55B0AED6E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27DE98-6563-413C-A0C8-0197D53929D2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過度配適 Overfitting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22BAC9-FE7A-45FB-AE27-C43E54E967FD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07/11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7D5E01-337E-4F98-A5A2-E0A958518CA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2D208E-E2E0-4309-BAE0-21A637B28951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0CC84D-E177-44ED-BB07-8C9B71A6CA05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1028700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4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4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背熟舊題，卻不會做新題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F8A715-A72F-4FEB-B20D-3EFDF6C2DF21}"/>
              </a:ext>
            </a:extLst>
          </p:cNvPr>
          <p:cNvSpPr>
            <a:spLocks noGrp="1"/>
          </p:cNvSpPr>
          <p:nvPr/>
        </p:nvSpPr>
        <p:spPr>
          <a:xfrm>
            <a:off x="2190750" y="3476625"/>
            <a:ext cx="7810500" cy="28575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F53F21-49CB-4FA0-BBC0-A1F9B7D0C4DA}"/>
              </a:ext>
            </a:extLst>
          </p:cNvPr>
          <p:cNvSpPr>
            <a:spLocks noGrp="1"/>
          </p:cNvSpPr>
          <p:nvPr/>
        </p:nvSpPr>
        <p:spPr>
          <a:xfrm>
            <a:off x="1666875" y="3857625"/>
            <a:ext cx="8858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2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2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模型若只記住訓練資料的細節，遇到新客戶或新交易時可能表現變差。</a:t>
            </a:r>
          </a:p>
        </p:txBody>
      </p:sp>
    </p:spTree>
    <p:extLst>
      <p:ext uri="{BB962C8B-B14F-4D97-AF65-F5344CB8AC3E}">
        <p14:creationId xmlns:p14="http://schemas.microsoft.com/office/powerpoint/2010/main" val="1607922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4B45B44-D65E-447A-9B1D-3AD07C2FC9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DD6188-2523-4FD4-AF90-82B3FD504F50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模型評估不只看一個分數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0A99AF-CC8E-4BBC-A7CB-2FA88AC5305F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08/11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A9D6CA-6CE5-4732-8C1D-3C5379F7094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79BD56-BCFF-44EF-85B0-8961794BA91A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0262A9-5365-4EBB-9EE9-A838C3C1A496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準確度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0E26E4-ED14-4D33-A987-15E4D45A8E40}"/>
              </a:ext>
            </a:extLst>
          </p:cNvPr>
          <p:cNvSpPr>
            <a:spLocks noGrp="1"/>
          </p:cNvSpPr>
          <p:nvPr/>
        </p:nvSpPr>
        <p:spPr>
          <a:xfrm>
            <a:off x="3333750" y="14763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整體判斷正確的比例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93E8FF-8CBA-40E6-B530-0E39EA1B2D1C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3BC643-04FD-4003-8A32-85DBD399BD48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錯誤類型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3CFC5A-94C7-4679-9B9F-13574C8A679B}"/>
              </a:ext>
            </a:extLst>
          </p:cNvPr>
          <p:cNvSpPr>
            <a:spLocks noGrp="1"/>
          </p:cNvSpPr>
          <p:nvPr/>
        </p:nvSpPr>
        <p:spPr>
          <a:xfrm>
            <a:off x="3333750" y="24479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誤擋正常交易與漏掉詐欺的影響不同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FDCAA61-6B3D-4112-9497-04D98F090880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0099081-A823-459E-9206-B49B3A7FEF4A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穩定性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2FB0B13-79EC-4ECF-A278-A6D518E51194}"/>
              </a:ext>
            </a:extLst>
          </p:cNvPr>
          <p:cNvSpPr>
            <a:spLocks noGrp="1"/>
          </p:cNvSpPr>
          <p:nvPr/>
        </p:nvSpPr>
        <p:spPr>
          <a:xfrm>
            <a:off x="3333750" y="34194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換一批資料後，結果是否仍然合理？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B952748-9451-45BC-8411-7658E5987D15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1EB58A1-5682-4415-B02D-89C5F5DD451D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業務效果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D2B295A-D2F9-4210-AD09-067680278A6B}"/>
              </a:ext>
            </a:extLst>
          </p:cNvPr>
          <p:cNvSpPr>
            <a:spLocks noGrp="1"/>
          </p:cNvSpPr>
          <p:nvPr/>
        </p:nvSpPr>
        <p:spPr>
          <a:xfrm>
            <a:off x="3333750" y="43910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是否降低損失、改善服務或節省時間？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481D54-6EA3-43A2-9897-5D3EC0CB8A96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64964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D6D63F05-0EBB-4C5C-8985-C8CB94DE85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EE0B58-622A-4671-9F82-305802EF8120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監督式與非監督式比較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FFC4E19-8520-4509-A6E4-7CD575AB8A29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09/11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882978-6BC1-461F-83F2-FAB1A41B90AA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CC99A0-89D3-4D5E-BDC3-41218687972B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00F950-CC90-47E1-9E7A-6AE250A873B8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非監督式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8AB6F2-E9A7-4A66-BFB1-D5874115A5CF}"/>
              </a:ext>
            </a:extLst>
          </p:cNvPr>
          <p:cNvSpPr>
            <a:spLocks noGrp="1"/>
          </p:cNvSpPr>
          <p:nvPr/>
        </p:nvSpPr>
        <p:spPr>
          <a:xfrm>
            <a:off x="6572250" y="1571625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監督式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7175DD-0A20-4AC3-8095-AF5593CAFEDB}"/>
              </a:ext>
            </a:extLst>
          </p:cNvPr>
          <p:cNvSpPr>
            <a:spLocks noGrp="1"/>
          </p:cNvSpPr>
          <p:nvPr/>
        </p:nvSpPr>
        <p:spPr>
          <a:xfrm>
            <a:off x="6000750" y="1619250"/>
            <a:ext cx="19050" cy="38576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54CB09F-B26D-4424-A8C2-F84D184B0CCD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47625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沒有指定答案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探索群組與關聯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重視結果的可解釋性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3690F8F-14E8-494B-B864-D3E1DD0622B7}"/>
              </a:ext>
            </a:extLst>
          </p:cNvPr>
          <p:cNvSpPr>
            <a:spLocks noGrp="1"/>
          </p:cNvSpPr>
          <p:nvPr/>
        </p:nvSpPr>
        <p:spPr>
          <a:xfrm>
            <a:off x="6572250" y="2238375"/>
            <a:ext cx="47625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具有歷史答案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學習分類或預測規則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必須用新資料評估</a:t>
            </a:r>
          </a:p>
        </p:txBody>
      </p:sp>
    </p:spTree>
    <p:extLst>
      <p:ext uri="{BB962C8B-B14F-4D97-AF65-F5344CB8AC3E}">
        <p14:creationId xmlns:p14="http://schemas.microsoft.com/office/powerpoint/2010/main" val="221237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1B865CB-1E0E-4E75-99CD-9733160D8D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85077FF-29B2-4AF8-9F8D-9A972D7D5A79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第二節小結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BD936C-A9A4-453A-9A99-09A8FC3D61D9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10/11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B54408-FDD0-4E3E-871B-40B552CF38F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EB813C-21FB-475F-971E-FE76A215773F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6608BFF-D370-4D29-973F-01948439C6B4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非監督式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BDA6EFF-0951-4E62-95D0-FBE338338390}"/>
              </a:ext>
            </a:extLst>
          </p:cNvPr>
          <p:cNvSpPr>
            <a:spLocks noGrp="1"/>
          </p:cNvSpPr>
          <p:nvPr/>
        </p:nvSpPr>
        <p:spPr>
          <a:xfrm>
            <a:off x="3333750" y="14763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從沒有答案的資料探索結構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67DB75-C377-4AD7-AADB-FA5F9E4FDF61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EC443C-8F60-4AB4-B765-227FD1F0F48A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監督式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D89CF5D-F973-4CEB-B2BB-3ECA4BFCE845}"/>
              </a:ext>
            </a:extLst>
          </p:cNvPr>
          <p:cNvSpPr>
            <a:spLocks noGrp="1"/>
          </p:cNvSpPr>
          <p:nvPr/>
        </p:nvSpPr>
        <p:spPr>
          <a:xfrm>
            <a:off x="3333750" y="24479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從已有答案的資料學習規則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F4807AE-F5F4-4538-A2F4-267091521737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31B80F-F5C3-4E95-A0B0-D18E5606ECEB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特徵與標籤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0234BBE-9DFF-4457-ACF4-D5C4BF38A2C5}"/>
              </a:ext>
            </a:extLst>
          </p:cNvPr>
          <p:cNvSpPr>
            <a:spLocks noGrp="1"/>
          </p:cNvSpPr>
          <p:nvPr/>
        </p:nvSpPr>
        <p:spPr>
          <a:xfrm>
            <a:off x="3333750" y="34194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分別是輸入資料與目標答案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6D029E-317F-4A36-9BBA-6B6D72686ABF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FDA276-C094-4CF2-8038-A7AD11A53AC2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可靠評估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9E43F7-0333-45FD-9E69-9BC7CA0CBBB3}"/>
              </a:ext>
            </a:extLst>
          </p:cNvPr>
          <p:cNvSpPr>
            <a:spLocks noGrp="1"/>
          </p:cNvSpPr>
          <p:nvPr/>
        </p:nvSpPr>
        <p:spPr>
          <a:xfrm>
            <a:off x="3333750" y="43910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模型必須面對未見資料與真實業務成本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90EDA8-536B-4700-8A92-2689BEB87AF3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752617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0BF35813-F549-4B24-9A58-1A30B79DC1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7180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3D7FE6-6B9D-4C52-9F8A-88BB9669F551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F85FC5-D4AD-493C-8AE8-08DB84A2142C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9810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D7CAE2-15F3-4AEA-8D17-D4DDEB0178A4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11/11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4EC84A-4DBA-451D-8D3E-0809966D31A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32C8E8-2497-4912-8DE0-F0659D54946E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478F04-A569-4E5A-BD8A-AC3DCAC68C5B}"/>
              </a:ext>
            </a:extLst>
          </p:cNvPr>
          <p:cNvSpPr>
            <a:spLocks noGrp="1"/>
          </p:cNvSpPr>
          <p:nvPr/>
        </p:nvSpPr>
        <p:spPr>
          <a:xfrm>
            <a:off x="809625" y="1428750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客戶分群通常屬於？（A 非監督式　B 監督式）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465943-7FE0-438E-8E1F-E315AE4783C5}"/>
              </a:ext>
            </a:extLst>
          </p:cNvPr>
          <p:cNvSpPr>
            <a:spLocks noGrp="1"/>
          </p:cNvSpPr>
          <p:nvPr/>
        </p:nvSpPr>
        <p:spPr>
          <a:xfrm>
            <a:off x="809625" y="2200275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違約預測已有歷史結果，通常屬於？（A 非監督式　B 監督式）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C02D9F-249C-4D59-A591-9D8401425743}"/>
              </a:ext>
            </a:extLst>
          </p:cNvPr>
          <p:cNvSpPr>
            <a:spLocks noGrp="1"/>
          </p:cNvSpPr>
          <p:nvPr/>
        </p:nvSpPr>
        <p:spPr>
          <a:xfrm>
            <a:off x="809625" y="2971800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模型的輸入欄位稱為？（A 特徵　B 標籤）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A7FB8D-7F9D-4CD3-8491-1F452A002FB5}"/>
              </a:ext>
            </a:extLst>
          </p:cNvPr>
          <p:cNvSpPr>
            <a:spLocks noGrp="1"/>
          </p:cNvSpPr>
          <p:nvPr/>
        </p:nvSpPr>
        <p:spPr>
          <a:xfrm>
            <a:off x="809625" y="3743325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測試資料的用途是？（A 模擬新資料表現　B 讓模型背答案）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D71865-633E-47D4-86B7-E6451EAFAF43}"/>
              </a:ext>
            </a:extLst>
          </p:cNvPr>
          <p:cNvSpPr>
            <a:spLocks noGrp="1"/>
          </p:cNvSpPr>
          <p:nvPr/>
        </p:nvSpPr>
        <p:spPr>
          <a:xfrm>
            <a:off x="809625" y="4514850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訓練很好、遇到新資料很差，可能是？（A 過度配適　B 資料視覺化）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7A1C6B4-65D1-41D0-B050-47454C71A53C}"/>
              </a:ext>
            </a:extLst>
          </p:cNvPr>
          <p:cNvSpPr>
            <a:spLocks noGrp="1"/>
          </p:cNvSpPr>
          <p:nvPr/>
        </p:nvSpPr>
        <p:spPr>
          <a:xfrm>
            <a:off x="666750" y="5467350"/>
            <a:ext cx="10858500" cy="685800"/>
          </a:xfrm>
          <a:prstGeom prst="roundRect">
            <a:avLst>
              <a:gd name="adj" fmla="val 11111"/>
            </a:avLst>
          </a:prstGeom>
          <a:solidFill>
            <a:srgbClr val="DCEDEF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6047BFD-372A-4549-96E5-C62AF2E38060}"/>
              </a:ext>
            </a:extLst>
          </p:cNvPr>
          <p:cNvSpPr>
            <a:spLocks noGrp="1"/>
          </p:cNvSpPr>
          <p:nvPr/>
        </p:nvSpPr>
        <p:spPr>
          <a:xfrm>
            <a:off x="857250" y="556260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2-B　3-A　4-A　5-A</a:t>
            </a:r>
          </a:p>
        </p:txBody>
      </p:sp>
    </p:spTree>
    <p:extLst>
      <p:ext uri="{BB962C8B-B14F-4D97-AF65-F5344CB8AC3E}">
        <p14:creationId xmlns:p14="http://schemas.microsoft.com/office/powerpoint/2010/main" val="545627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7EAFBD1C-34A8-427C-B661-4E79B748A2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A8D3C4-DB5E-43E4-ABB5-A7064E6D1E35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第三節｜金融問題與方法選擇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D2D021-955E-487C-B24B-7EF34672A9A2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01/11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F90991-A7F7-4F1C-8FD4-CDF6AE775D8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B961351-B944-4A7D-970A-05BAABB17FB6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C0F49A-BD8B-4AB4-BB79-D49D79AC0A2E}"/>
              </a:ext>
            </a:extLst>
          </p:cNvPr>
          <p:cNvSpPr>
            <a:spLocks noGrp="1"/>
          </p:cNvSpPr>
          <p:nvPr/>
        </p:nvSpPr>
        <p:spPr>
          <a:xfrm>
            <a:off x="952500" y="1857375"/>
            <a:ext cx="1028700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2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2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方法沒有單一最佳答案，只有是否適合問題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A01982-A453-4302-B272-2BDF55E25E85}"/>
              </a:ext>
            </a:extLst>
          </p:cNvPr>
          <p:cNvSpPr>
            <a:spLocks noGrp="1"/>
          </p:cNvSpPr>
          <p:nvPr/>
        </p:nvSpPr>
        <p:spPr>
          <a:xfrm>
            <a:off x="523875" y="3524250"/>
            <a:ext cx="261937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先看目標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C99F6E-44F5-432F-90F6-40BE5AB7CDAD}"/>
              </a:ext>
            </a:extLst>
          </p:cNvPr>
          <p:cNvSpPr>
            <a:spLocks noGrp="1"/>
          </p:cNvSpPr>
          <p:nvPr/>
        </p:nvSpPr>
        <p:spPr>
          <a:xfrm>
            <a:off x="523875" y="4048125"/>
            <a:ext cx="261937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想回答什麼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D706BC-56D3-4317-995C-EDD4C6BBC811}"/>
              </a:ext>
            </a:extLst>
          </p:cNvPr>
          <p:cNvSpPr>
            <a:spLocks noGrp="1"/>
          </p:cNvSpPr>
          <p:nvPr/>
        </p:nvSpPr>
        <p:spPr>
          <a:xfrm>
            <a:off x="3429000" y="3524250"/>
            <a:ext cx="261937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再看答案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E3DC358-6A17-4725-A45A-D4B93EDE44BD}"/>
              </a:ext>
            </a:extLst>
          </p:cNvPr>
          <p:cNvSpPr>
            <a:spLocks noGrp="1"/>
          </p:cNvSpPr>
          <p:nvPr/>
        </p:nvSpPr>
        <p:spPr>
          <a:xfrm>
            <a:off x="3429000" y="4048125"/>
            <a:ext cx="261937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有沒有標籤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57598C-745A-4F86-8197-83900E43BF2C}"/>
              </a:ext>
            </a:extLst>
          </p:cNvPr>
          <p:cNvSpPr>
            <a:spLocks noGrp="1"/>
          </p:cNvSpPr>
          <p:nvPr/>
        </p:nvSpPr>
        <p:spPr>
          <a:xfrm>
            <a:off x="6334125" y="3524250"/>
            <a:ext cx="261937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B9852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B9852D"/>
                </a:solidFill>
                <a:latin typeface="微軟正黑體"/>
                <a:ea typeface="微軟正黑體"/>
                <a:cs typeface="微軟正黑體"/>
              </a:rPr>
              <a:t>檢查資料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47CE10-3A9E-47FE-8BF1-BFEEF9A0D6AC}"/>
              </a:ext>
            </a:extLst>
          </p:cNvPr>
          <p:cNvSpPr>
            <a:spLocks noGrp="1"/>
          </p:cNvSpPr>
          <p:nvPr/>
        </p:nvSpPr>
        <p:spPr>
          <a:xfrm>
            <a:off x="6334125" y="4048125"/>
            <a:ext cx="261937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品質與型態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1883B3B-184C-401E-BE6D-6AE9C7E3DCA3}"/>
              </a:ext>
            </a:extLst>
          </p:cNvPr>
          <p:cNvSpPr>
            <a:spLocks noGrp="1"/>
          </p:cNvSpPr>
          <p:nvPr/>
        </p:nvSpPr>
        <p:spPr>
          <a:xfrm>
            <a:off x="9239250" y="3524250"/>
            <a:ext cx="261937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確認使用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934EB5C-F3FB-4D84-BC6D-A799FC05BFA3}"/>
              </a:ext>
            </a:extLst>
          </p:cNvPr>
          <p:cNvSpPr>
            <a:spLocks noGrp="1"/>
          </p:cNvSpPr>
          <p:nvPr/>
        </p:nvSpPr>
        <p:spPr>
          <a:xfrm>
            <a:off x="9239250" y="4048125"/>
            <a:ext cx="261937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速度與解釋</a:t>
            </a:r>
          </a:p>
        </p:txBody>
      </p:sp>
    </p:spTree>
    <p:extLst>
      <p:ext uri="{BB962C8B-B14F-4D97-AF65-F5344CB8AC3E}">
        <p14:creationId xmlns:p14="http://schemas.microsoft.com/office/powerpoint/2010/main" val="15741147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FC4195C0-A73C-46DE-AF7E-F7229542AA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682937-0A49-49E2-9472-281A30968CAC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銀行客戶經營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EAD0BB-C439-4190-8306-17DA9B1CD14F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02/11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A1099B-CF29-415B-A58A-0FD35021591A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B696BF-7770-4717-9EFA-726B491DB461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09BDE9-7837-4BE6-923C-F7365333CEE6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問題一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F115AF-49C4-4D28-9978-B1142D86DE4E}"/>
              </a:ext>
            </a:extLst>
          </p:cNvPr>
          <p:cNvSpPr>
            <a:spLocks noGrp="1"/>
          </p:cNvSpPr>
          <p:nvPr/>
        </p:nvSpPr>
        <p:spPr>
          <a:xfrm>
            <a:off x="3333750" y="14763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哪些客戶具有相似往來模式？用分群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632E04-F48F-4818-AEBA-4C6FE9C39081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A49BC0-09BB-4BEF-8B14-7E12E239D4D9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問題二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037F7A-8C75-4C26-8680-92ACA08A4C7E}"/>
              </a:ext>
            </a:extLst>
          </p:cNvPr>
          <p:cNvSpPr>
            <a:spLocks noGrp="1"/>
          </p:cNvSpPr>
          <p:nvPr/>
        </p:nvSpPr>
        <p:spPr>
          <a:xfrm>
            <a:off x="3333750" y="24479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哪些商品經常被同一客戶使用？用關聯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513160-8894-414F-BFF7-7E400E3A0C6C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CA4EB00-F3E4-4782-B840-FAE2CB3C63B3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問題三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F3F8EE-CF69-4D21-81B7-22943B48F043}"/>
              </a:ext>
            </a:extLst>
          </p:cNvPr>
          <p:cNvSpPr>
            <a:spLocks noGrp="1"/>
          </p:cNvSpPr>
          <p:nvPr/>
        </p:nvSpPr>
        <p:spPr>
          <a:xfrm>
            <a:off x="3333750" y="34194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哪些客戶可能停止使用服務？用分類或預測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95B9E87-3EC7-42A3-9138-1B1DE8DCD117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BE56786-7035-459B-B2C7-3E4578A84B5C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注意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3C66BC-6791-4AC9-8F91-9C5D41C7D83B}"/>
              </a:ext>
            </a:extLst>
          </p:cNvPr>
          <p:cNvSpPr>
            <a:spLocks noGrp="1"/>
          </p:cNvSpPr>
          <p:nvPr/>
        </p:nvSpPr>
        <p:spPr>
          <a:xfrm>
            <a:off x="3333750" y="43910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分析結果要回到服務需求，避免只做推銷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1D408A0-2B6E-4DCB-ACF0-65400899212B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2029019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0C64E05F-178B-4006-921F-E794A00CE6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55391A-A280-4021-8512-D38BB2D52D69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信用與違約風險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05836F-0D4C-4E65-BBF4-BFB7FB8EE04B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03/11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F3E37F-EA6E-44A0-BC1F-D14706BC3F1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96C3C1-EE97-419A-8E04-0C1C36B71902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6C70D1-88BC-4468-BF25-0320BF0E6360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目標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7DD23A-8774-4DFD-9F7F-6DE32A33D541}"/>
              </a:ext>
            </a:extLst>
          </p:cNvPr>
          <p:cNvSpPr>
            <a:spLocks noGrp="1"/>
          </p:cNvSpPr>
          <p:nvPr/>
        </p:nvSpPr>
        <p:spPr>
          <a:xfrm>
            <a:off x="3333750" y="14763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判斷申請者或帳戶未來是否違約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F7D87F7-AF90-40EF-8E8E-1C81915EE51B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3DE82E-A125-4106-A7BD-15265DB76872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B7A5DF1-B7E2-472F-B18D-6CB547D8E545}"/>
              </a:ext>
            </a:extLst>
          </p:cNvPr>
          <p:cNvSpPr>
            <a:spLocks noGrp="1"/>
          </p:cNvSpPr>
          <p:nvPr/>
        </p:nvSpPr>
        <p:spPr>
          <a:xfrm>
            <a:off x="3333750" y="24479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歷史還款結果與申請時可取得的特徵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DE1677-DB7D-44CC-BAEC-42A29987A54B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FE0E43-B847-4429-A304-D08FE0243BBA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方法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C51D90-7C60-463A-849A-F38C7E5F48A6}"/>
              </a:ext>
            </a:extLst>
          </p:cNvPr>
          <p:cNvSpPr>
            <a:spLocks noGrp="1"/>
          </p:cNvSpPr>
          <p:nvPr/>
        </p:nvSpPr>
        <p:spPr>
          <a:xfrm>
            <a:off x="3333750" y="34194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監督式分類，例如決策樹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B28510-ACD9-41E6-8177-B88D4F45AEEA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4C894B0-1586-49E8-B887-2F87F3BDC378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要求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B89A8F0-F6F1-4002-8AF4-BE49B7F0DEA5}"/>
              </a:ext>
            </a:extLst>
          </p:cNvPr>
          <p:cNvSpPr>
            <a:spLocks noGrp="1"/>
          </p:cNvSpPr>
          <p:nvPr/>
        </p:nvSpPr>
        <p:spPr>
          <a:xfrm>
            <a:off x="3333750" y="43910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解釋重要因素，檢查偏差並保留覆核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BDFD86-6546-44E5-B07A-A3361E41464B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227315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5207F2F3-6816-4CDC-BE52-3A1AE67B3E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D246D6-E526-4A22-8F27-49FF5EB9BE7D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異常交易與詐欺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F0D179-76CA-4598-A9A0-D31061F4E367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04/11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E57BD0-04E2-4B87-8659-5BC88A73FAD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3DF414-EE72-4A94-8689-091E4FE3AB3B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00C6A6-7C3E-4E9B-8899-46BF5D6E1CFE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已知詐欺標籤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2C7B99-38B4-43FC-A911-43A4C08BB85C}"/>
              </a:ext>
            </a:extLst>
          </p:cNvPr>
          <p:cNvSpPr>
            <a:spLocks noGrp="1"/>
          </p:cNvSpPr>
          <p:nvPr/>
        </p:nvSpPr>
        <p:spPr>
          <a:xfrm>
            <a:off x="3333750" y="14763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可用監督式分類學習歷史模式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4230A2F-EE84-41F4-AA3F-2F1E427CDDDC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BD4541-BE2F-4559-90EC-E6102DE7B59C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沒有完整標籤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1F8781-320C-4037-B1D9-28ADE2E9E06A}"/>
              </a:ext>
            </a:extLst>
          </p:cNvPr>
          <p:cNvSpPr>
            <a:spLocks noGrp="1"/>
          </p:cNvSpPr>
          <p:nvPr/>
        </p:nvSpPr>
        <p:spPr>
          <a:xfrm>
            <a:off x="3333750" y="24479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可先探索偏離常態的群組或異常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68F845F-1451-4CEB-BD3C-CA1A3AB0E1B7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AB0297-1C07-4E7E-88A1-0EE92A15DB37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即時需求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72395BE-94BA-40E6-8BE9-3C6A115189AD}"/>
              </a:ext>
            </a:extLst>
          </p:cNvPr>
          <p:cNvSpPr>
            <a:spLocks noGrp="1"/>
          </p:cNvSpPr>
          <p:nvPr/>
        </p:nvSpPr>
        <p:spPr>
          <a:xfrm>
            <a:off x="3333750" y="34194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方法與系統必須在交易時限內完成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8612C84-3B81-45A5-96C2-66BDE8DC1A47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ABE298D-0B52-42B3-8A65-DF14B04AED28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評估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0BC267-C934-4655-B8A3-7C990E2CC5D8}"/>
              </a:ext>
            </a:extLst>
          </p:cNvPr>
          <p:cNvSpPr>
            <a:spLocks noGrp="1"/>
          </p:cNvSpPr>
          <p:nvPr/>
        </p:nvSpPr>
        <p:spPr>
          <a:xfrm>
            <a:off x="3333750" y="43910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同時衡量攔截、漏失與誤擋成本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739AD83-1CC4-49D3-807A-1939F0C10556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2665750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2E869335-6740-41BE-B4E3-7BF9AC6AFB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4E2702-767F-4BE2-84DA-5FFDEC6F3690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證券與投資研究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2387BA-E8DF-461B-B46C-1C55A9AFC40A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05/11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3E4B113-5FEC-432F-AB2E-E3839972604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4F94A8-F169-4583-9652-160847596C90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AF98846-B5EE-4E16-A2AF-6F64BD8FBC4A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描述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D81047-40E4-4723-8917-C75717CFF469}"/>
              </a:ext>
            </a:extLst>
          </p:cNvPr>
          <p:cNvSpPr>
            <a:spLocks noGrp="1"/>
          </p:cNvSpPr>
          <p:nvPr/>
        </p:nvSpPr>
        <p:spPr>
          <a:xfrm>
            <a:off x="3333750" y="14763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整理行情、成交與持倉變化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DE7D6C-2569-443B-9DA9-7B181B5E7471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EC7486-12D7-4E81-AFE5-0D51051E70C9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分群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64668C-EFAC-4473-A855-61ECDCB4AB03}"/>
              </a:ext>
            </a:extLst>
          </p:cNvPr>
          <p:cNvSpPr>
            <a:spLocks noGrp="1"/>
          </p:cNvSpPr>
          <p:nvPr/>
        </p:nvSpPr>
        <p:spPr>
          <a:xfrm>
            <a:off x="3333750" y="24479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找出相似股票、基金或投資人行為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096D49-BCCC-4B34-B942-660D453CDAD4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E1ABF9-04E1-4C98-8AB3-5152A185A4F1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分類與預測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563340-352C-4055-BFE0-3931BA72B5F3}"/>
              </a:ext>
            </a:extLst>
          </p:cNvPr>
          <p:cNvSpPr>
            <a:spLocks noGrp="1"/>
          </p:cNvSpPr>
          <p:nvPr/>
        </p:nvSpPr>
        <p:spPr>
          <a:xfrm>
            <a:off x="3333750" y="34194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判斷風險類別或估計未來數值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0E96F71-BB41-4768-9C44-1100F92841B1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D08177-785B-407D-A5E7-69DCBC83E9BF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限制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11C706C-9457-4FCB-9D64-7BA0107BE625}"/>
              </a:ext>
            </a:extLst>
          </p:cNvPr>
          <p:cNvSpPr>
            <a:spLocks noGrp="1"/>
          </p:cNvSpPr>
          <p:nvPr/>
        </p:nvSpPr>
        <p:spPr>
          <a:xfrm>
            <a:off x="3333750" y="43910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市場環境會變，歷史規律可能失效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C6CE427-CCB6-42D4-9C1F-31E6C7FF925E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9813122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3F33786-1CE0-4159-A68E-324DBC4526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77DF7F-F5D0-4550-85F3-D5958092933B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保險與理賠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321F05-1D14-4900-951D-B8E2555D3DD3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06/11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55799CC-DCD2-46A6-A70A-87C368C41C0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173F063-894B-49E1-81A9-81A0B4224F82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C66335-192B-49BA-9DCB-41B0F8727A89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分群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74A912-2652-40D8-AB75-335D5191CF96}"/>
              </a:ext>
            </a:extLst>
          </p:cNvPr>
          <p:cNvSpPr>
            <a:spLocks noGrp="1"/>
          </p:cNvSpPr>
          <p:nvPr/>
        </p:nvSpPr>
        <p:spPr>
          <a:xfrm>
            <a:off x="3333750" y="14763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依案件特徵安排處理流程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1E1EFE-8680-4740-93D2-41D44972E041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8519133-3B13-4A5B-B1AD-5122C24952DB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分類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529DC3-2894-41B0-A1D9-06EE5EB173C9}"/>
              </a:ext>
            </a:extLst>
          </p:cNvPr>
          <p:cNvSpPr>
            <a:spLocks noGrp="1"/>
          </p:cNvSpPr>
          <p:nvPr/>
        </p:nvSpPr>
        <p:spPr>
          <a:xfrm>
            <a:off x="3333750" y="24479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判斷案件是否需要進一步查證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790188-9EFB-49A7-955E-EB5E9855F9F8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893714-550E-4776-8AC9-F16DC06152F6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預測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621E4AB-D5EC-4619-902E-5FF659F3519F}"/>
              </a:ext>
            </a:extLst>
          </p:cNvPr>
          <p:cNvSpPr>
            <a:spLocks noGrp="1"/>
          </p:cNvSpPr>
          <p:nvPr/>
        </p:nvSpPr>
        <p:spPr>
          <a:xfrm>
            <a:off x="3333750" y="34194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估計理賠金額或處理時間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C81D096-1162-4CC0-85B5-E820D75848F2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F828295-8681-46E2-9AB1-D76DB11A5EDE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要求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A3E3BB3-8A96-464E-AD21-DDFCDF5B87A6}"/>
              </a:ext>
            </a:extLst>
          </p:cNvPr>
          <p:cNvSpPr>
            <a:spLocks noGrp="1"/>
          </p:cNvSpPr>
          <p:nvPr/>
        </p:nvSpPr>
        <p:spPr>
          <a:xfrm>
            <a:off x="3333750" y="43910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重要判定需有人員覆核與申訴機制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5C984F9-0168-4200-A3B0-71647A227133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0757026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DC6EF6D-4A2C-4A63-B511-21C6A68206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5639EA-242A-4D87-A70D-6068F49256FD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文字資料的方法選擇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E05BA9-F271-473E-805A-7B0528E8A425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07/11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6EB666-0212-4D26-9382-B652E92B299F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FF01A4-795C-4484-84F7-DDD8E2A84073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588F27-4071-4D89-9905-C87BF75B15E3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描述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D03E45-7EC2-46A1-B585-0ACEBE4A29C7}"/>
              </a:ext>
            </a:extLst>
          </p:cNvPr>
          <p:cNvSpPr>
            <a:spLocks noGrp="1"/>
          </p:cNvSpPr>
          <p:nvPr/>
        </p:nvSpPr>
        <p:spPr>
          <a:xfrm>
            <a:off x="3333750" y="14763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統計常見詞與問題類型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6F5541-6B19-4290-9253-010F2EA77421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D73D17-BDC8-49AF-B478-D20CF64184D1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分群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41CF1C-5ED3-44B6-898D-EF391CA8D196}"/>
              </a:ext>
            </a:extLst>
          </p:cNvPr>
          <p:cNvSpPr>
            <a:spLocks noGrp="1"/>
          </p:cNvSpPr>
          <p:nvPr/>
        </p:nvSpPr>
        <p:spPr>
          <a:xfrm>
            <a:off x="3333750" y="24479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把相似客服內容或新聞放在一起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93551F-8697-4AA3-A748-DEA90385ACE6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33F1D20-369C-4614-8264-8B6A8A75D0E9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分類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B0B989C-23D3-4CFB-9F6C-797468BEFD32}"/>
              </a:ext>
            </a:extLst>
          </p:cNvPr>
          <p:cNvSpPr>
            <a:spLocks noGrp="1"/>
          </p:cNvSpPr>
          <p:nvPr/>
        </p:nvSpPr>
        <p:spPr>
          <a:xfrm>
            <a:off x="3333750" y="34194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判斷申訴類型或文字情緒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3A1EBF6-8121-4974-A465-41CEFB9303E1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01B1E50-7DF9-4CD8-9D12-40702B3AD4E6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限制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D20A885-888B-412D-8538-5CE544D5CD1C}"/>
              </a:ext>
            </a:extLst>
          </p:cNvPr>
          <p:cNvSpPr>
            <a:spLocks noGrp="1"/>
          </p:cNvSpPr>
          <p:nvPr/>
        </p:nvSpPr>
        <p:spPr>
          <a:xfrm>
            <a:off x="3333750" y="43910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語意受上下文影響，需人工抽查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4D8A87-DAE0-485B-A6EC-A161FCF6B6D5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669310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214EF369-644F-47F6-B624-6BC1B6C463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E3321C9-0EEB-4103-9DA8-59C1AD3D9427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方法選擇矩陣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3D6D17-88B8-433E-88C3-4CB4AE74E515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08/11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46BBBFA-5BA9-4F51-A937-68D7D2BA521F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B39568-B6EA-4665-A349-F8476EE03167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F0B12D-B55C-4A69-AAA5-F032DD2961A3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8600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沒有答案，找相似對象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C99EDBC-CD4F-4488-B921-8FD19885F769}"/>
              </a:ext>
            </a:extLst>
          </p:cNvPr>
          <p:cNvSpPr>
            <a:spLocks noGrp="1"/>
          </p:cNvSpPr>
          <p:nvPr/>
        </p:nvSpPr>
        <p:spPr>
          <a:xfrm>
            <a:off x="3333750" y="1476375"/>
            <a:ext cx="7858125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20D512-7AB4-4D92-97AA-2687436D2F2C}"/>
              </a:ext>
            </a:extLst>
          </p:cNvPr>
          <p:cNvSpPr>
            <a:spLocks noGrp="1"/>
          </p:cNvSpPr>
          <p:nvPr/>
        </p:nvSpPr>
        <p:spPr>
          <a:xfrm>
            <a:off x="809625" y="2305050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CAFE9CA-08AF-440D-A815-83C4FD2BE523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228600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沒有答案，找共同出現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888F2A-E51A-42BD-9B56-5B334C37A5F9}"/>
              </a:ext>
            </a:extLst>
          </p:cNvPr>
          <p:cNvSpPr>
            <a:spLocks noGrp="1"/>
          </p:cNvSpPr>
          <p:nvPr/>
        </p:nvSpPr>
        <p:spPr>
          <a:xfrm>
            <a:off x="3333750" y="2343150"/>
            <a:ext cx="7858125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關聯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EC01CA-309B-4F9B-8A77-39DA2B126C73}"/>
              </a:ext>
            </a:extLst>
          </p:cNvPr>
          <p:cNvSpPr>
            <a:spLocks noGrp="1"/>
          </p:cNvSpPr>
          <p:nvPr/>
        </p:nvSpPr>
        <p:spPr>
          <a:xfrm>
            <a:off x="809625" y="3171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5E3C087-360D-4714-B8DD-80C9F395E3D7}"/>
              </a:ext>
            </a:extLst>
          </p:cNvPr>
          <p:cNvSpPr>
            <a:spLocks noGrp="1"/>
          </p:cNvSpPr>
          <p:nvPr/>
        </p:nvSpPr>
        <p:spPr>
          <a:xfrm>
            <a:off x="857250" y="3209925"/>
            <a:ext cx="228600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有答案，結果是類別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0BCC3A-A175-4054-BFB3-9A8DD044C656}"/>
              </a:ext>
            </a:extLst>
          </p:cNvPr>
          <p:cNvSpPr>
            <a:spLocks noGrp="1"/>
          </p:cNvSpPr>
          <p:nvPr/>
        </p:nvSpPr>
        <p:spPr>
          <a:xfrm>
            <a:off x="3333750" y="3209925"/>
            <a:ext cx="7858125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分類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6F4355-3DA1-4752-B403-D6A75C452988}"/>
              </a:ext>
            </a:extLst>
          </p:cNvPr>
          <p:cNvSpPr>
            <a:spLocks noGrp="1"/>
          </p:cNvSpPr>
          <p:nvPr/>
        </p:nvSpPr>
        <p:spPr>
          <a:xfrm>
            <a:off x="809625" y="4038600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846B6A8-AC95-4E5B-8A05-2E7F5A453A18}"/>
              </a:ext>
            </a:extLst>
          </p:cNvPr>
          <p:cNvSpPr>
            <a:spLocks noGrp="1"/>
          </p:cNvSpPr>
          <p:nvPr/>
        </p:nvSpPr>
        <p:spPr>
          <a:xfrm>
            <a:off x="857250" y="4076700"/>
            <a:ext cx="228600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有答案，結果是數值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15DFBD2-0F51-4379-A140-B86C4FB16837}"/>
              </a:ext>
            </a:extLst>
          </p:cNvPr>
          <p:cNvSpPr>
            <a:spLocks noGrp="1"/>
          </p:cNvSpPr>
          <p:nvPr/>
        </p:nvSpPr>
        <p:spPr>
          <a:xfrm>
            <a:off x="3333750" y="4076700"/>
            <a:ext cx="7858125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預測或迴歸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C308C1-92C1-4160-9EC2-69ABC48E4C51}"/>
              </a:ext>
            </a:extLst>
          </p:cNvPr>
          <p:cNvSpPr>
            <a:spLocks noGrp="1"/>
          </p:cNvSpPr>
          <p:nvPr/>
        </p:nvSpPr>
        <p:spPr>
          <a:xfrm>
            <a:off x="809625" y="4905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B9CAF08-52B5-45B2-A2A3-2438D0935B78}"/>
              </a:ext>
            </a:extLst>
          </p:cNvPr>
          <p:cNvSpPr>
            <a:spLocks noGrp="1"/>
          </p:cNvSpPr>
          <p:nvPr/>
        </p:nvSpPr>
        <p:spPr>
          <a:xfrm>
            <a:off x="857250" y="4943475"/>
            <a:ext cx="228600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只想掌握現況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9F48ABF-B084-4D81-9A77-5D83C0367464}"/>
              </a:ext>
            </a:extLst>
          </p:cNvPr>
          <p:cNvSpPr>
            <a:spLocks noGrp="1"/>
          </p:cNvSpPr>
          <p:nvPr/>
        </p:nvSpPr>
        <p:spPr>
          <a:xfrm>
            <a:off x="3333750" y="4943475"/>
            <a:ext cx="7858125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描述與視覺化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92795AF-0AEC-41DC-B4D2-55CB360198DF}"/>
              </a:ext>
            </a:extLst>
          </p:cNvPr>
          <p:cNvSpPr>
            <a:spLocks noGrp="1"/>
          </p:cNvSpPr>
          <p:nvPr/>
        </p:nvSpPr>
        <p:spPr>
          <a:xfrm>
            <a:off x="809625" y="5772150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2281560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A937301-1345-4F51-B06B-51682B8E37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C2E6B76-F0A2-4578-B569-16D09B0B8DF4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模型輸出與決策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3639C4-74E7-4B41-8916-9AB4C2AC2713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09/11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AAF749-86D3-43F4-96F9-36B7E69C11D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97B8CA-5AAC-452B-A60E-CD368CF2908C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B3109A-0CAF-4CCA-AF00-0CB1BEF9CA70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模型提供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91DF2-7339-424A-990C-C65BB40E0D28}"/>
              </a:ext>
            </a:extLst>
          </p:cNvPr>
          <p:cNvSpPr>
            <a:spLocks noGrp="1"/>
          </p:cNvSpPr>
          <p:nvPr/>
        </p:nvSpPr>
        <p:spPr>
          <a:xfrm>
            <a:off x="6572250" y="1571625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人員負責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14DB7E-5BE5-426E-A128-3B3B028CD64C}"/>
              </a:ext>
            </a:extLst>
          </p:cNvPr>
          <p:cNvSpPr>
            <a:spLocks noGrp="1"/>
          </p:cNvSpPr>
          <p:nvPr/>
        </p:nvSpPr>
        <p:spPr>
          <a:xfrm>
            <a:off x="6000750" y="1619250"/>
            <a:ext cx="19050" cy="38576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E95DEF2-66D4-495B-85B4-35602DDAA9AA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47625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群組、規則、分數或預測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資料中的模式與不確定性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協助排序與找出線索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834F2B-FA90-4BEC-9963-93C984173571}"/>
              </a:ext>
            </a:extLst>
          </p:cNvPr>
          <p:cNvSpPr>
            <a:spLocks noGrp="1"/>
          </p:cNvSpPr>
          <p:nvPr/>
        </p:nvSpPr>
        <p:spPr>
          <a:xfrm>
            <a:off x="6572250" y="2238375"/>
            <a:ext cx="47625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確認情境與法規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判斷處置是否合理</a:t>
            </a:r>
          </a:p>
          <a:p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說明限制並承擔決策</a:t>
            </a:r>
          </a:p>
        </p:txBody>
      </p:sp>
    </p:spTree>
    <p:extLst>
      <p:ext uri="{BB962C8B-B14F-4D97-AF65-F5344CB8AC3E}">
        <p14:creationId xmlns:p14="http://schemas.microsoft.com/office/powerpoint/2010/main" val="12615038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97F59420-ABF7-4B9E-96A2-2AEC4E13CD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D59DB9-F68B-4FF2-A0D8-86DEA491ACB7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04 全週小結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DF59B2-798C-4355-9181-189622D7F438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10/11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D152E1-9F10-4599-9000-3872E03B7D8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03C6A8-A266-42C8-8FD3-1CF7EB02F203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695946-A917-45CD-8F6A-EFC447F01D8A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任務地圖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D0FDBB9-7F40-4DE7-9DE9-4B868D1797B7}"/>
              </a:ext>
            </a:extLst>
          </p:cNvPr>
          <p:cNvSpPr>
            <a:spLocks noGrp="1"/>
          </p:cNvSpPr>
          <p:nvPr/>
        </p:nvSpPr>
        <p:spPr>
          <a:xfrm>
            <a:off x="3333750" y="14763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描述、分群、關聯、分類與預測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6E21475-8050-4904-99F5-0555B5E0C031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0B6C7E-1BB3-4B47-9656-10B413711525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學習方式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71D60C-8F80-47B0-98FD-E5EED7BDD327}"/>
              </a:ext>
            </a:extLst>
          </p:cNvPr>
          <p:cNvSpPr>
            <a:spLocks noGrp="1"/>
          </p:cNvSpPr>
          <p:nvPr/>
        </p:nvSpPr>
        <p:spPr>
          <a:xfrm>
            <a:off x="3333750" y="24479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依是否有歷史答案區分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35F4B0-03FB-45BB-A31E-5BEEEDFC5059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FD92186-BE4F-4DCA-8A3C-ECA6B62FAE4E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方法選擇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2F192B4-5CE1-444A-BD83-820641411458}"/>
              </a:ext>
            </a:extLst>
          </p:cNvPr>
          <p:cNvSpPr>
            <a:spLocks noGrp="1"/>
          </p:cNvSpPr>
          <p:nvPr/>
        </p:nvSpPr>
        <p:spPr>
          <a:xfrm>
            <a:off x="3333750" y="341947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配合問題、資料、時限與解釋需求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DC88CEE-F5B5-4DB0-BCE8-03D34CE1BB86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49CA23C-9AD1-4701-BFC6-D6B4D76346D8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286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金融責任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85A8785-61B9-4802-B0DA-2855B10B2F79}"/>
              </a:ext>
            </a:extLst>
          </p:cNvPr>
          <p:cNvSpPr>
            <a:spLocks noGrp="1"/>
          </p:cNvSpPr>
          <p:nvPr/>
        </p:nvSpPr>
        <p:spPr>
          <a:xfrm>
            <a:off x="3333750" y="4391025"/>
            <a:ext cx="7858125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衡量錯誤成本、偏差與人工覆核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BA9BAF-602C-4666-AB47-9CA4352BD0C4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10525125" cy="9525"/>
          </a:xfrm>
          <a:prstGeom prst="rect">
            <a:avLst/>
          </a:prstGeom>
          <a:solidFill>
            <a:srgbClr val="B9CE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0225236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D1B83088-4353-4365-B7C1-E11E651475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515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AB325E-225C-4938-B800-7168A7736876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D3BC17-B654-4E39-B642-62679548ED83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9810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0B4788-9AF9-4791-A6AE-E50D83FB4476}"/>
              </a:ext>
            </a:extLst>
          </p:cNvPr>
          <p:cNvSpPr>
            <a:spLocks noGrp="1"/>
          </p:cNvSpPr>
          <p:nvPr/>
        </p:nvSpPr>
        <p:spPr>
          <a:xfrm>
            <a:off x="10096500" y="45720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11/11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251574-1A76-46A9-8586-6CE058AAE1F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9D785A-AF5B-4926-9E62-3732EAD8ABE7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70A5BD-2E90-4A36-9FE5-A696AD38355F}"/>
              </a:ext>
            </a:extLst>
          </p:cNvPr>
          <p:cNvSpPr>
            <a:spLocks noGrp="1"/>
          </p:cNvSpPr>
          <p:nvPr/>
        </p:nvSpPr>
        <p:spPr>
          <a:xfrm>
            <a:off x="809625" y="1428750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找出相似客戶，較適合哪個任務？（A 分群　B 分類）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E50BB2B-1BB5-4422-BF1E-631C9EF34737}"/>
              </a:ext>
            </a:extLst>
          </p:cNvPr>
          <p:cNvSpPr>
            <a:spLocks noGrp="1"/>
          </p:cNvSpPr>
          <p:nvPr/>
        </p:nvSpPr>
        <p:spPr>
          <a:xfrm>
            <a:off x="809625" y="2200275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已有違約標籤，要判斷新客戶，較適合？（A 分類　B 關聯）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D50563-7135-42FE-8B17-FB9C217882CB}"/>
              </a:ext>
            </a:extLst>
          </p:cNvPr>
          <p:cNvSpPr>
            <a:spLocks noGrp="1"/>
          </p:cNvSpPr>
          <p:nvPr/>
        </p:nvSpPr>
        <p:spPr>
          <a:xfrm>
            <a:off x="809625" y="2971800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找出常一起使用的商品，較適合？（A 關聯　B 描述）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18B191-A677-43D8-BA0D-2CAF05744411}"/>
              </a:ext>
            </a:extLst>
          </p:cNvPr>
          <p:cNvSpPr>
            <a:spLocks noGrp="1"/>
          </p:cNvSpPr>
          <p:nvPr/>
        </p:nvSpPr>
        <p:spPr>
          <a:xfrm>
            <a:off x="809625" y="3743325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市場規律是否可能隨時間改變？（A 可能　B 不可能）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6A9D7C2-9E6D-4DE2-B6D8-236CD5636F6B}"/>
              </a:ext>
            </a:extLst>
          </p:cNvPr>
          <p:cNvSpPr>
            <a:spLocks noGrp="1"/>
          </p:cNvSpPr>
          <p:nvPr/>
        </p:nvSpPr>
        <p:spPr>
          <a:xfrm>
            <a:off x="809625" y="4514850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模型輸出後，誰仍需判斷情境與責任？（A 人員與組織　B 沒有人）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3C4F8FA-8F2D-45BB-BA27-8B155C5CD858}"/>
              </a:ext>
            </a:extLst>
          </p:cNvPr>
          <p:cNvSpPr>
            <a:spLocks noGrp="1"/>
          </p:cNvSpPr>
          <p:nvPr/>
        </p:nvSpPr>
        <p:spPr>
          <a:xfrm>
            <a:off x="666750" y="5467350"/>
            <a:ext cx="10858500" cy="685800"/>
          </a:xfrm>
          <a:prstGeom prst="roundRect">
            <a:avLst>
              <a:gd name="adj" fmla="val 11111"/>
            </a:avLst>
          </a:prstGeom>
          <a:solidFill>
            <a:srgbClr val="F6E6D7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8EFDC5-936E-471B-B28B-B976C2013DAB}"/>
              </a:ext>
            </a:extLst>
          </p:cNvPr>
          <p:cNvSpPr>
            <a:spLocks noGrp="1"/>
          </p:cNvSpPr>
          <p:nvPr/>
        </p:nvSpPr>
        <p:spPr>
          <a:xfrm>
            <a:off x="857250" y="556260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2-A　3-A　4-A　5-A</a:t>
            </a:r>
          </a:p>
        </p:txBody>
      </p:sp>
    </p:spTree>
    <p:extLst>
      <p:ext uri="{BB962C8B-B14F-4D97-AF65-F5344CB8AC3E}">
        <p14:creationId xmlns:p14="http://schemas.microsoft.com/office/powerpoint/2010/main" val="141941767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1373</Words>
  <Application>Microsoft Office PowerPoint</Application>
  <DocSecurity>0</DocSecurity>
  <PresentationFormat>寬螢幕</PresentationFormat>
  <Paragraphs>426</Paragraphs>
  <Slides>33</Slides>
  <Notes>33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36" baseType="lpstr">
      <vt:lpstr>微軟正黑體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桂珍 邱</cp:lastModifiedBy>
  <cp:revision>1</cp:revision>
  <dcterms:created xsi:type="dcterms:W3CDTF">2026-09-04T07:00:55Z</dcterms:created>
  <dcterms:modified xsi:type="dcterms:W3CDTF">2026-09-04T07:07:25Z</dcterms:modified>
</cp:coreProperties>
</file>