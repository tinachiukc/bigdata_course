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af667efb8f45db" /><Relationship Type="http://schemas.openxmlformats.org/officeDocument/2006/relationships/extended-properties" Target="/docProps/app.xml" Id="Ra3a01fd60d304d66" /><Relationship Type="http://schemas.openxmlformats.org/officeDocument/2006/relationships/officeDocument" Target="/ppt/presentation.xml" Id="R3595987988f94d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7bbc2a467f463a"/>
  </p:sldMasterIdLst>
  <p:notesMasterIdLst>
    <p:notesMasterId xmlns:r="http://schemas.openxmlformats.org/officeDocument/2006/relationships" r:id="R774ca1a45385428d"/>
  </p:notesMasterIdLst>
  <p:sldIdLst>
    <p:sldId xmlns:r="http://schemas.openxmlformats.org/officeDocument/2006/relationships" id="256" r:id="Rd7e4170058484dac"/>
    <p:sldId xmlns:r="http://schemas.openxmlformats.org/officeDocument/2006/relationships" id="257" r:id="R33701cf7248e4cb6"/>
    <p:sldId xmlns:r="http://schemas.openxmlformats.org/officeDocument/2006/relationships" id="258" r:id="R458c30de4963421a"/>
    <p:sldId xmlns:r="http://schemas.openxmlformats.org/officeDocument/2006/relationships" id="259" r:id="R53b36d3f25ac414c"/>
    <p:sldId xmlns:r="http://schemas.openxmlformats.org/officeDocument/2006/relationships" id="260" r:id="R3beb5504303243d6"/>
    <p:sldId xmlns:r="http://schemas.openxmlformats.org/officeDocument/2006/relationships" id="261" r:id="Rc11570d5aa3f4b6f"/>
    <p:sldId xmlns:r="http://schemas.openxmlformats.org/officeDocument/2006/relationships" id="262" r:id="Ra52c30bde5ec46c5"/>
    <p:sldId xmlns:r="http://schemas.openxmlformats.org/officeDocument/2006/relationships" id="263" r:id="Redad5cb1242d477f"/>
    <p:sldId xmlns:r="http://schemas.openxmlformats.org/officeDocument/2006/relationships" id="264" r:id="R483813e1bd094ed3"/>
    <p:sldId xmlns:r="http://schemas.openxmlformats.org/officeDocument/2006/relationships" id="265" r:id="R725b0c2e2d5849b6"/>
    <p:sldId xmlns:r="http://schemas.openxmlformats.org/officeDocument/2006/relationships" id="266" r:id="R6135578c60344e2a"/>
    <p:sldId xmlns:r="http://schemas.openxmlformats.org/officeDocument/2006/relationships" id="267" r:id="R33328c8c04b449ac"/>
    <p:sldId xmlns:r="http://schemas.openxmlformats.org/officeDocument/2006/relationships" id="268" r:id="Rf03a9dce07c54855"/>
    <p:sldId xmlns:r="http://schemas.openxmlformats.org/officeDocument/2006/relationships" id="269" r:id="Raa7c80e21ed242c0"/>
    <p:sldId xmlns:r="http://schemas.openxmlformats.org/officeDocument/2006/relationships" id="270" r:id="Re581832c29734143"/>
    <p:sldId xmlns:r="http://schemas.openxmlformats.org/officeDocument/2006/relationships" id="271" r:id="R2a37effb2b084099"/>
    <p:sldId xmlns:r="http://schemas.openxmlformats.org/officeDocument/2006/relationships" id="272" r:id="R48b3e8cd4645445b"/>
    <p:sldId xmlns:r="http://schemas.openxmlformats.org/officeDocument/2006/relationships" id="273" r:id="Re94e60c4e2164c5d"/>
    <p:sldId xmlns:r="http://schemas.openxmlformats.org/officeDocument/2006/relationships" id="274" r:id="R77f7ba132a8d470f"/>
    <p:sldId xmlns:r="http://schemas.openxmlformats.org/officeDocument/2006/relationships" id="275" r:id="Ree8cb195abe0483c"/>
    <p:sldId xmlns:r="http://schemas.openxmlformats.org/officeDocument/2006/relationships" id="276" r:id="Rcf25a85645b040b4"/>
    <p:sldId xmlns:r="http://schemas.openxmlformats.org/officeDocument/2006/relationships" id="277" r:id="Rcae7e7d9605f48cc"/>
    <p:sldId xmlns:r="http://schemas.openxmlformats.org/officeDocument/2006/relationships" id="278" r:id="R99337eab84144959"/>
    <p:sldId xmlns:r="http://schemas.openxmlformats.org/officeDocument/2006/relationships" id="279" r:id="R0e99a5d697164e47"/>
    <p:sldId xmlns:r="http://schemas.openxmlformats.org/officeDocument/2006/relationships" id="280" r:id="Ra584dd627d064005"/>
    <p:sldId xmlns:r="http://schemas.openxmlformats.org/officeDocument/2006/relationships" id="281" r:id="Rb4691230bff94293"/>
    <p:sldId xmlns:r="http://schemas.openxmlformats.org/officeDocument/2006/relationships" id="282" r:id="Rb2cc494d06a94bc2"/>
    <p:sldId xmlns:r="http://schemas.openxmlformats.org/officeDocument/2006/relationships" id="283" r:id="R99cc8a80ef394b00"/>
    <p:sldId xmlns:r="http://schemas.openxmlformats.org/officeDocument/2006/relationships" id="284" r:id="R047dbe41c21c496b"/>
    <p:sldId xmlns:r="http://schemas.openxmlformats.org/officeDocument/2006/relationships" id="285" r:id="R96a80886c41447af"/>
    <p:sldId xmlns:r="http://schemas.openxmlformats.org/officeDocument/2006/relationships" id="286" r:id="Re094b651a9c740b5"/>
    <p:sldId xmlns:r="http://schemas.openxmlformats.org/officeDocument/2006/relationships" id="287" r:id="Rf3f5bd2354324e01"/>
    <p:sldId xmlns:r="http://schemas.openxmlformats.org/officeDocument/2006/relationships" id="288" r:id="R5dfcab1d037c45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3d79c03fa4180" /><Relationship Type="http://schemas.openxmlformats.org/officeDocument/2006/relationships/slideMaster" Target="/ppt/slideMasters/slideMaster1.xml" Id="R6e7bbc2a467f463a" /><Relationship Type="http://schemas.openxmlformats.org/officeDocument/2006/relationships/notesMaster" Target="/ppt/notesMasters/notesMaster1.xml" Id="R774ca1a45385428d" /><Relationship Type="http://schemas.openxmlformats.org/officeDocument/2006/relationships/presProps" Target="/ppt/presProps.xml" Id="Rf5aabebd6678461b" /><Relationship Type="http://schemas.openxmlformats.org/officeDocument/2006/relationships/tableStyles" Target="/ppt/tableStyles.xml" Id="Ra773c5ebb6cf4b36" /><Relationship Type="http://schemas.openxmlformats.org/officeDocument/2006/relationships/slide" Target="/ppt/slides/slide1.xml" Id="Rd7e4170058484dac" /><Relationship Type="http://schemas.openxmlformats.org/officeDocument/2006/relationships/slide" Target="/ppt/slides/slide2.xml" Id="R33701cf7248e4cb6" /><Relationship Type="http://schemas.openxmlformats.org/officeDocument/2006/relationships/slide" Target="/ppt/slides/slide3.xml" Id="R458c30de4963421a" /><Relationship Type="http://schemas.openxmlformats.org/officeDocument/2006/relationships/slide" Target="/ppt/slides/slide4.xml" Id="R53b36d3f25ac414c" /><Relationship Type="http://schemas.openxmlformats.org/officeDocument/2006/relationships/slide" Target="/ppt/slides/slide5.xml" Id="R3beb5504303243d6" /><Relationship Type="http://schemas.openxmlformats.org/officeDocument/2006/relationships/slide" Target="/ppt/slides/slide6.xml" Id="Rc11570d5aa3f4b6f" /><Relationship Type="http://schemas.openxmlformats.org/officeDocument/2006/relationships/slide" Target="/ppt/slides/slide7.xml" Id="Ra52c30bde5ec46c5" /><Relationship Type="http://schemas.openxmlformats.org/officeDocument/2006/relationships/slide" Target="/ppt/slides/slide8.xml" Id="Redad5cb1242d477f" /><Relationship Type="http://schemas.openxmlformats.org/officeDocument/2006/relationships/slide" Target="/ppt/slides/slide9.xml" Id="R483813e1bd094ed3" /><Relationship Type="http://schemas.openxmlformats.org/officeDocument/2006/relationships/slide" Target="/ppt/slides/slide10.xml" Id="R725b0c2e2d5849b6" /><Relationship Type="http://schemas.openxmlformats.org/officeDocument/2006/relationships/slide" Target="/ppt/slides/slide11.xml" Id="R6135578c60344e2a" /><Relationship Type="http://schemas.openxmlformats.org/officeDocument/2006/relationships/slide" Target="/ppt/slides/slide12.xml" Id="R33328c8c04b449ac" /><Relationship Type="http://schemas.openxmlformats.org/officeDocument/2006/relationships/slide" Target="/ppt/slides/slide13.xml" Id="Rf03a9dce07c54855" /><Relationship Type="http://schemas.openxmlformats.org/officeDocument/2006/relationships/slide" Target="/ppt/slides/slide14.xml" Id="Raa7c80e21ed242c0" /><Relationship Type="http://schemas.openxmlformats.org/officeDocument/2006/relationships/slide" Target="/ppt/slides/slide15.xml" Id="Re581832c29734143" /><Relationship Type="http://schemas.openxmlformats.org/officeDocument/2006/relationships/slide" Target="/ppt/slides/slide16.xml" Id="R2a37effb2b084099" /><Relationship Type="http://schemas.openxmlformats.org/officeDocument/2006/relationships/slide" Target="/ppt/slides/slide17.xml" Id="R48b3e8cd4645445b" /><Relationship Type="http://schemas.openxmlformats.org/officeDocument/2006/relationships/slide" Target="/ppt/slides/slide18.xml" Id="Re94e60c4e2164c5d" /><Relationship Type="http://schemas.openxmlformats.org/officeDocument/2006/relationships/slide" Target="/ppt/slides/slide19.xml" Id="R77f7ba132a8d470f" /><Relationship Type="http://schemas.openxmlformats.org/officeDocument/2006/relationships/slide" Target="/ppt/slides/slide20.xml" Id="Ree8cb195abe0483c" /><Relationship Type="http://schemas.openxmlformats.org/officeDocument/2006/relationships/slide" Target="/ppt/slides/slide21.xml" Id="Rcf25a85645b040b4" /><Relationship Type="http://schemas.openxmlformats.org/officeDocument/2006/relationships/slide" Target="/ppt/slides/slide22.xml" Id="Rcae7e7d9605f48cc" /><Relationship Type="http://schemas.openxmlformats.org/officeDocument/2006/relationships/slide" Target="/ppt/slides/slide23.xml" Id="R99337eab84144959" /><Relationship Type="http://schemas.openxmlformats.org/officeDocument/2006/relationships/slide" Target="/ppt/slides/slide24.xml" Id="R0e99a5d697164e47" /><Relationship Type="http://schemas.openxmlformats.org/officeDocument/2006/relationships/slide" Target="/ppt/slides/slide25.xml" Id="Ra584dd627d064005" /><Relationship Type="http://schemas.openxmlformats.org/officeDocument/2006/relationships/slide" Target="/ppt/slides/slide26.xml" Id="Rb4691230bff94293" /><Relationship Type="http://schemas.openxmlformats.org/officeDocument/2006/relationships/slide" Target="/ppt/slides/slide27.xml" Id="Rb2cc494d06a94bc2" /><Relationship Type="http://schemas.openxmlformats.org/officeDocument/2006/relationships/slide" Target="/ppt/slides/slide28.xml" Id="R99cc8a80ef394b00" /><Relationship Type="http://schemas.openxmlformats.org/officeDocument/2006/relationships/slide" Target="/ppt/slides/slide29.xml" Id="R047dbe41c21c496b" /><Relationship Type="http://schemas.openxmlformats.org/officeDocument/2006/relationships/slide" Target="/ppt/slides/slide30.xml" Id="R96a80886c41447af" /><Relationship Type="http://schemas.openxmlformats.org/officeDocument/2006/relationships/slide" Target="/ppt/slides/slide31.xml" Id="Re094b651a9c740b5" /><Relationship Type="http://schemas.openxmlformats.org/officeDocument/2006/relationships/slide" Target="/ppt/slides/slide32.xml" Id="Rf3f5bd2354324e01" /><Relationship Type="http://schemas.openxmlformats.org/officeDocument/2006/relationships/slide" Target="/ppt/slides/slide33.xml" Id="R5dfcab1d037c45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57aa345c1b4f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2d8b13142144e7" /><Relationship Type="http://schemas.openxmlformats.org/officeDocument/2006/relationships/notesMaster" Target="/ppt/notesMasters/notesMaster1.xml" Id="R03c271697cfa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5ea6e4632f4ab4" /><Relationship Type="http://schemas.openxmlformats.org/officeDocument/2006/relationships/notesMaster" Target="/ppt/notesMasters/notesMaster1.xml" Id="Rab5abb6652dd4d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f343d287cd48bd" /><Relationship Type="http://schemas.openxmlformats.org/officeDocument/2006/relationships/notesMaster" Target="/ppt/notesMasters/notesMaster1.xml" Id="Rd4341a3b6163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129e8751d74c3e" /><Relationship Type="http://schemas.openxmlformats.org/officeDocument/2006/relationships/notesMaster" Target="/ppt/notesMasters/notesMaster1.xml" Id="R08cdd197efed43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1a694e344540b9" /><Relationship Type="http://schemas.openxmlformats.org/officeDocument/2006/relationships/notesMaster" Target="/ppt/notesMasters/notesMaster1.xml" Id="Rf0f0d276d7a940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83e677b44d4bd5" /><Relationship Type="http://schemas.openxmlformats.org/officeDocument/2006/relationships/notesMaster" Target="/ppt/notesMasters/notesMaster1.xml" Id="R3f7b9df47e974d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cb3cab82e5485f" /><Relationship Type="http://schemas.openxmlformats.org/officeDocument/2006/relationships/notesMaster" Target="/ppt/notesMasters/notesMaster1.xml" Id="R7097547d263049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e94b003ad04b90" /><Relationship Type="http://schemas.openxmlformats.org/officeDocument/2006/relationships/notesMaster" Target="/ppt/notesMasters/notesMaster1.xml" Id="R46972e9404e245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136fe6dd2d439a" /><Relationship Type="http://schemas.openxmlformats.org/officeDocument/2006/relationships/notesMaster" Target="/ppt/notesMasters/notesMaster1.xml" Id="Rbe9c5789d2d344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4150ead2a24578" /><Relationship Type="http://schemas.openxmlformats.org/officeDocument/2006/relationships/notesMaster" Target="/ppt/notesMasters/notesMaster1.xml" Id="R2a27a9011c5a4e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568d0361e1436b" /><Relationship Type="http://schemas.openxmlformats.org/officeDocument/2006/relationships/notesMaster" Target="/ppt/notesMasters/notesMaster1.xml" Id="R4c2fa771ea7949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e680f334ad4525" /><Relationship Type="http://schemas.openxmlformats.org/officeDocument/2006/relationships/notesMaster" Target="/ppt/notesMasters/notesMaster1.xml" Id="Rd9b06083b7854e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cb8493e75f47fe" /><Relationship Type="http://schemas.openxmlformats.org/officeDocument/2006/relationships/notesMaster" Target="/ppt/notesMasters/notesMaster1.xml" Id="R070bc0ab1d3749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72b62434a74c51" /><Relationship Type="http://schemas.openxmlformats.org/officeDocument/2006/relationships/notesMaster" Target="/ppt/notesMasters/notesMaster1.xml" Id="R8cfff18e09454b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38159746064d2c" /><Relationship Type="http://schemas.openxmlformats.org/officeDocument/2006/relationships/notesMaster" Target="/ppt/notesMasters/notesMaster1.xml" Id="Raf59706fba8449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b70822be5349eb" /><Relationship Type="http://schemas.openxmlformats.org/officeDocument/2006/relationships/notesMaster" Target="/ppt/notesMasters/notesMaster1.xml" Id="R6b98578ab73547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e49da1f31341a5" /><Relationship Type="http://schemas.openxmlformats.org/officeDocument/2006/relationships/notesMaster" Target="/ppt/notesMasters/notesMaster1.xml" Id="Rbe6fc10d0b7445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da0a8bb9294c32" /><Relationship Type="http://schemas.openxmlformats.org/officeDocument/2006/relationships/notesMaster" Target="/ppt/notesMasters/notesMaster1.xml" Id="R5e32e50be10848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a0d151a9344695" /><Relationship Type="http://schemas.openxmlformats.org/officeDocument/2006/relationships/notesMaster" Target="/ppt/notesMasters/notesMaster1.xml" Id="R9aa5ba4a386241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93b529c3bb4d25" /><Relationship Type="http://schemas.openxmlformats.org/officeDocument/2006/relationships/notesMaster" Target="/ppt/notesMasters/notesMaster1.xml" Id="Rbc5ad7c737334c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271192ab144d1d" /><Relationship Type="http://schemas.openxmlformats.org/officeDocument/2006/relationships/notesMaster" Target="/ppt/notesMasters/notesMaster1.xml" Id="Rff85b580e9a64da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2dfa3058b64d94" /><Relationship Type="http://schemas.openxmlformats.org/officeDocument/2006/relationships/notesMaster" Target="/ppt/notesMasters/notesMaster1.xml" Id="R398facce4f2d41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9795fe21cb4303" /><Relationship Type="http://schemas.openxmlformats.org/officeDocument/2006/relationships/notesMaster" Target="/ppt/notesMasters/notesMaster1.xml" Id="R6ad19a57470d44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89a07f6e76747db" /><Relationship Type="http://schemas.openxmlformats.org/officeDocument/2006/relationships/notesMaster" Target="/ppt/notesMasters/notesMaster1.xml" Id="R3bbcc4b10c3e4d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bd963194b9422d" /><Relationship Type="http://schemas.openxmlformats.org/officeDocument/2006/relationships/notesMaster" Target="/ppt/notesMasters/notesMaster1.xml" Id="R310dc408d6ae4b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798780627145d1" /><Relationship Type="http://schemas.openxmlformats.org/officeDocument/2006/relationships/notesMaster" Target="/ppt/notesMasters/notesMaster1.xml" Id="Rfe214e9937764cb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429223a7c0e4f7d" /><Relationship Type="http://schemas.openxmlformats.org/officeDocument/2006/relationships/notesMaster" Target="/ppt/notesMasters/notesMaster1.xml" Id="R15ab49e31af84c5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a8acd662caa427a" /><Relationship Type="http://schemas.openxmlformats.org/officeDocument/2006/relationships/notesMaster" Target="/ppt/notesMasters/notesMaster1.xml" Id="Re4ab84f46d74491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98ae870b0e4669" /><Relationship Type="http://schemas.openxmlformats.org/officeDocument/2006/relationships/notesMaster" Target="/ppt/notesMasters/notesMaster1.xml" Id="Re89841f267bc45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8d7aaf18524aa2" /><Relationship Type="http://schemas.openxmlformats.org/officeDocument/2006/relationships/notesMaster" Target="/ppt/notesMasters/notesMaster1.xml" Id="R5123cb4ef353499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6450c7b65764d46" /><Relationship Type="http://schemas.openxmlformats.org/officeDocument/2006/relationships/notesMaster" Target="/ppt/notesMasters/notesMaster1.xml" Id="R47b7b7ce3bcd42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5f3eaec0fa4aaf" /><Relationship Type="http://schemas.openxmlformats.org/officeDocument/2006/relationships/notesMaster" Target="/ppt/notesMasters/notesMaster1.xml" Id="R0d6c632cda41464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f1aeceaadfd4de6" /><Relationship Type="http://schemas.openxmlformats.org/officeDocument/2006/relationships/notesMaster" Target="/ppt/notesMasters/notesMaster1.xml" Id="R746c971b8aac47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教學提示：以中文金融文本建立前處理概念。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教學提示：用簡例說明詞頻、文件頻率與 TF-IDF。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教學提示：以銀行常見文本討論應用、驗證與治理。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16「Python 文字分析實例：文字雲」頁 467–492，重整網頁文字、jieba、詞庫、停用詞、詞頻、TF-IDF 與文字雲；新增金融文本應用、結果驗證、隱私與公平。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83282d2f643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4e1396b01e4c51" /><Relationship Type="http://schemas.openxmlformats.org/officeDocument/2006/relationships/slideLayout" Target="/ppt/slideLayouts/slideLayout1.xml" Id="R68ccdf5975e549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cdf5975e549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258cdbd114be4" /><Relationship Type="http://schemas.openxmlformats.org/officeDocument/2006/relationships/notesSlide" Target="/ppt/notesSlides/notesSlide1.xml" Id="R24622d466325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4da068cc8462e" /><Relationship Type="http://schemas.openxmlformats.org/officeDocument/2006/relationships/notesSlide" Target="/ppt/notesSlides/notesSlide2.xml" Id="R397bcec28ee949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12c90682e4eae" /><Relationship Type="http://schemas.openxmlformats.org/officeDocument/2006/relationships/notesSlide" Target="/ppt/notesSlides/notesSlide3.xml" Id="R3e7b34b55ba44a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1a54a9cbc4302" /><Relationship Type="http://schemas.openxmlformats.org/officeDocument/2006/relationships/notesSlide" Target="/ppt/notesSlides/notesSlide4.xml" Id="R38264b5380b949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59c828d4b4013" /><Relationship Type="http://schemas.openxmlformats.org/officeDocument/2006/relationships/notesSlide" Target="/ppt/notesSlides/notesSlide5.xml" Id="R5f7c2c06ecfc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7558b4bab4a04" /><Relationship Type="http://schemas.openxmlformats.org/officeDocument/2006/relationships/notesSlide" Target="/ppt/notesSlides/notesSlide6.xml" Id="R0192ee352752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4ffbc885947c8" /><Relationship Type="http://schemas.openxmlformats.org/officeDocument/2006/relationships/notesSlide" Target="/ppt/notesSlides/notesSlide7.xml" Id="R6e07f7f837eb42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d10a1c94b4586" /><Relationship Type="http://schemas.openxmlformats.org/officeDocument/2006/relationships/notesSlide" Target="/ppt/notesSlides/notesSlide8.xml" Id="R0ec2346d23184c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03589bca444f1" /><Relationship Type="http://schemas.openxmlformats.org/officeDocument/2006/relationships/notesSlide" Target="/ppt/notesSlides/notesSlide9.xml" Id="Rffd3fd15eadf4b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f68dae4d842c9" /><Relationship Type="http://schemas.openxmlformats.org/officeDocument/2006/relationships/notesSlide" Target="/ppt/notesSlides/notesSlide10.xml" Id="R0cf49f5962e242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83c6d7f5f4fd0" /><Relationship Type="http://schemas.openxmlformats.org/officeDocument/2006/relationships/notesSlide" Target="/ppt/notesSlides/notesSlide11.xml" Id="R4308d9212b904a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f55c05ba84349" /><Relationship Type="http://schemas.openxmlformats.org/officeDocument/2006/relationships/notesSlide" Target="/ppt/notesSlides/notesSlide12.xml" Id="R92918754048d4a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cadd74080448e" /><Relationship Type="http://schemas.openxmlformats.org/officeDocument/2006/relationships/notesSlide" Target="/ppt/notesSlides/notesSlide13.xml" Id="R26e34fdde4644f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ace3fcca74553" /><Relationship Type="http://schemas.openxmlformats.org/officeDocument/2006/relationships/notesSlide" Target="/ppt/notesSlides/notesSlide14.xml" Id="R886a272dba2f4e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6cdc10206484c" /><Relationship Type="http://schemas.openxmlformats.org/officeDocument/2006/relationships/notesSlide" Target="/ppt/notesSlides/notesSlide15.xml" Id="R0d8a58351a3849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4f948cb0b46e9" /><Relationship Type="http://schemas.openxmlformats.org/officeDocument/2006/relationships/notesSlide" Target="/ppt/notesSlides/notesSlide16.xml" Id="Rb7b95a6f344347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0e72ffa7f4a19" /><Relationship Type="http://schemas.openxmlformats.org/officeDocument/2006/relationships/notesSlide" Target="/ppt/notesSlides/notesSlide17.xml" Id="R5394ceae3a3045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36df19df46ce" /><Relationship Type="http://schemas.openxmlformats.org/officeDocument/2006/relationships/notesSlide" Target="/ppt/notesSlides/notesSlide18.xml" Id="R2e1f0d9d5ba343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b84774b1c420c" /><Relationship Type="http://schemas.openxmlformats.org/officeDocument/2006/relationships/notesSlide" Target="/ppt/notesSlides/notesSlide19.xml" Id="R28fbc498a02e4f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018d8c052446e" /><Relationship Type="http://schemas.openxmlformats.org/officeDocument/2006/relationships/notesSlide" Target="/ppt/notesSlides/notesSlide20.xml" Id="R1be6c7dd9f9044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a8eb864514675" /><Relationship Type="http://schemas.openxmlformats.org/officeDocument/2006/relationships/notesSlide" Target="/ppt/notesSlides/notesSlide21.xml" Id="Rf635975d32c34a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875a018c54f11" /><Relationship Type="http://schemas.openxmlformats.org/officeDocument/2006/relationships/notesSlide" Target="/ppt/notesSlides/notesSlide22.xml" Id="R15a8afd66ef144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56045ad1043c1" /><Relationship Type="http://schemas.openxmlformats.org/officeDocument/2006/relationships/notesSlide" Target="/ppt/notesSlides/notesSlide23.xml" Id="Rc580c86abc094a9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cfdd7d0ee4816" /><Relationship Type="http://schemas.openxmlformats.org/officeDocument/2006/relationships/notesSlide" Target="/ppt/notesSlides/notesSlide24.xml" Id="R37716cef85814ba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ccb1e4ea64339" /><Relationship Type="http://schemas.openxmlformats.org/officeDocument/2006/relationships/notesSlide" Target="/ppt/notesSlides/notesSlide25.xml" Id="R22af61d0d85240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a20c66ed2453d" /><Relationship Type="http://schemas.openxmlformats.org/officeDocument/2006/relationships/notesSlide" Target="/ppt/notesSlides/notesSlide26.xml" Id="R020a572420e94e3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ca889ae354a2e" /><Relationship Type="http://schemas.openxmlformats.org/officeDocument/2006/relationships/notesSlide" Target="/ppt/notesSlides/notesSlide27.xml" Id="R4e7baf9c50324f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871a759ad4449" /><Relationship Type="http://schemas.openxmlformats.org/officeDocument/2006/relationships/notesSlide" Target="/ppt/notesSlides/notesSlide28.xml" Id="Rca0d3939c7b74e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b25b096c54bf8" /><Relationship Type="http://schemas.openxmlformats.org/officeDocument/2006/relationships/notesSlide" Target="/ppt/notesSlides/notesSlide29.xml" Id="R080b615cb1064b9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6ce44b941414c" /><Relationship Type="http://schemas.openxmlformats.org/officeDocument/2006/relationships/notesSlide" Target="/ppt/notesSlides/notesSlide30.xml" Id="Rf2e5d17b1b144f4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e43da1dd04de3" /><Relationship Type="http://schemas.openxmlformats.org/officeDocument/2006/relationships/notesSlide" Target="/ppt/notesSlides/notesSlide31.xml" Id="R5e68be0a8df941e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d2acca2664b5a" /><Relationship Type="http://schemas.openxmlformats.org/officeDocument/2006/relationships/notesSlide" Target="/ppt/notesSlides/notesSlide32.xml" Id="R758c058fcc68488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4725b371849cd" /><Relationship Type="http://schemas.openxmlformats.org/officeDocument/2006/relationships/notesSlide" Target="/ppt/notesSlides/notesSlide33.xml" Id="Rd79b9fc3914948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42412-7624-4A25-887C-4043155E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8BD22-FB63-4749-87AE-2E6F2BE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15｜文字探勘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780A1-AFDE-409B-B8E9-56BF5C74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1EC7D-57FE-424D-95CD-330D3682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077BC-DC59-461D-832E-3D9D23C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15F3D-FCF9-4F9B-B14E-63CCF9CE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C9AE5-CDE3-4E14-9B93-47D0B684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大量文字如何整理成可分析的資料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448B9-A73B-44F9-8B50-5357CBB3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C6030-504F-41D4-B430-FE10D381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學習主線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0272F-740F-4A39-8802-237DF7A1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清理、斷詞、量化、解讀與應用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F2769-EDDA-47A8-B323-B4121F6E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87619-570B-4600-9967-C8E53EF8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E8C19-F606-4B0E-9D0C-149FA6F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能說明文字探勘流程並判讀結果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9D7D0-BAAE-4F90-A3B0-91886CBD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4E4F3-1A09-45DB-ACF9-1DBBFCF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課程原則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13C41-26E8-4F31-9379-2C7C4DD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重視概念與金融情境，程式只作示範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2B64F-A408-4CD8-A7FD-7BFDA93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77979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EEA18-3C2B-4439-BF2A-E86ADB45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2C88D-0FD3-4AA9-A2D1-D80118D7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文字資料的來源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114A3-3863-455F-A555-4CD6E5B3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EBD36-D4CC-46D6-91C4-12EF9D78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859A3-7879-491F-91F9-A4ABD25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C5F9B-4EA6-4540-AA31-6CE75559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客服紀錄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3E86D-3577-4D99-8EF4-71B2820A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電話摘要、聊天內容與服務備註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E43DF-2650-439D-A01E-119FF2F2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93F0F-8214-4B79-8D66-C02F5CC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公開資訊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7CB6E-B34D-440C-B1F4-6D0ADFDB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新聞、公告與法說會文字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36B53-326B-494D-93BB-C5C41B8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3D29B-763A-42D8-B09A-FDC0427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顧客聲音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2C26F-72D4-4AA8-A242-7DB3CD9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問卷開放題、申訴與社群留言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ACFFB-D0EB-461A-BF33-C20104B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AA1AB-E4BB-4E08-82FF-9C9024E6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共同特性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1F283-C775-42BA-8802-9AE53C0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內容豐富，但格式與用字不一致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0FFD1-CF38-40F5-8A45-4E87B4A4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5528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732AE-FE96-45E2-85C9-ABE0A94C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24639-B060-4D90-A827-29906917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文件、語料與詞彙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E56E5-BDF0-4C39-8BEB-D40CFB03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03654-8D3D-4FBE-BB2A-0CBBCA93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D3172-EC97-4C97-9CAD-A11B5C03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B105E-CFFF-4631-A596-0511106B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文件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54351-4273-495E-8973-F3BFA7FE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一則新聞、一封申訴或一段對話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0E04B-2759-4A02-8D18-48BD4E7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08CFE-E1C7-4414-956D-452773F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語料 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9A5F0-C8B3-46BF-BDAF-084872F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為分析目的蒐集的一組文件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2178D-3BE8-486D-978C-4ACF1B7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0C57A-1009-4032-8BAE-6C4EAAF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詞彙 Vocabulary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20126-ED1C-4C00-96AA-1EE47B6E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語料中保留的不同詞語集合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2F15D-94BA-420D-947F-FAEB43A6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642A6-6B3E-450B-B272-FFF45746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分析單位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F51C2-40CE-41C4-A932-79B6C330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先決定文件邊界，結果才有一致意義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82122-2774-4836-851C-1064EDE2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46507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914DF-7016-455B-8B5B-9A97CEA1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7A539-55F1-4F13-8EC2-3663BA1D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文字成為資料的流程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3ACF9-F77D-4AA1-BF09-A7CC8837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DDF6F-7820-4B22-B058-0D51B6F1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FC185-B22D-4514-AE8B-2C2CE7A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FED98-8710-421B-8386-A74F4D1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蒐集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4CE86-9D56-4699-A640-A8AB7FC0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確認來源、期間、欄位與使用權限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D1B2C-7E30-4FE6-A471-31989D2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408E8-4DFA-451F-8BE0-A78A19C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清理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F618F-4670-4C72-8B99-BD21DA2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統一格式並處理雜訊與缺漏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05656-F000-4718-B995-6D3B957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671C2-966A-469A-8DC6-E850964F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斷詞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AEA55-0514-41D6-AAF6-9F3F0BD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把連續中文切成可分析的詞語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93F0-2428-4CD6-964C-F3ADBA33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A0196-C980-4179-A8C4-6AED956D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量化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29216-18E7-4C37-AEFF-034B2B45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轉為詞頻或重要性等數值特徵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2B2C9-99C2-4D8B-A1B7-574869D5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9812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01386-DCB2-4D6F-A81C-ED18840C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B3A6C-C52A-442D-914A-06A59E5C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文字清理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40294-3893-4921-80FE-8B51A12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5B06F-D8F0-418F-A51B-AA33C6F1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3F915-CB39-4835-A78F-6FFD6DA2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00220-FBBB-4991-9465-7D9DCE45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格式統一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5426A-9D6D-411B-B0DC-3475AB2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全形半形、大小寫與日期格式一致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3113B-9BE2-41EE-83F0-850D8C4A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7E449-A12B-4C77-9651-3962008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雜訊處理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D7925-C77B-49F4-9985-39430AE3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移除無意義標記、網址或重複內容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513FD-0C12-4C5F-B8CF-36981222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84113-17E3-4196-B566-A272C3C9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保留資訊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8FC1B-71E3-4C4B-83DA-6B781122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金額、否定詞與產品名稱可能很重要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A7810-47DF-4B39-BFF9-1E865153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18FDF-3B8C-4F69-830B-C0BC0B9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CF00E-A692-4FFC-A1E5-5A07239A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清理規則要配合分析目的並留下紀錄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5F357-F754-4211-847F-85CBDF96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3830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FF338-79B9-4139-A450-54224E8D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26376-FA72-489C-B624-D9A4CAA6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中文斷詞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B1791-4C8F-4E19-9B91-E9EF7ED5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8015B-ED79-4907-93BB-9C977E8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E0E29-1727-4100-AF74-E875958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08682-FAD9-4632-B201-4821F0BF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困難來源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6CA90-6867-454C-BE83-4F464BA5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中文句子通常沒有天然空格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0947B-9FE4-4DC6-BB9F-B4669D3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D5DA1-BCAC-4470-8460-8968E8A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斷詞結果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25D94-A069-43F8-895B-D0DAA2F6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把句子切成具有意義的詞語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42F69-1D69-4101-8F8A-A0463010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389D6-2448-46A1-8390-5F65D59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不同工具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06985-8DCD-4DDE-B497-01204A12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規則、詞典與統計模型可能產生不同結果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5F81C-231B-4D29-8F29-9A3E5A0C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DC334-0AEC-4365-BF74-5C6C71B3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檢查方式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FE549-984E-48E9-BA91-8E05275D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抽樣閱讀原文與斷詞結果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F52AC-5E73-4289-B4E2-4D7C2282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90638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0993C-6A32-449C-88CB-58EA78E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79BF8-5789-46D9-ADE9-762BF924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金融專有詞庫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BB36F-C5F6-4630-BE83-2972A76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28F88-A099-4EA3-8D16-92ABBA61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C6D90-FB24-4D1F-9B9B-563B8FD0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EB2F4-97A4-4C28-8FB0-11AAE75B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272B9-618E-4BFF-9E7F-0AF00091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讓系統辨識產品、機構與業務用語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8429F-7265-4230-B6C7-56B9BD6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C56E0-7ED6-4D3F-8F2A-59B1F696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例子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1B012-6EB5-45BE-BEA6-6CE6DE1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信用卡、房貸寬限期、違約交割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E25F4-7FC8-41EB-9CF1-A97AD8FD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9E4B4-721E-4DBB-ABA3-EE08EF1D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自訂詞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E40CA-4A44-47C7-94BE-28946F50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加入新商品、縮寫或常見合併詞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DE8D-5763-4EBF-94A2-CD48A9EB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0B97D-7892-4FD7-8749-027EAB91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持續更新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DF0E0-EFE4-44DC-9C0B-310635C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金融用語與詐騙話術會隨時間改變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2170C-C9DD-4D32-B914-D3188B9D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441097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5947D-5C82-4875-B6D0-D56D923D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3368A-7F14-4329-9251-935196D9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停用詞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171C1-245D-4C28-8729-ADFEB9D0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07FC2-C9B5-4F8D-A8D8-AA08D084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E1B3-248D-496E-897A-26D08BD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B9945-C52A-4C90-9EE7-14FEDD5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6530C-9B00-4538-9B43-25F6B66C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高頻但對目前分析幫助較小的詞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C095D-FBDA-45B2-8D5C-7F7BC83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4F4E1-B4F7-4425-A3E7-3B9D972E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常見例子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EAA09-91C8-418F-91E3-B2AE1A5B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的、了、以及等功能詞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598FD-4225-4EFC-861F-7367EE9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A58B4-914B-4D21-8BA5-E6C9F46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不可盲刪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F31C1-D423-4FB8-9838-EF705AA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不、未、無等否定詞會改變意思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15D96-CB74-4083-A0CE-B7BD3177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603D0-6240-455D-8102-F040A97C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實務做法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45C63-5583-49F0-80DC-B13B843E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先看語料，再建立任務專用清單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7D574-31EE-42A0-860C-39CEA4B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0846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DD09A-E98E-4C67-8ABB-0D71F4CF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4D125-B3CB-4E22-9EEA-392CEED2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同義詞與詞形整理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ABFD6-F269-49DB-B242-3AE90853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E081A-05E5-483F-A19B-ED16BAE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BAD55-067A-49B3-9AC3-1E73905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75941-3B3D-421F-8AB3-A64912E5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同義表達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4B388-9A2F-4CBD-AA7E-F28C1A08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信用卡、卡片與本行卡可能指相近概念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CC966-74EB-4098-B892-6AFAA31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16BF2-CE08-4E3E-B845-1D51E463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標準化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C8A7E-A061-4E35-A523-44F14576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把同義或不同寫法映射到共同名稱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48380-1D50-43D9-BE7E-44CAD5A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E6711-2196-400F-A836-A6D4F69E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保留差異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DC42B-99AB-4FCF-BEF7-0F8B1FAE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產品名稱或法律用語不可任意合併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90E3B-6424-4A5B-9636-8CCB5CF7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6FDD8-E8D6-4541-B1E9-825CD927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判斷依據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BED3A-AA89-4480-8E46-0E0845CD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業務規則與抽樣檢查共同決定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42C8C-6980-44C0-97D2-D794FB6F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8863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A2254-4492-43A2-A79E-6CFE2EC6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A8F46-1067-4463-9DA1-7D66925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B85C6-7D54-436E-99FB-29F3C1A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8011F-F430-4ADE-A407-8DEBCF02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D1FB6-3DDC-4F20-B6FA-6D56C18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142AE-6D33-4F2B-8189-AA92C917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文字單位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C744F-B731-4C8F-A309-5B678415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文件組成語料，詞彙來自處理後內容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FB5F4-42D3-4324-B67C-EB464090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A7AB9-9013-4F8E-927E-E2A19702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處理順序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2166-A6F7-407B-BA28-264089F4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蒐集、清理、斷詞後再量化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C71C3-4166-410D-A5E9-DFE5BA48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78825-7054-48C9-8590-27ED664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中文關鍵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FBA8B-FB83-48C5-9280-A3B475C8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專有詞庫與停用詞需要依任務調整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ED0CC-74EF-42F6-B18E-94CA4BA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F5176-D88F-46D3-9058-C5871229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品質要求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C5971-3D77-43EB-94AB-2E6150A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所有處理規則都要可以追溯與檢查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2ADD1-AFA3-4B04-A04F-6E1C258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4890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76326-2B45-4C11-AE4A-5A3C0F4A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2A248-7B10-47AC-B31F-BDED723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A8A73-1D2D-41E7-AF4B-2384CE21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DBB1E-EAE2-49AB-B5F1-8B55A6F1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51CB2-EB93-4BC4-940D-F6F39C7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E3FC6-1B30-434B-934B-EA02283C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4B09E-3E99-4FBC-9887-C93520E8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一則申訴可視為一份文件嗎？（A 可以　B 不可以）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14D2A-6698-434B-9543-6DD631A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中文斷詞需要處理詞語邊界嗎？（A 需要　B 不需要）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03E1D-6C51-4108-86C3-D2CC9A5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專有詞庫可加入金融產品名稱嗎？（A 可以　B 不可以）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0B8CB-6382-4DCB-AF8E-BE0EB50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停用詞是否一律全部刪除？（A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2B489-3047-42A0-AF0C-5ED56057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否定詞可能改變句意嗎？（A 可能　B 不可能）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090FB-BE7D-4BA9-90C4-703FA97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943C8-38C5-4260-810A-D5115464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5-A</a:t>
            </a:r>
          </a:p>
        </p:txBody>
      </p:sp>
    </p:spTree>
    <p:extLst>
      <p:ext uri="{BB962C8B-B14F-4D97-AF65-F5344CB8AC3E}">
        <p14:creationId xmlns:p14="http://schemas.microsoft.com/office/powerpoint/2010/main" val="11747081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F5B8F-D15E-4C74-945F-C95D8500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9F5B4-B619-48EF-A17F-65B11E29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第二節｜詞頻與重要詞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F0767-3A64-4D07-9154-A1B72547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C65B7-D540-45A7-B500-CEF5A90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89561-C017-4B71-A467-9EEC8A0D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9F0DE-A23F-477B-8FEC-5DFE6154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720C5-0874-4B79-8860-7BB8883A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哪些詞常出現，哪些詞能區分文件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D1612-4F6F-429F-AFB4-9209C240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B03A2-4032-4EFF-A72C-901F532E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主要方法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9FA19-FCD0-465C-BA9F-E7B3CF14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詞頻、文件頻率與 TF-IDF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B9332-2437-4FA1-B386-D3B56785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A5D97-3B92-4E0C-9B3A-80C6928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呈現工具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65D4B-2AC3-431C-88E4-8872D51B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排序表、長條圖與文字雲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24B71-680C-4299-8583-98048CE6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9527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4A78B-0907-4E85-BDB3-08E73F90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0DA12-4CB2-42DF-BA82-18611075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詞頻 TF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BB304-47AC-4DE0-B534-32336F34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4B892-91F5-4639-9962-22032C1F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5709F-89BD-426A-950E-49520CC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56F7E-9ACF-4FE4-8408-4876DCDE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FA758-E280-4653-AFC4-73AC9B7B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計算某個詞在文件中出現的次數或比例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16A94-7D58-417E-B237-2859D722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7005D-63DF-46D2-9036-6403740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71010-3A68-413F-9E99-92A53B6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快速掌握文件反覆談論的內容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DE111-D1DA-4D70-B33F-0A7D2933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BCCCC-BCA1-4248-9A14-ADE34AAB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5A39C-8AC4-4838-9DDF-0B314ABB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出現多不一定代表具有區辨力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C8657-172B-46B6-9602-E8A2BE36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F959E-C925-466F-9541-19433FEF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比較注意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6201D-F2B0-4AEA-92AF-17ACF4A7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文件長度不同時可使用比例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B8B4C-0E3A-48DD-868C-86F533B1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186922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642BF-7E31-4D3C-800B-9EA34385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49170-51F0-4F4E-84B6-CB25F48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文件頻率 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9F8BA-3392-483B-88BF-18542285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D68C7-2831-457C-B0A2-F2B7CC43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5815A-3C72-4395-B5AC-07D8EE6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BA7A9-0EC5-4648-9BBF-12383321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FACE7-DFA4-47A3-BDE9-0DB7A7C7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計算某個詞出現在多少份文件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BE0EB-C294-4A5F-9AE3-7588FB00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B332C-3CCF-47CF-841F-BDDB826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高文件頻率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9D37C-92C3-4ED4-8581-B1EDE3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多數文件都會出現，可能較一般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0CF4E-8A34-4965-9A45-1AF75A09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B7073-C30A-4FBD-9F4F-0104D89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低文件頻率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B0774-DEBE-4B2F-968F-B6FC9B91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只出現在少數文件，可能更具特色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AF89D-183A-4B4F-87D0-1E27166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6B090-97DA-4B0E-A9EB-27616F0A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026BF-555D-4EC6-8EA0-A57BB44D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過度罕見的詞也可能只是錯字或雜訊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632A0-2A67-4066-90D0-4CFF9229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129769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F0DEA-1C97-44CB-A555-39C64241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0812-7941-4125-AA4E-527CD9E9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逆文件頻率 IDF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44F38-91F4-44EA-9246-B0A8EEB5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DA96F-8469-4A77-8B03-7F504CF6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19695-5A40-4C3D-8D53-7BD8C3E6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B84E3-DC33-4860-923F-53E7128E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12A26-7E48-4BDF-9D08-0D302BC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降低到處都出現之詞的影響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F9CC9-7CC6-41FB-9DCE-9EDEE586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1E8BF-F8DB-45D2-AC36-0C380291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直覺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08755-60B0-4091-9996-3E442056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越少文件出現的詞，辨識力可能越高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14026-B158-4B23-AF24-F7A3150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FA8F8-6000-4F82-8905-95F20B1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搭配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EB64F-5A16-4CB4-855C-36C81148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通常與詞頻相乘形成 TF-IDF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B29AD-B9E0-4E0B-AB93-CD01B712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ADB52-36B9-46CD-BE40-8C4ED91A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75C61-FC43-4F9B-A323-EABADC67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重要性來自統計，不等同業務重要性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4D91F-AACD-4019-88E1-DBA19A29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011508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46CC4-FE08-4B5A-BAA5-B3E78A76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C0512-2304-4159-8AD8-3E56BDB0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TF-IDF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EE34A-515F-489C-A34F-4D912E1F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1EA50-F146-4DB3-B0ED-FD5CB59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A1100-9967-4627-BE44-68F5D20D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E34DB-A532-4F7B-BCBC-806FDB5D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高分情況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0828F-B3DF-4A8F-BC64-503E992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在本文件常見，但在其他文件較少見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B5638-FAA2-4CA7-BB39-C644B50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8B9EB-663F-4865-85F2-C732FE9F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低分情況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1C608-F63C-4573-A984-C57A4CA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很少出現，或幾乎所有文件都出現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6D022-E7BB-48D9-BFD2-20194F5F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46405-55E8-4C30-B382-CC2AAF34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29A09-B610-457A-B443-EE907373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找出文件代表詞並建立文字特徵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1B3A2-10E4-439E-B89A-2D61E3D7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D8B12-0A0D-4679-A548-613E574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79321-1176-46C4-89E6-7FA5D95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需回到原句確認詞語的實際語境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D913E-AE51-42C6-B347-FAA1730F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31251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8C709-5A59-440E-9B84-6F3AF313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76960-278B-4B5D-82D5-97845EAA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簡單例子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C9C30-86D7-4236-838C-824A9E55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2928D-F626-47E3-8B21-F363CE27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2F1A4-4FEF-4290-B610-CEE60D65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8D403-64F8-4960-B534-8A229A40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文件甲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6CC4B-C4CD-40E3-9234-9C2244B1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多次提到海外刷卡與盜刷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6328A-9512-47EA-ACFD-7705C3B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DAD85-1B0D-4A4C-A016-58D33AF0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文件乙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A141D-5C13-4B9B-BD5D-08F7E5D2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多次提到房貸利率與寬限期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E3C09-7995-43F5-AF9D-88C5A66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F98F4-3B4E-48D7-936C-8BCA7C0E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A533B-CE51-4B6C-A5A4-33F15B70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銀行、客戶可能在兩份文件都常見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14D15-E37F-4928-95FF-0EA57864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EC94E-3CD7-4D96-895F-3CA7436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TF-IDF效果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3C027-6E10-411F-87FF-49CCCAD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較能凸顯盜刷或寬限期等差異詞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F0502-EE97-4B8C-9B29-30E8C8C0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78643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F9E65-ADEB-4CF8-A137-248E48F4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F5E08-DAF5-41BD-A374-C7C36193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詞袋模型 Bag of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EED66-2A74-4D82-A8AB-D184DA04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B84D1-4489-4A43-AE96-4B095727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FB92C-5225-45EA-9E79-96185044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C7BF2-08BA-4AC8-9E27-14561F4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表示方式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81CA8-517E-4E34-8ACF-A9D560A2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每份文件以各詞的出現數量表示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4929D-A9B8-4FDB-A252-692BB1F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4CA0D-DB4B-4465-A50F-0BE20995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優點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06010-919D-4D6D-9FD3-C1F6040B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簡單、可比較，也能投入分類模型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8DBE7-F771-43B4-AB7E-E2BE4E4B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9DB79-3456-44C1-BAD6-0031D9C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DA87F-6749-48E2-A19E-332E57F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通常忽略詞序與上下文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AB731-A0AA-4CD5-B714-E7AF63B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2D273-C818-4762-B399-98F813C7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例子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2D61A-E03F-4D3F-9193-D9BB072F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沒有風險與風險不高可能被拆成相近詞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B2592-2D6F-479B-99E6-8191611F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125023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EC860-FB71-488F-A0DA-70C2FF59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A6D56-17AA-4665-98D0-6768F844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17ABB-F25F-464D-B781-26E9A274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F9347-624A-4D7C-BECB-315ED9F0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7B5AA-7CBE-469B-83C0-8D8FE36A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F0FC1-50B1-496D-A836-FB2828E0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45F0A-CB49-4DA7-9DE1-C69A5174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用字體大小呈現詞頻或權重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26B7C-275C-410A-A3D1-BCFE975D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7AC44-BDA4-45D1-BB43-C6BC8F4C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適合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83063-9C67-478C-8599-6AC79670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快速瀏覽與引發討論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25574-DC04-4894-B525-5A2EB8ED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A4415-E873-4216-BF6E-D2787052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36B59-ACEB-4052-A442-003A377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不利精確比較，也不呈現語境與否定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806BF-A994-4369-86D9-D0507A9A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979AB-0D6C-4CE2-B276-C7B8C1E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課堂定位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9B469-7776-406A-87D4-43FE41A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初步探索工具，不是分析結論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641AC-3487-44B3-B845-0335E54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7494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3495B-BF49-4DD2-BE65-C4774FF6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2DA00-0FEE-4CE5-B698-1C2258F8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結果呈現與核對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430C-7E95-4E32-8BDF-8D01F61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1706D-EB0A-45A7-BBFA-A42033D6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4D6EB-A803-4E9F-BABF-F9550688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C0E9E-0450-4E07-A13E-1FB3282B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排序表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E6E09-7088-4E9A-A7F1-9090414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列出詞語、次數與權重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561A9-1F96-4950-9CA7-680105CF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68224-1E32-49C8-8FB3-8AFFDC66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長條圖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3B2E0-EAAB-4E10-94A7-52119C7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比較前幾名詞語的差距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114D2-FD66-4EBB-9717-658FA989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0759A-4DF9-42F8-96B9-5454C402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原文例句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14CB4-0D6F-4217-9032-B3D95753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確認詞語在何種情境出現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75788-8067-4F92-B7EE-95DD3E0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F932C-7104-4CFD-B59C-2E019CA4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完整做法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03E19-BBD6-4EDF-BE0A-470C15BC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數值結果與原文抽查一起呈現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01CD8-D149-4DF7-8EA8-1000219A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238856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EFE6B-B3C1-4C58-A40F-637692C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F1721-3D91-48AB-8575-FEB4C048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5332E-C1D7-40B8-AE8F-D52486D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0A430-9B6B-4DE3-ABD3-F39D3912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0DC5D-13D0-459B-96DE-0DC23364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4830A-C5A0-41EB-BCD2-26F20F82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詞頻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313DA-F102-459E-B208-8004D820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回答某個詞出現多少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416AC-B8E1-4F47-9D17-72836AD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7D593-1982-4D99-9B82-774E92C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文件頻率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66E7B-48AD-4160-88E9-B6E789A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回答某個詞出現在多少文件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311F4-F8E1-4A51-8989-31F5BC0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78F16-EBAB-4CEE-90CE-F073737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TF-IDF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CBD52-F7FD-4EE9-910D-447F7C16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找出較能代表特定文件的詞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FA191-6967-4CB4-BBE5-CE0A45C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7C7E8-A7CC-410F-882D-F7D0C2C6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文字雲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DB2B2-0FF9-480F-80FA-D23FD61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方便瀏覽，但不能取代比較與解讀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B5505-3E82-4088-B2BB-9D46CF42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477867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99B68-2F02-42E6-96FE-4D8D95C4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96FC3-96DE-477E-B3F8-61B54CC8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1795C-B844-452A-A666-C516C07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84022-5534-45CE-9BB7-BFC0392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D0EF2-5C1E-40F9-9445-CA9F42C8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CFB5C-82D6-4DCA-8ED5-0D8D1562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D7D12-F5D4-4B03-AA3F-3F7E5552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詞頻回答詞語出現多少嗎？（A 是　B 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FF174-EC48-4E97-8B4A-3BF9A14A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DF 計算詞語出現在多少文件嗎？（A 是　B 否）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ECD72-74B5-45F6-B713-04E84A8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TF-IDF 高分通常代表較具文件特色嗎？（A 是　B 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DB310-5319-4E51-A7D8-37EBC57E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詞袋模型通常保留完整詞序嗎？（A 保留　B 不保留）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F9A0B-2AFB-4C2D-8F77-FB22DEF0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文字雲可直接當分析結論嗎？（A 可以　B 不可以）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6CB96-7FB6-402C-86B8-3B93DFA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A18D8-ACC6-40E7-859E-6CF0316D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5-B</a:t>
            </a:r>
          </a:p>
        </p:txBody>
      </p:sp>
    </p:spTree>
    <p:extLst>
      <p:ext uri="{BB962C8B-B14F-4D97-AF65-F5344CB8AC3E}">
        <p14:creationId xmlns:p14="http://schemas.microsoft.com/office/powerpoint/2010/main" val="11167302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06652-2218-4741-AD45-7924775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D62DD-3574-44F3-94E3-4868E43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第三節｜金融文本應用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B963E-97D2-41FD-AC4F-AC89FF1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91C5F-9E0F-4433-AFDF-2302CBB7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E17B1-1828-47AF-86DE-5F628403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2F03F-D135-4756-98CE-94C952F6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應用主線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C4001-49F7-4548-BD62-3FF0D181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把文字轉成可支援決策的資訊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FA2C3-F6BA-46C0-A0FC-3503DC3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DB817-FB14-4FD7-8BE0-D45FC40C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常見任務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93A2B-E50E-4987-8E8D-097E8B8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分類、情緒判讀、主題整理與摘要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6A89B-2280-483F-8E09-A441239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E3375-C611-48DF-9BEE-C19B4D1E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管理要求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7C609-9054-4718-AF12-701B7B50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驗證、隱私、公平與人工覆核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B4687-9871-4806-9072-7B1699C3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80028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846BD-8199-4FE7-A3BB-7B993B3C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61BFB-3AF5-4212-ADAE-210164F2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客服與申訴分類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44545-8621-4CB5-A44B-13522D9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49FE4-F9F4-4ADE-9727-FFBA5C62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ADFED-F5D7-4914-8E1A-40AF7471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3C92F-0E0F-4E39-A219-BF6B0E51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AEBDD-8239-4443-B98E-9A60F51E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客服摘要、對話紀錄或申訴內容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4C10-054A-4CAB-A257-033ED4AE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6FFA-520F-45D8-898E-62A3B446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輸出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72170-75EE-4918-8A66-31708D0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問題類別、急迫程度或轉派單位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8042A-C263-4681-9690-AF4EDDBA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87F8D-B268-4493-A1D4-70518EA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價值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D2A18-3162-4313-8E33-42BE6F53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協助案件分流並找出重複痛點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1E54B-7C7E-4FE5-8FF8-187AC46F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A1113-45A7-4645-AEF2-82CC3A81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F813F-CA06-4A1A-9A83-874D093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高風險或語意不清案件仍需人工閱讀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20AEB-4490-4996-9B8B-ED38AF87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320636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C77C1-6CE8-42C9-9832-75B55300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640D6-0549-4083-880C-5402DA93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金融新聞監測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A8062-1C6B-44C4-B6B8-C6F50D4E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932E8-72DF-47A7-AA71-B159E2C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B72E2-3434-4350-8387-FB77846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35358-E915-4F60-A58D-A6A7055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EE1B0-6FDD-4479-8838-C8432264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公司新聞、重大訊息與市場報導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272B0-7C26-4294-968E-AEF0EB18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791FF-218D-43CF-8BE3-9B3CD73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2A4EA-124B-4946-81C8-6E79BEF9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辨識公司、事件與可能影響方向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21C9F-BF5B-4821-85A3-5EFACED5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1F2E1-4778-403D-AC8D-B5E7B3AA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CBC22-B0CA-4839-AB2B-74E5A0A4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協助研究人員篩選需要閱讀的內容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47187-90B1-454A-8CCE-71B72CF6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F8DC2-1A9B-43FF-B02D-506F63AF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B82EA-4C10-4A7D-8DBB-2AEE9DF9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新聞來源、發布時間與重複轉載要核對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65E16-AF6D-4CA7-A21C-932D8F4A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04682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163C2-25BB-4699-94CB-461B2AF2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2AB22-68F5-4569-8B17-62FE6982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法說會與研究文本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FE96-82D8-4765-8607-D9AC39C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D39B1-E929-4DF6-80C7-C40EC7B9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AB2E3-6CE4-4D3C-B6E4-77946C98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62B01-4B55-48EA-80E1-034030E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95A14-ACF7-4422-8DB0-31E9DAE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法說逐字稿、年報與研究摘要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C4018-F8AF-437E-9976-F4979B4B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784AE-BBAC-4801-9D0F-86B98F84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比較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06704-1DB7-4FD1-AB1B-7E35940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觀察不同期間常見主題與用詞變化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26704-C955-4891-B2C9-EF99FF9A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BDAE4-3F67-4F09-B313-09CDCA0E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應用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036F3-BA64-42AB-9FB7-FCDF44F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協助整理管理階層關注事項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690AB-82D7-4BF5-9F13-78E179A2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E63AE-BF5C-46CE-9DED-B82B6B4F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9643C-E7AB-4C1B-8693-A8515411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文字語氣不能單獨證明公司實際表現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41628-F35F-4F98-8864-4E911677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682022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24AB3-0B2C-4819-BC8E-4C97833C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828BA-DC8F-451F-A9B3-2DB3E552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情緒分析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7083D-844E-49BA-A8A6-90BB8DB5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9BBE7-5EBB-4401-84B2-5ADD89D6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D1EFC-4004-4064-A41B-E29C3363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2C91A-D175-4495-BEF6-E074E20D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81F51-462B-48EF-8836-D8EE9E95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判斷正向、負向或中性傾向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15990-6960-4FB9-B2EA-389C43D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FA639-11C9-4255-8E6D-3D07EADC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簡單方法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6CCCD-2A96-478B-AFF9-E4C5AE66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情緒詞典搭配規則計分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D7B6F-48E7-44DA-8C2F-01722ADE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C11C9-8CE4-4B5C-8FAB-D95AAC8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5DBA0-3CEC-4C83-982E-E89B9F5E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以已標記文本學習分類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95681-EC83-4460-B322-BF3703F2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5C7D7-EA23-4E2A-AB3A-2EFDF39B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金融難點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E1749-F777-4E59-9B29-6EF804E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反諷、否定與專業語境容易誤判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25110-EF4F-4BCF-BC79-E388EA2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138960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A652E-C7A7-48D9-86B9-CE23459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2EC03-3092-4DD5-8246-D27643AD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主題分析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92AB7-23AE-437A-A614-3559E67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EA1F8-D897-4F71-A14F-A3A30AE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6EBB2-1CE5-4F28-B24A-AEF3BA8C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E3A45-0261-4673-98E9-5FC7FE0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700AB-DB25-4003-B11F-FB5BDA4F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從大量文件整理常見議題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EBED6-14BD-418F-93F9-2FA7EF8E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9C93B-67E7-47F7-82DA-B928C197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例子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46A7E-6308-4111-860D-10F9724B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手續費、登入問題、詐騙與服務態度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926CC-A710-48E4-82B1-13F33BBF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F2D18-1FF0-4D22-ADB5-AB0AC05C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17667-C461-4ED5-8809-6051B5C8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先看主題詞，再抽查代表文件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B5008-DDE8-4B8C-AAAC-152DFF74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0D89D-E551-4CBD-A6FA-D36841E6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命名責任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98E2B-1C11-47CB-A2B6-DD5C8410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主題名稱由分析者解讀，須說明依據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B305F-BCFB-4527-8686-04AAE9C4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9355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47675-F25B-49C6-B698-CE52FCF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38D6F-AD0B-4D2E-B603-60C4C472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F95FE-38F6-4447-99B8-32C6FA2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D3F58-6912-43C3-971C-D9BF3486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40927-1BC5-4A16-9E71-E4F018C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C4650-45D2-47DA-A48D-FA425E15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標準答案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99BD8-ACB4-405C-8B47-F405B119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由具業務知識的人員標記部分文件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F255A-439E-44F0-B66F-147AE976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46452-5BDC-4EE2-A761-2A73331A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切分資料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61A0D-CFB2-4FED-A31C-C66830EC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訓練與測試文件要分開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DC3F2-027A-465D-B7CF-A194987C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0A7E9-DEAB-45B8-9B4C-E07A0BBD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檢查指標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65D38-C59A-4DBC-B235-FC518CC8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整體準確之外，也看各類別錯誤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86B3B-7A0B-4767-8721-2C15316E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0F371-FF30-4A5D-8EF9-25F4AC0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錯誤分析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639D9-4EE0-489B-A003-64219229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閱讀誤判原文，找出規則或資料問題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72C68-B968-4AFD-8A7F-62A6945E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48352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4DFCD-82D2-45B6-87BC-229E3DA3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1CCEA-725C-4589-9C1E-40FCCF5F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個資與使用邊界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26449-EBF1-4B1C-A485-35BC1442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22E6D-882B-42DD-AFAF-6C58EDDE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41BB4-DCA0-4A51-8EF0-1B955E1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6A2DD-ED30-4756-8B95-2CF814C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可能個資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8131A-05E3-4A04-AB1E-BAD3A153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姓名、帳號、聯絡方式與交易細節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552C9-3526-4BBE-A16D-973791C8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A3C85-A0F4-4816-833E-01C0986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最小使用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FEA29-87CB-47CD-B3A7-BFBE595A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只保留完成任務所需欄位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91F41-2413-4FF4-8383-B09BD068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FD356-5B8F-4602-BF52-EA0AD65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權限管理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D52FD-BA44-4F51-8F86-1EC67E6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限制存取並記錄資料使用情形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FE9A1-763C-4B4D-8B70-C438190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55906-451F-4F85-B747-D2D1A486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外部工具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EB829-19BF-4EE2-8B11-42D539E7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上傳文字前要確認契約與資料政策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FF560-93C4-45BC-A00A-6D79D90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298895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513D7-50C9-4F8C-9020-177B652C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9DB36-F34E-49AF-AB99-4A644FB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偏誤與人工覆核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070FA-3107-4F16-BF34-31756BFA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CA940-D4E2-42C7-9095-6B7AFFE8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26F01-C6EB-4043-BC77-554A48FE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0650B-8218-4E38-B5D8-E2DAD8D9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偏誤來源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F233-FC16-430A-B98D-6FD7258A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語料分布、標記方式與歷史處理差異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A535A-42B3-4D59-B97B-0D0B0F52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B5CF2-4148-4A40-9063-1A67E7B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群體檢查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E1B77-F2AD-4B54-A81D-D00A8B28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比較不同客群或語言表達的錯誤率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8DF01-6781-4849-9518-52F42329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A2759-51AA-4C74-9610-8AB7B7DA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人工覆核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971FA-88D8-463E-8644-A4C84C3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高影響案件由具權責人員確認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5DA5E-4C11-445D-B240-B8DDE1C1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2700B-13F8-4BEF-B1EF-DB089FA4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持續監測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2F5B1-9099-4B3B-B03E-38638CE2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新產品與新話術可能使模型失準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93302-37D4-4A69-9FED-D8F6EF92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65784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94814-8392-4D17-A270-49A9D062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485AE-027C-45DA-8697-D3DD655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15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72EF7-4EC1-4B46-AD9F-10789229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18C9A-C9BF-419E-9775-46661A2F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84AF5-E0D5-4B7A-9F26-D74BB5D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25DE5-11B9-401D-AEBF-A06A915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文字前處理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509FD-362D-4E12-94F3-7DCADE2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文件界定、清理、斷詞與詞庫調整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4AC0F-4DB8-438D-8B56-236F517B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709CD-6853-4849-B80D-EE002A4B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文字量化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F2BA4-274D-4C8C-8FD8-E6F49CA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詞頻、文件頻率與 TF-IDF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E548B-43FF-4F15-B1B1-4EA59D15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73DB2-CCDC-422E-859A-47258780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金融應用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77014-50B8-4A2D-8837-65849DE1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客服、新聞、法說、情緒與主題分析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6E198-B42F-4116-BA34-CD6B3C13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50ACB-9C62-465D-A9DC-60EF2610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可信使用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C052D-C199-4C6E-8415-60829E24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回看原文，並兼顧驗證、隱私與公平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99C1F-177D-4D91-9980-D326010C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25311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BD877-2EDF-48CE-BE67-0A88C9BD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45227-0959-4787-8E8B-B4567A1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2DB9F-8E22-49AE-94E5-A7A70EC9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E1DB2-EDD9-42EC-B9DC-4413A3F7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D2275-5B76-43BC-AF49-3556643C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FBE64-786E-4922-A2F3-F0C1201A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ED1DD-EFC1-4B0B-A1B1-48DDEF40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客服文字可用於案件分類嗎？（A 可以　B 不可以）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491C6-0939-4ADB-A4BD-84497C31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情緒分析容易受否定語影響嗎？（A 容易　B 不會）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8ED00-8C97-4218-B2EB-4039B64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主題名稱需要分析者解讀嗎？（A 需要　B 不需要）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FC135-CB12-4166-8D22-D05A2F12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測試文件應與訓練文件分開嗎？（A 應該　B 不必）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9E773-062D-40AE-BE89-4A21809D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高影響案件是否需要人工覆核？（A 需要　B 不需要）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4BCD7-4556-461F-8207-31046805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2DD72-62F3-45F2-BD77-79BE814F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837850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2026-09-04T11:21:13.2420000Z</dcterms:created>
  <dcterms:modified xsi:type="dcterms:W3CDTF">2026-09-04T11:21:13.2420000Z</dcterms:modified>
</coreProperties>
</file>