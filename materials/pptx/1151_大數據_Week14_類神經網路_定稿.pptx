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bfb2d67bb24856" /><Relationship Type="http://schemas.openxmlformats.org/officeDocument/2006/relationships/extended-properties" Target="/docProps/app.xml" Id="R12991ac135dc4081" /><Relationship Type="http://schemas.openxmlformats.org/officeDocument/2006/relationships/officeDocument" Target="/ppt/presentation.xml" Id="Rc7bb5b05749b45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37c2a5cc924229"/>
  </p:sldMasterIdLst>
  <p:notesMasterIdLst>
    <p:notesMasterId xmlns:r="http://schemas.openxmlformats.org/officeDocument/2006/relationships" r:id="R61ae18e8be604545"/>
  </p:notesMasterIdLst>
  <p:sldIdLst>
    <p:sldId xmlns:r="http://schemas.openxmlformats.org/officeDocument/2006/relationships" id="256" r:id="R2e51791ddb6d452e"/>
    <p:sldId xmlns:r="http://schemas.openxmlformats.org/officeDocument/2006/relationships" id="257" r:id="Ra7fc87083daf4a90"/>
    <p:sldId xmlns:r="http://schemas.openxmlformats.org/officeDocument/2006/relationships" id="258" r:id="R6013140800b94ab1"/>
    <p:sldId xmlns:r="http://schemas.openxmlformats.org/officeDocument/2006/relationships" id="259" r:id="R48c121499ad44046"/>
    <p:sldId xmlns:r="http://schemas.openxmlformats.org/officeDocument/2006/relationships" id="260" r:id="Rb3579088488b4539"/>
    <p:sldId xmlns:r="http://schemas.openxmlformats.org/officeDocument/2006/relationships" id="261" r:id="Rfb20f8be09634fc6"/>
    <p:sldId xmlns:r="http://schemas.openxmlformats.org/officeDocument/2006/relationships" id="262" r:id="R45bd181744ee4ecd"/>
    <p:sldId xmlns:r="http://schemas.openxmlformats.org/officeDocument/2006/relationships" id="263" r:id="R3bb9aa06015f45b3"/>
    <p:sldId xmlns:r="http://schemas.openxmlformats.org/officeDocument/2006/relationships" id="264" r:id="R5361b9cfc30f4785"/>
    <p:sldId xmlns:r="http://schemas.openxmlformats.org/officeDocument/2006/relationships" id="265" r:id="R1ff66f80205149c5"/>
    <p:sldId xmlns:r="http://schemas.openxmlformats.org/officeDocument/2006/relationships" id="266" r:id="R0aeb6c609148464f"/>
    <p:sldId xmlns:r="http://schemas.openxmlformats.org/officeDocument/2006/relationships" id="267" r:id="R27a7a420fc7a41b7"/>
    <p:sldId xmlns:r="http://schemas.openxmlformats.org/officeDocument/2006/relationships" id="268" r:id="R9eeb70ae25134658"/>
    <p:sldId xmlns:r="http://schemas.openxmlformats.org/officeDocument/2006/relationships" id="269" r:id="R4c810cc6480f4993"/>
    <p:sldId xmlns:r="http://schemas.openxmlformats.org/officeDocument/2006/relationships" id="270" r:id="R3c918bd2250b48e0"/>
    <p:sldId xmlns:r="http://schemas.openxmlformats.org/officeDocument/2006/relationships" id="271" r:id="R600fe1ba0d8f4e41"/>
    <p:sldId xmlns:r="http://schemas.openxmlformats.org/officeDocument/2006/relationships" id="272" r:id="Rc3355d932fe44fef"/>
    <p:sldId xmlns:r="http://schemas.openxmlformats.org/officeDocument/2006/relationships" id="273" r:id="R11bafceb0d224b33"/>
    <p:sldId xmlns:r="http://schemas.openxmlformats.org/officeDocument/2006/relationships" id="274" r:id="Rec8218d36d4d4732"/>
    <p:sldId xmlns:r="http://schemas.openxmlformats.org/officeDocument/2006/relationships" id="275" r:id="R3256eb6e1f00499c"/>
    <p:sldId xmlns:r="http://schemas.openxmlformats.org/officeDocument/2006/relationships" id="276" r:id="R14a8152929bf4538"/>
    <p:sldId xmlns:r="http://schemas.openxmlformats.org/officeDocument/2006/relationships" id="277" r:id="R682dbd8c95b1434a"/>
    <p:sldId xmlns:r="http://schemas.openxmlformats.org/officeDocument/2006/relationships" id="278" r:id="Rd19cee1a4d6143f5"/>
    <p:sldId xmlns:r="http://schemas.openxmlformats.org/officeDocument/2006/relationships" id="279" r:id="Rc4522d94a6254cc0"/>
    <p:sldId xmlns:r="http://schemas.openxmlformats.org/officeDocument/2006/relationships" id="280" r:id="R8b63fc77d5964483"/>
    <p:sldId xmlns:r="http://schemas.openxmlformats.org/officeDocument/2006/relationships" id="281" r:id="R82846b97559d4b29"/>
    <p:sldId xmlns:r="http://schemas.openxmlformats.org/officeDocument/2006/relationships" id="282" r:id="R475631bdbe3b403a"/>
    <p:sldId xmlns:r="http://schemas.openxmlformats.org/officeDocument/2006/relationships" id="283" r:id="Rc749389967684e8e"/>
    <p:sldId xmlns:r="http://schemas.openxmlformats.org/officeDocument/2006/relationships" id="284" r:id="R4c63b7185ffa43c9"/>
    <p:sldId xmlns:r="http://schemas.openxmlformats.org/officeDocument/2006/relationships" id="285" r:id="R3378cc7ee1f449e4"/>
    <p:sldId xmlns:r="http://schemas.openxmlformats.org/officeDocument/2006/relationships" id="286" r:id="Raf81331ff47443cd"/>
    <p:sldId xmlns:r="http://schemas.openxmlformats.org/officeDocument/2006/relationships" id="287" r:id="Re1429b64670d43ae"/>
    <p:sldId xmlns:r="http://schemas.openxmlformats.org/officeDocument/2006/relationships" id="288" r:id="R316118bceb9d4e9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a79c87b76b40cd" /><Relationship Type="http://schemas.openxmlformats.org/officeDocument/2006/relationships/slideMaster" Target="/ppt/slideMasters/slideMaster1.xml" Id="Rd837c2a5cc924229" /><Relationship Type="http://schemas.openxmlformats.org/officeDocument/2006/relationships/notesMaster" Target="/ppt/notesMasters/notesMaster1.xml" Id="R61ae18e8be604545" /><Relationship Type="http://schemas.openxmlformats.org/officeDocument/2006/relationships/presProps" Target="/ppt/presProps.xml" Id="R0a7e65cbbe514d67" /><Relationship Type="http://schemas.openxmlformats.org/officeDocument/2006/relationships/tableStyles" Target="/ppt/tableStyles.xml" Id="R9136392f2c86440c" /><Relationship Type="http://schemas.openxmlformats.org/officeDocument/2006/relationships/slide" Target="/ppt/slides/slide1.xml" Id="R2e51791ddb6d452e" /><Relationship Type="http://schemas.openxmlformats.org/officeDocument/2006/relationships/slide" Target="/ppt/slides/slide2.xml" Id="Ra7fc87083daf4a90" /><Relationship Type="http://schemas.openxmlformats.org/officeDocument/2006/relationships/slide" Target="/ppt/slides/slide3.xml" Id="R6013140800b94ab1" /><Relationship Type="http://schemas.openxmlformats.org/officeDocument/2006/relationships/slide" Target="/ppt/slides/slide4.xml" Id="R48c121499ad44046" /><Relationship Type="http://schemas.openxmlformats.org/officeDocument/2006/relationships/slide" Target="/ppt/slides/slide5.xml" Id="Rb3579088488b4539" /><Relationship Type="http://schemas.openxmlformats.org/officeDocument/2006/relationships/slide" Target="/ppt/slides/slide6.xml" Id="Rfb20f8be09634fc6" /><Relationship Type="http://schemas.openxmlformats.org/officeDocument/2006/relationships/slide" Target="/ppt/slides/slide7.xml" Id="R45bd181744ee4ecd" /><Relationship Type="http://schemas.openxmlformats.org/officeDocument/2006/relationships/slide" Target="/ppt/slides/slide8.xml" Id="R3bb9aa06015f45b3" /><Relationship Type="http://schemas.openxmlformats.org/officeDocument/2006/relationships/slide" Target="/ppt/slides/slide9.xml" Id="R5361b9cfc30f4785" /><Relationship Type="http://schemas.openxmlformats.org/officeDocument/2006/relationships/slide" Target="/ppt/slides/slide10.xml" Id="R1ff66f80205149c5" /><Relationship Type="http://schemas.openxmlformats.org/officeDocument/2006/relationships/slide" Target="/ppt/slides/slide11.xml" Id="R0aeb6c609148464f" /><Relationship Type="http://schemas.openxmlformats.org/officeDocument/2006/relationships/slide" Target="/ppt/slides/slide12.xml" Id="R27a7a420fc7a41b7" /><Relationship Type="http://schemas.openxmlformats.org/officeDocument/2006/relationships/slide" Target="/ppt/slides/slide13.xml" Id="R9eeb70ae25134658" /><Relationship Type="http://schemas.openxmlformats.org/officeDocument/2006/relationships/slide" Target="/ppt/slides/slide14.xml" Id="R4c810cc6480f4993" /><Relationship Type="http://schemas.openxmlformats.org/officeDocument/2006/relationships/slide" Target="/ppt/slides/slide15.xml" Id="R3c918bd2250b48e0" /><Relationship Type="http://schemas.openxmlformats.org/officeDocument/2006/relationships/slide" Target="/ppt/slides/slide16.xml" Id="R600fe1ba0d8f4e41" /><Relationship Type="http://schemas.openxmlformats.org/officeDocument/2006/relationships/slide" Target="/ppt/slides/slide17.xml" Id="Rc3355d932fe44fef" /><Relationship Type="http://schemas.openxmlformats.org/officeDocument/2006/relationships/slide" Target="/ppt/slides/slide18.xml" Id="R11bafceb0d224b33" /><Relationship Type="http://schemas.openxmlformats.org/officeDocument/2006/relationships/slide" Target="/ppt/slides/slide19.xml" Id="Rec8218d36d4d4732" /><Relationship Type="http://schemas.openxmlformats.org/officeDocument/2006/relationships/slide" Target="/ppt/slides/slide20.xml" Id="R3256eb6e1f00499c" /><Relationship Type="http://schemas.openxmlformats.org/officeDocument/2006/relationships/slide" Target="/ppt/slides/slide21.xml" Id="R14a8152929bf4538" /><Relationship Type="http://schemas.openxmlformats.org/officeDocument/2006/relationships/slide" Target="/ppt/slides/slide22.xml" Id="R682dbd8c95b1434a" /><Relationship Type="http://schemas.openxmlformats.org/officeDocument/2006/relationships/slide" Target="/ppt/slides/slide23.xml" Id="Rd19cee1a4d6143f5" /><Relationship Type="http://schemas.openxmlformats.org/officeDocument/2006/relationships/slide" Target="/ppt/slides/slide24.xml" Id="Rc4522d94a6254cc0" /><Relationship Type="http://schemas.openxmlformats.org/officeDocument/2006/relationships/slide" Target="/ppt/slides/slide25.xml" Id="R8b63fc77d5964483" /><Relationship Type="http://schemas.openxmlformats.org/officeDocument/2006/relationships/slide" Target="/ppt/slides/slide26.xml" Id="R82846b97559d4b29" /><Relationship Type="http://schemas.openxmlformats.org/officeDocument/2006/relationships/slide" Target="/ppt/slides/slide27.xml" Id="R475631bdbe3b403a" /><Relationship Type="http://schemas.openxmlformats.org/officeDocument/2006/relationships/slide" Target="/ppt/slides/slide28.xml" Id="Rc749389967684e8e" /><Relationship Type="http://schemas.openxmlformats.org/officeDocument/2006/relationships/slide" Target="/ppt/slides/slide29.xml" Id="R4c63b7185ffa43c9" /><Relationship Type="http://schemas.openxmlformats.org/officeDocument/2006/relationships/slide" Target="/ppt/slides/slide30.xml" Id="R3378cc7ee1f449e4" /><Relationship Type="http://schemas.openxmlformats.org/officeDocument/2006/relationships/slide" Target="/ppt/slides/slide31.xml" Id="Raf81331ff47443cd" /><Relationship Type="http://schemas.openxmlformats.org/officeDocument/2006/relationships/slide" Target="/ppt/slides/slide32.xml" Id="Re1429b64670d43ae" /><Relationship Type="http://schemas.openxmlformats.org/officeDocument/2006/relationships/slide" Target="/ppt/slides/slide33.xml" Id="R316118bceb9d4e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9196dc7f874d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70d6b113034566" /><Relationship Type="http://schemas.openxmlformats.org/officeDocument/2006/relationships/notesMaster" Target="/ppt/notesMasters/notesMaster1.xml" Id="R5538b1af230646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67cdcd30a984a37" /><Relationship Type="http://schemas.openxmlformats.org/officeDocument/2006/relationships/notesMaster" Target="/ppt/notesMasters/notesMaster1.xml" Id="Rbed3b70e3165494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75e679c8b1e40ca" /><Relationship Type="http://schemas.openxmlformats.org/officeDocument/2006/relationships/notesMaster" Target="/ppt/notesMasters/notesMaster1.xml" Id="R8e538f94cd4141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49d0f52e214efa" /><Relationship Type="http://schemas.openxmlformats.org/officeDocument/2006/relationships/notesMaster" Target="/ppt/notesMasters/notesMaster1.xml" Id="R63df40dcadb44ce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6b5779a408e4432" /><Relationship Type="http://schemas.openxmlformats.org/officeDocument/2006/relationships/notesMaster" Target="/ppt/notesMasters/notesMaster1.xml" Id="R1736a040e035439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6428ab778f94af9" /><Relationship Type="http://schemas.openxmlformats.org/officeDocument/2006/relationships/notesMaster" Target="/ppt/notesMasters/notesMaster1.xml" Id="R5d24bce63a02418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4c8731372e64ff8" /><Relationship Type="http://schemas.openxmlformats.org/officeDocument/2006/relationships/notesMaster" Target="/ppt/notesMasters/notesMaster1.xml" Id="Rc739e1a1afcf4b8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12d46d98622449c" /><Relationship Type="http://schemas.openxmlformats.org/officeDocument/2006/relationships/notesMaster" Target="/ppt/notesMasters/notesMaster1.xml" Id="R39f2b601f44e415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d875b6a0ce44399" /><Relationship Type="http://schemas.openxmlformats.org/officeDocument/2006/relationships/notesMaster" Target="/ppt/notesMasters/notesMaster1.xml" Id="R390a5e276c8742e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674e403fb3a4217" /><Relationship Type="http://schemas.openxmlformats.org/officeDocument/2006/relationships/notesMaster" Target="/ppt/notesMasters/notesMaster1.xml" Id="Rca14d912319b46b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db32aae5e1340a6" /><Relationship Type="http://schemas.openxmlformats.org/officeDocument/2006/relationships/notesMaster" Target="/ppt/notesMasters/notesMaster1.xml" Id="R6a98b720cb034fa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aae8a19f7b34e56" /><Relationship Type="http://schemas.openxmlformats.org/officeDocument/2006/relationships/notesMaster" Target="/ppt/notesMasters/notesMaster1.xml" Id="Rb4c39eff86f845f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2d7fc3515754ede" /><Relationship Type="http://schemas.openxmlformats.org/officeDocument/2006/relationships/notesMaster" Target="/ppt/notesMasters/notesMaster1.xml" Id="Ra5b79d3b267a45a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e0cb4339ddc4c26" /><Relationship Type="http://schemas.openxmlformats.org/officeDocument/2006/relationships/notesMaster" Target="/ppt/notesMasters/notesMaster1.xml" Id="Rdecbaec3bd58465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c5eef1e6bac4b4c" /><Relationship Type="http://schemas.openxmlformats.org/officeDocument/2006/relationships/notesMaster" Target="/ppt/notesMasters/notesMaster1.xml" Id="R87aa5c6021744cd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00b8502b153450d" /><Relationship Type="http://schemas.openxmlformats.org/officeDocument/2006/relationships/notesMaster" Target="/ppt/notesMasters/notesMaster1.xml" Id="R9634d467153d4c2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ed7db7e12934063" /><Relationship Type="http://schemas.openxmlformats.org/officeDocument/2006/relationships/notesMaster" Target="/ppt/notesMasters/notesMaster1.xml" Id="Ra917596b7ede48a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e329f62abbd419b" /><Relationship Type="http://schemas.openxmlformats.org/officeDocument/2006/relationships/notesMaster" Target="/ppt/notesMasters/notesMaster1.xml" Id="R9c0e7809cc61467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c994245274a4120" /><Relationship Type="http://schemas.openxmlformats.org/officeDocument/2006/relationships/notesMaster" Target="/ppt/notesMasters/notesMaster1.xml" Id="R1c00832f472b4eb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e43f1eeb26d45fa" /><Relationship Type="http://schemas.openxmlformats.org/officeDocument/2006/relationships/notesMaster" Target="/ppt/notesMasters/notesMaster1.xml" Id="R416210a3214e470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783532c007c4d65" /><Relationship Type="http://schemas.openxmlformats.org/officeDocument/2006/relationships/notesMaster" Target="/ppt/notesMasters/notesMaster1.xml" Id="R0facd0a80ba14f8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262f14d8d5b4cd8" /><Relationship Type="http://schemas.openxmlformats.org/officeDocument/2006/relationships/notesMaster" Target="/ppt/notesMasters/notesMaster1.xml" Id="R628836f600ec4af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15a59f8d74645f0" /><Relationship Type="http://schemas.openxmlformats.org/officeDocument/2006/relationships/notesMaster" Target="/ppt/notesMasters/notesMaster1.xml" Id="Rf39623958f7540b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6939f3271c04ec9" /><Relationship Type="http://schemas.openxmlformats.org/officeDocument/2006/relationships/notesMaster" Target="/ppt/notesMasters/notesMaster1.xml" Id="Recc048006c75426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47e5e02e6214246" /><Relationship Type="http://schemas.openxmlformats.org/officeDocument/2006/relationships/notesMaster" Target="/ppt/notesMasters/notesMaster1.xml" Id="R002908f87a854ba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cfb9fbeff444309" /><Relationship Type="http://schemas.openxmlformats.org/officeDocument/2006/relationships/notesMaster" Target="/ppt/notesMasters/notesMaster1.xml" Id="R0b275116ebf74b9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b36f95db17443e7" /><Relationship Type="http://schemas.openxmlformats.org/officeDocument/2006/relationships/notesMaster" Target="/ppt/notesMasters/notesMaster1.xml" Id="Ref2a9d38ca9945f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02cd960e927416e" /><Relationship Type="http://schemas.openxmlformats.org/officeDocument/2006/relationships/notesMaster" Target="/ppt/notesMasters/notesMaster1.xml" Id="R26f953bc323c435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e24dca8f41049b9" /><Relationship Type="http://schemas.openxmlformats.org/officeDocument/2006/relationships/notesMaster" Target="/ppt/notesMasters/notesMaster1.xml" Id="R9a4082e5bb2c46a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c71484735d64b4f" /><Relationship Type="http://schemas.openxmlformats.org/officeDocument/2006/relationships/notesMaster" Target="/ppt/notesMasters/notesMaster1.xml" Id="Rd1a1c5fce91f4a3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bdeea4a8540943e4" /><Relationship Type="http://schemas.openxmlformats.org/officeDocument/2006/relationships/notesMaster" Target="/ppt/notesMasters/notesMaster1.xml" Id="R2cfa1b58e43048e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73d3898a33e241db" /><Relationship Type="http://schemas.openxmlformats.org/officeDocument/2006/relationships/notesMaster" Target="/ppt/notesMasters/notesMaster1.xml" Id="R79710750578a45cc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244010d3c1054812" /><Relationship Type="http://schemas.openxmlformats.org/officeDocument/2006/relationships/notesMaster" Target="/ppt/notesMasters/notesMaster1.xml" Id="R00defd2b3a4541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14「類神經」，重整預測、感知機、多層網路、訓練與應用；降低數學與程式深度，補充金融治理案例。</a:t>
            </a:r>
          </a:p>
          <a:p xmlns:a="http://schemas.openxmlformats.org/drawingml/2006/main">
            <a:r>
              <a:t>教學提示：建立人工神經元與感知機的直覺。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14「類神經」，重整預測、感知機、多層網路、訓練與應用；降低數學與程式深度，補充金融治理案例。</a:t>
            </a:r>
          </a:p>
          <a:p xmlns:a="http://schemas.openxmlformats.org/drawingml/2006/main">
            <a:r>
              <a:t>教學提示：建立人工神經元與感知機的直覺。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14「類神經」，重整預測、感知機、多層網路、訓練與應用；降低數學與程式深度，補充金融治理案例。</a:t>
            </a:r>
          </a:p>
          <a:p xmlns:a="http://schemas.openxmlformats.org/drawingml/2006/main">
            <a:r>
              <a:t>教學提示：建立人工神經元與感知機的直覺。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14「類神經」，重整預測、感知機、多層網路、訓練與應用；降低數學與程式深度，補充金融治理案例。</a:t>
            </a:r>
          </a:p>
          <a:p xmlns:a="http://schemas.openxmlformats.org/drawingml/2006/main">
            <a:r>
              <a:t>教學提示：建立人工神經元與感知機的直覺。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14「類神經」，重整預測、感知機、多層網路、訓練與應用；降低數學與程式深度，補充金融治理案例。</a:t>
            </a:r>
          </a:p>
          <a:p xmlns:a="http://schemas.openxmlformats.org/drawingml/2006/main">
            <a:r>
              <a:t>教學提示：建立人工神經元與感知機的直覺。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14「類神經」，重整預測、感知機、多層網路、訓練與應用；降低數學與程式深度，補充金融治理案例。</a:t>
            </a:r>
          </a:p>
          <a:p xmlns:a="http://schemas.openxmlformats.org/drawingml/2006/main">
            <a:r>
              <a:t>教學提示：建立人工神經元與感知機的直覺。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14「類神經」，重整預測、感知機、多層網路、訓練與應用；降低數學與程式深度，補充金融治理案例。</a:t>
            </a:r>
          </a:p>
          <a:p xmlns:a="http://schemas.openxmlformats.org/drawingml/2006/main">
            <a:r>
              <a:t>教學提示：建立人工神經元與感知機的直覺。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14「類神經」，重整預測、感知機、多層網路、訓練與應用；降低數學與程式深度，補充金融治理案例。</a:t>
            </a:r>
          </a:p>
          <a:p xmlns:a="http://schemas.openxmlformats.org/drawingml/2006/main">
            <a:r>
              <a:t>教學提示：建立人工神經元與感知機的直覺。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14「類神經」，重整預測、感知機、多層網路、訓練與應用；降低數學與程式深度，補充金融治理案例。</a:t>
            </a:r>
          </a:p>
          <a:p xmlns:a="http://schemas.openxmlformats.org/drawingml/2006/main">
            <a:r>
              <a:t>教學提示：建立人工神經元與感知機的直覺。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14「類神經」，重整預測、感知機、多層網路、訓練與應用；降低數學與程式深度，補充金融治理案例。</a:t>
            </a:r>
          </a:p>
          <a:p xmlns:a="http://schemas.openxmlformats.org/drawingml/2006/main">
            <a:r>
              <a:t>教學提示：建立人工神經元與感知機的直覺。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14「類神經」，重整預測、感知機、多層網路、訓練與應用；降低數學與程式深度，補充金融治理案例。</a:t>
            </a:r>
          </a:p>
          <a:p xmlns:a="http://schemas.openxmlformats.org/drawingml/2006/main">
            <a:r>
              <a:t>教學提示：先作答，再核對答案。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14「類神經」，重整預測、感知機、多層網路、訓練與應用；降低數學與程式深度，補充金融治理案例。</a:t>
            </a:r>
          </a:p>
          <a:p xmlns:a="http://schemas.openxmlformats.org/drawingml/2006/main">
            <a:r>
              <a:t>教學提示：以流程語言說明多層網路如何訓練。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14「類神經」，重整預測、感知機、多層網路、訓練與應用；降低數學與程式深度，補充金融治理案例。</a:t>
            </a:r>
          </a:p>
          <a:p xmlns:a="http://schemas.openxmlformats.org/drawingml/2006/main">
            <a:r>
              <a:t>教學提示：以流程語言說明多層網路如何訓練。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14「類神經」，重整預測、感知機、多層網路、訓練與應用；降低數學與程式深度，補充金融治理案例。</a:t>
            </a:r>
          </a:p>
          <a:p xmlns:a="http://schemas.openxmlformats.org/drawingml/2006/main">
            <a:r>
              <a:t>教學提示：以流程語言說明多層網路如何訓練。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14「類神經」，重整預測、感知機、多層網路、訓練與應用；降低數學與程式深度，補充金融治理案例。</a:t>
            </a:r>
          </a:p>
          <a:p xmlns:a="http://schemas.openxmlformats.org/drawingml/2006/main">
            <a:r>
              <a:t>教學提示：以流程語言說明多層網路如何訓練。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14「類神經」，重整預測、感知機、多層網路、訓練與應用；降低數學與程式深度，補充金融治理案例。</a:t>
            </a:r>
          </a:p>
          <a:p xmlns:a="http://schemas.openxmlformats.org/drawingml/2006/main">
            <a:r>
              <a:t>教學提示：以流程語言說明多層網路如何訓練。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14「類神經」，重整預測、感知機、多層網路、訓練與應用；降低數學與程式深度，補充金融治理案例。</a:t>
            </a:r>
          </a:p>
          <a:p xmlns:a="http://schemas.openxmlformats.org/drawingml/2006/main">
            <a:r>
              <a:t>教學提示：以流程語言說明多層網路如何訓練。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14「類神經」，重整預測、感知機、多層網路、訓練與應用；降低數學與程式深度，補充金融治理案例。</a:t>
            </a:r>
          </a:p>
          <a:p xmlns:a="http://schemas.openxmlformats.org/drawingml/2006/main">
            <a:r>
              <a:t>教學提示：以流程語言說明多層網路如何訓練。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14「類神經」，重整預測、感知機、多層網路、訓練與應用；降低數學與程式深度，補充金融治理案例。</a:t>
            </a:r>
          </a:p>
          <a:p xmlns:a="http://schemas.openxmlformats.org/drawingml/2006/main">
            <a:r>
              <a:t>教學提示：以流程語言說明多層網路如何訓練。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14「類神經」，重整預測、感知機、多層網路、訓練與應用；降低數學與程式深度，補充金融治理案例。</a:t>
            </a:r>
          </a:p>
          <a:p xmlns:a="http://schemas.openxmlformats.org/drawingml/2006/main">
            <a:r>
              <a:t>教學提示：以流程語言說明多層網路如何訓練。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14「類神經」，重整預測、感知機、多層網路、訓練與應用；降低數學與程式深度，補充金融治理案例。</a:t>
            </a:r>
          </a:p>
          <a:p xmlns:a="http://schemas.openxmlformats.org/drawingml/2006/main">
            <a:r>
              <a:t>教學提示：以流程語言說明多層網路如何訓練。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14「類神經」，重整預測、感知機、多層網路、訓練與應用；降低數學與程式深度，補充金融治理案例。</a:t>
            </a:r>
          </a:p>
          <a:p xmlns:a="http://schemas.openxmlformats.org/drawingml/2006/main">
            <a:r>
              <a:t>教學提示：先作答，再核對答案。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14「類神經」，重整預測、感知機、多層網路、訓練與應用；降低數學與程式深度，補充金融治理案例。</a:t>
            </a:r>
          </a:p>
          <a:p xmlns:a="http://schemas.openxmlformats.org/drawingml/2006/main">
            <a:r>
              <a:t>教學提示：從金融案例討論評估、解釋與治理。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14「類神經」，重整預測、感知機、多層網路、訓練與應用；降低數學與程式深度，補充金融治理案例。</a:t>
            </a:r>
          </a:p>
          <a:p xmlns:a="http://schemas.openxmlformats.org/drawingml/2006/main">
            <a:r>
              <a:t>教學提示：從金融案例討論評估、解釋與治理。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14「類神經」，重整預測、感知機、多層網路、訓練與應用；降低數學與程式深度，補充金融治理案例。</a:t>
            </a:r>
          </a:p>
          <a:p xmlns:a="http://schemas.openxmlformats.org/drawingml/2006/main">
            <a:r>
              <a:t>教學提示：從金融案例討論評估、解釋與治理。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14「類神經」，重整預測、感知機、多層網路、訓練與應用；降低數學與程式深度，補充金融治理案例。</a:t>
            </a:r>
          </a:p>
          <a:p xmlns:a="http://schemas.openxmlformats.org/drawingml/2006/main">
            <a:r>
              <a:t>教學提示：從金融案例討論評估、解釋與治理。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14「類神經」，重整預測、感知機、多層網路、訓練與應用；降低數學與程式深度，補充金融治理案例。</a:t>
            </a:r>
          </a:p>
          <a:p xmlns:a="http://schemas.openxmlformats.org/drawingml/2006/main">
            <a:r>
              <a:t>教學提示：從金融案例討論評估、解釋與治理。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14「類神經」，重整預測、感知機、多層網路、訓練與應用；降低數學與程式深度，補充金融治理案例。</a:t>
            </a:r>
          </a:p>
          <a:p xmlns:a="http://schemas.openxmlformats.org/drawingml/2006/main">
            <a:r>
              <a:t>教學提示：從金融案例討論評估、解釋與治理。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14「類神經」，重整預測、感知機、多層網路、訓練與應用；降低數學與程式深度，補充金融治理案例。</a:t>
            </a:r>
          </a:p>
          <a:p xmlns:a="http://schemas.openxmlformats.org/drawingml/2006/main">
            <a:r>
              <a:t>教學提示：從金融案例討論評估、解釋與治理。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14「類神經」，重整預測、感知機、多層網路、訓練與應用；降低數學與程式深度，補充金融治理案例。</a:t>
            </a:r>
          </a:p>
          <a:p xmlns:a="http://schemas.openxmlformats.org/drawingml/2006/main">
            <a:r>
              <a:t>教學提示：從金融案例討論評估、解釋與治理。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14「類神經」，重整預測、感知機、多層網路、訓練與應用；降低數學與程式深度，補充金融治理案例。</a:t>
            </a:r>
          </a:p>
          <a:p xmlns:a="http://schemas.openxmlformats.org/drawingml/2006/main">
            <a:r>
              <a:t>教學提示：從金融案例討論評估、解釋與治理。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14「類神經」，重整預測、感知機、多層網路、訓練與應用；降低數學與程式深度，補充金融治理案例。</a:t>
            </a:r>
          </a:p>
          <a:p xmlns:a="http://schemas.openxmlformats.org/drawingml/2006/main">
            <a:r>
              <a:t>教學提示：從金融案例討論評估、解釋與治理。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14「類神經」，重整預測、感知機、多層網路、訓練與應用；降低數學與程式深度，補充金融治理案例。</a:t>
            </a:r>
          </a:p>
          <a:p xmlns:a="http://schemas.openxmlformats.org/drawingml/2006/main">
            <a:r>
              <a:t>教學提示：先作答，再核對答案。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fe373cd85745d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8c26ea85b774deb" /><Relationship Type="http://schemas.openxmlformats.org/officeDocument/2006/relationships/slideLayout" Target="/ppt/slideLayouts/slideLayout1.xml" Id="Rbd953d38a4894f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953d38a4894f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b9bb32f5cc4ed8" /><Relationship Type="http://schemas.openxmlformats.org/officeDocument/2006/relationships/notesSlide" Target="/ppt/notesSlides/notesSlide1.xml" Id="Rae3b20e6d4144e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60af847f7e4b72" /><Relationship Type="http://schemas.openxmlformats.org/officeDocument/2006/relationships/notesSlide" Target="/ppt/notesSlides/notesSlide2.xml" Id="R24a5900cf779496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dba33b147a461d" /><Relationship Type="http://schemas.openxmlformats.org/officeDocument/2006/relationships/notesSlide" Target="/ppt/notesSlides/notesSlide3.xml" Id="Rbfc4b518c7904b9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009fbc9bd64e3f" /><Relationship Type="http://schemas.openxmlformats.org/officeDocument/2006/relationships/notesSlide" Target="/ppt/notesSlides/notesSlide4.xml" Id="R961a8502e750452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90444106fc42d3" /><Relationship Type="http://schemas.openxmlformats.org/officeDocument/2006/relationships/notesSlide" Target="/ppt/notesSlides/notesSlide5.xml" Id="R0713f8cfb15c46b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b78237d73147a7" /><Relationship Type="http://schemas.openxmlformats.org/officeDocument/2006/relationships/notesSlide" Target="/ppt/notesSlides/notesSlide6.xml" Id="R30a5d35d98de4c9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146088978040f2" /><Relationship Type="http://schemas.openxmlformats.org/officeDocument/2006/relationships/notesSlide" Target="/ppt/notesSlides/notesSlide7.xml" Id="R0da1b839d435478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e9cddefdbd40a7" /><Relationship Type="http://schemas.openxmlformats.org/officeDocument/2006/relationships/notesSlide" Target="/ppt/notesSlides/notesSlide8.xml" Id="R3d245b185de4422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0aea5a86bb4f63" /><Relationship Type="http://schemas.openxmlformats.org/officeDocument/2006/relationships/notesSlide" Target="/ppt/notesSlides/notesSlide9.xml" Id="R1757bf57c2824e8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842ec3441444e3" /><Relationship Type="http://schemas.openxmlformats.org/officeDocument/2006/relationships/notesSlide" Target="/ppt/notesSlides/notesSlide10.xml" Id="Rd56c2814eb7c4fd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5bbe282ce04460" /><Relationship Type="http://schemas.openxmlformats.org/officeDocument/2006/relationships/notesSlide" Target="/ppt/notesSlides/notesSlide11.xml" Id="Ra55102d3e7a5466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7bfea8d9784bcc" /><Relationship Type="http://schemas.openxmlformats.org/officeDocument/2006/relationships/notesSlide" Target="/ppt/notesSlides/notesSlide12.xml" Id="R6554d671ddcd4e5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43360cc2ac4862" /><Relationship Type="http://schemas.openxmlformats.org/officeDocument/2006/relationships/notesSlide" Target="/ppt/notesSlides/notesSlide13.xml" Id="R81e39e419042436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fdb92e9cc44383" /><Relationship Type="http://schemas.openxmlformats.org/officeDocument/2006/relationships/notesSlide" Target="/ppt/notesSlides/notesSlide14.xml" Id="R7d68ce41d3964fc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a91071fa144fc4" /><Relationship Type="http://schemas.openxmlformats.org/officeDocument/2006/relationships/notesSlide" Target="/ppt/notesSlides/notesSlide15.xml" Id="R8d09d693425f441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20e523100144ed" /><Relationship Type="http://schemas.openxmlformats.org/officeDocument/2006/relationships/notesSlide" Target="/ppt/notesSlides/notesSlide16.xml" Id="R432935305b43464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f5d2cf2d8a4be5" /><Relationship Type="http://schemas.openxmlformats.org/officeDocument/2006/relationships/notesSlide" Target="/ppt/notesSlides/notesSlide17.xml" Id="Rcfdf989b17aa4d1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a9d5140abc4f1b" /><Relationship Type="http://schemas.openxmlformats.org/officeDocument/2006/relationships/notesSlide" Target="/ppt/notesSlides/notesSlide18.xml" Id="Rbd4bca5905654b9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4793a25e8f42ca" /><Relationship Type="http://schemas.openxmlformats.org/officeDocument/2006/relationships/notesSlide" Target="/ppt/notesSlides/notesSlide19.xml" Id="R2a027ae42dde467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22de2991404500" /><Relationship Type="http://schemas.openxmlformats.org/officeDocument/2006/relationships/notesSlide" Target="/ppt/notesSlides/notesSlide20.xml" Id="Ra7adf8592711489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8fc197df6a4bec" /><Relationship Type="http://schemas.openxmlformats.org/officeDocument/2006/relationships/notesSlide" Target="/ppt/notesSlides/notesSlide21.xml" Id="R6b1a8f61723c415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fb00ee5b5c44b4" /><Relationship Type="http://schemas.openxmlformats.org/officeDocument/2006/relationships/notesSlide" Target="/ppt/notesSlides/notesSlide22.xml" Id="R1af83ba953d14a5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24668bbb0045b5" /><Relationship Type="http://schemas.openxmlformats.org/officeDocument/2006/relationships/notesSlide" Target="/ppt/notesSlides/notesSlide23.xml" Id="Rd55e214dd893419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b32aeba27c4476" /><Relationship Type="http://schemas.openxmlformats.org/officeDocument/2006/relationships/notesSlide" Target="/ppt/notesSlides/notesSlide24.xml" Id="R8d6040ce77154a9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2a34bb022f4d95" /><Relationship Type="http://schemas.openxmlformats.org/officeDocument/2006/relationships/notesSlide" Target="/ppt/notesSlides/notesSlide25.xml" Id="Re09770b1fab74fe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e1f59b243d4a15" /><Relationship Type="http://schemas.openxmlformats.org/officeDocument/2006/relationships/notesSlide" Target="/ppt/notesSlides/notesSlide26.xml" Id="R627d9feb216f4c4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36b5e290f64899" /><Relationship Type="http://schemas.openxmlformats.org/officeDocument/2006/relationships/notesSlide" Target="/ppt/notesSlides/notesSlide27.xml" Id="R33d7bd6717db437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ee1ac732f4494a" /><Relationship Type="http://schemas.openxmlformats.org/officeDocument/2006/relationships/notesSlide" Target="/ppt/notesSlides/notesSlide28.xml" Id="Raae9b7df1e8342f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1b2c4b51cf4431" /><Relationship Type="http://schemas.openxmlformats.org/officeDocument/2006/relationships/notesSlide" Target="/ppt/notesSlides/notesSlide29.xml" Id="Re0ca23c1d3ae48c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2721b87b694da3" /><Relationship Type="http://schemas.openxmlformats.org/officeDocument/2006/relationships/notesSlide" Target="/ppt/notesSlides/notesSlide30.xml" Id="R281ac2b6efe64b1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b70bc50be946f1" /><Relationship Type="http://schemas.openxmlformats.org/officeDocument/2006/relationships/notesSlide" Target="/ppt/notesSlides/notesSlide31.xml" Id="R000e89e981e0417a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002d1391f1443b" /><Relationship Type="http://schemas.openxmlformats.org/officeDocument/2006/relationships/notesSlide" Target="/ppt/notesSlides/notesSlide32.xml" Id="R73875f6e3cf34f0c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7b00f5b35a4ea9" /><Relationship Type="http://schemas.openxmlformats.org/officeDocument/2006/relationships/notesSlide" Target="/ppt/notesSlides/notesSlide33.xml" Id="R852fdbf482d64e1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567A70-CFC3-463F-99AE-8EF425FAB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09B6BC-CF70-42B7-8966-602E7B37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Week 14｜類神經網路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8CCAE9-FDD0-4D6B-906E-78D2098E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01/11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E6C81E-C61E-4B48-90CD-36EC39FA7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339882-A897-4F55-9EF1-BE526B981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9523CB-B054-4B74-825D-5A95F7DF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本週問題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7CF283-AACF-48A7-BD2E-DEA443A5A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電腦如何從大量案例學習複雜模式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583B4C-F355-49CB-AE0B-90BFCB41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FD7775-85EE-4066-9B27-4112C072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學習主線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321579-CE4C-4E76-92A7-F7970C417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神經元、網路結構、訓練與預測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B2FDB1-B968-4672-A070-B81EA2BE0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F1B699-7662-496D-AE57-384F4CC3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學習目標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68536D-2043-4096-98EF-21A253F3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能用白話說明類神經網路的運作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A701AC-80BD-424B-B550-F65958F3F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1C5BB3-5727-40DE-A94E-15AA593A9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課程原則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D0C483-A618-4145-A282-C21EB3FC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理解概念與應用，不做繁複數學推導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485B4E-8D1A-46EC-9678-13DA5E10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6723304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2297E6-932D-4132-9BE3-7998AC73E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6CFF43-5C9F-4404-B0B4-2C1D1BF12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預測與分類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7200B4-85C5-4E27-97D4-5082A5F46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02/11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E1E27B-50EC-47CB-803C-14C4F758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A69251-4237-44DA-B767-074D01C9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3707B5-5475-4931-B2A1-92B54E84A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分類任務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4D2C19-79FE-4AA6-9CA5-414F75FA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預測離散類別，例如高風險或低風險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1E9F60-0E41-4B9B-A756-99A6E934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D1724A-6F84-4053-8273-52CADC24D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數值預測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679C68-C397-49CA-AD6F-AD808752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估計金額、需求或損失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BC414D-E433-4A0D-893E-A06D9605E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86627B-EEB8-4CB5-8B69-598110CCD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類神經用途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916BA0-0B8E-4C47-BC14-397ADDB6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兩種任務都能使用不同輸出設計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D86E8A-0723-4ABA-AF26-C6AC1910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5EEFEF-F60B-4D48-8EB0-BF9E567B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共同基礎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E46E81-E988-4241-BB85-1BD2B140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從歷史輸入與答案學習關係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FD42A0-3E50-4073-BD86-80DF28A24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5835031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E174E9-D6FD-4614-8499-DBA9E77E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4E86F6-1279-44BB-8E34-6FA482C8B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類神經網路 ANN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FA3B4F-CA6F-43DD-B288-447493D9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03/11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2F8FD4-1D38-449D-9155-1D8EC37F4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11C80E-5D87-4382-9FFE-D6F9F7106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F1D996-3B39-4ACC-9D76-6162463FF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名稱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BA2541-76B8-4C03-ACA8-7C37FE51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Artificial Neural Network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F5FBD7-3DED-416E-9DA6-EDB0B82D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3DD5F8-ADFC-46DB-BB29-4AFC2D860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靈感來源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B6C517-79B7-4977-977C-D3DCF94A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以簡化方式模擬神經元連結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08087B-A131-4B52-A037-B9A9B888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B90ED9-33A9-4E2A-82B2-BA27BAD8C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核心能力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608A14-2B58-4D66-B243-BA2128359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組合多個特徵並學習非線性關係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18BC10-8F8B-453D-A4E1-F502FD591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3DF6BC-2019-47F6-91CE-F4396E625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重要提醒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B5B3F3-C237-4A01-822E-63D96F9A4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人工神經元不是人腦的完整複製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681EC0-688F-46A5-A0C9-4D04C8B8F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691763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EFEF32-8E1D-4846-B883-C8A3C40DC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70EE4A-AA07-4945-A42D-915FD6BB8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單一人工神經元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30AA5A-D7CB-4233-ADE7-6ED95498C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04/11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FF7D51-3A52-4CEC-BD95-DE1EF8313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10FD12-06E1-4BE4-AAF5-20339F76B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5B3861-5218-4440-92A9-DCC88B1F7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輸入 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B2B834-6651-4C75-BC5B-D9D576E89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送入模型的特徵數值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4D54B9-2B60-450C-856C-1C6538BF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FE2E21-2FFC-456E-A221-DD15983FF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權重 Weight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8EF9E2-7B50-4D4D-BEEA-699CF941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表示各輸入對結果的影響程度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E355F6-099F-47DB-92AF-10DD8DB26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BFDC75-4A1A-46A5-8031-86D24CA7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加總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F98812-6DD8-4CE5-A89B-6DD581F4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把輸入與權重組合成一個數值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32835E-B88A-4971-8316-943E40C7A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545164-BA85-4ED6-B884-5B247FDFF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輸出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1771D1-DAD3-43DE-B89C-C02FC4FE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經過激活函數後傳給下一層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82C5BC-FB16-4159-ABB3-390E3D174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588158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C82E33-FB1D-4FE8-A014-3888413B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8F4265-C134-4B07-AD9F-97B125659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權重的直覺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72EC2F-645A-488A-B831-2B9258F3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05/11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B94CF4-D128-499A-B0A4-0D5F4EFF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A7B1C6-6AD2-4B69-9E26-E399E36D3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D70DFE-184B-4AFC-AAB8-B6C97DD6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較大正權重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DF347C-B44F-44E6-BAD1-4C84FBFA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輸入增加時較可能提高神經元輸出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7FAE5C-A4B1-4ED6-BBBC-36A194C8E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B31560-6E88-453C-B689-3D0AD4E14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負權重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D52669-69E9-4C47-8287-66680725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輸入增加時可能降低神經元輸出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6DDE72-31AB-4ED0-8124-ACBFFA24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CAEC3A-BE4F-462D-B01B-1D9A42B41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接近零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00F2CD-4A43-42A7-BA7C-BDCD4033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該連結目前影響較小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ED18E7-4459-484D-83C3-5DF09D8E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4954C5-FC8B-418F-A291-6A6B3B5F7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學習過程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EFE49F-69DE-424D-A632-838EFB6FB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模型透過誤差反覆調整權重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B0B669-433D-488A-8054-423311F1A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0712333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F44958-BB8D-4272-B1AF-F40236E41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4227EF-569B-441B-ACA5-1421785C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偏差 Bias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A3628A-B34F-47AA-B547-8044FABA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06/11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13E276-273D-43D9-B4E2-03487359D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A60E05-5430-4D91-B8D3-0B600B1D2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097ADF-7256-497C-A1B3-4B1CECB5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用途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A67BE7-E552-4FA5-AE1C-968B385F2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調整神經元啟動的基準位置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695488-B71D-4B3B-8CAE-5A4D46C03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10756C-C050-474C-B27E-AEE427535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直覺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C28B7B-BFDD-405F-81A6-6025C4650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即使所有輸入為零，仍可保留基礎傾向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760F73-9AAC-4617-ACCC-21D231DBF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FB7645-1280-4774-87FD-80528EA9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搭配方式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712592-2503-43FE-92BF-361329EAC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與加權輸入一起送入激活函數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F29C47-83EC-44B5-87E7-A1BAC2DCC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BB436E-217E-4CBF-8CE4-7C3B3A603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注意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DFEA6F-1FD1-45D2-B900-E67998D8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此處 Bias 不等同社會公平中的偏誤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B6DF2D-78C1-4D9D-8CAA-F8B985C0A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830734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5AA1EB-2974-47B9-B36B-EAA2C2083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7EFC2D-388D-4F46-8644-EF135D3BB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激活函數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3B61B8-D1C3-4325-8EBE-10E89F23F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07/11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C3E33A-5E5B-499C-B38C-93AA7EA8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E7CD6D-EAC0-4091-8F8F-9971A7E5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23FF74-89E9-4BFC-A70D-70A0087A7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角色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FD75CE-BB77-43CF-A2B9-CA604C123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決定加總結果如何轉成輸出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62AF1C-A48A-49A4-9B92-6F570F8E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5D88B0-4352-4F68-8A47-09013223A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非線性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BC9E74-01AF-4F6D-B811-567843BE2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讓網路能學習更複雜的關係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8CD644-EE7D-41F9-8416-A2CC3134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ACDFD1-81E1-436B-9781-E4B6E3C49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常見名稱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D39964-7556-404E-AF4A-3A15A319E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Sigmoid、ReLU 與 Softmax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1EC05E-C3F5-44DF-A16E-6B3AE5EDA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5664B8-7DD3-4251-8834-29A517818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課堂重點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EC0EE6-819B-43EC-91F3-1FFB4FE75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理解用途，不要求背誦公式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953457-A7B5-4D93-8A98-FD4B91794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9396115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A9D638-183C-4086-AE7C-1B8330F04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709C2A-656A-43E5-9BA3-3097B1017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感知機 Perceptron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6E7DAA-0A2F-43CE-A88B-A9AB30BD7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08/11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5DC546-C19F-46B4-8E85-E91F705B9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0ED2F3-9B7F-4704-84DD-5D9DFB36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BCBC08-B4F3-4B9E-8A57-7B2B294C0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結構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AD76D5-B163-4F7F-8570-63E889ACF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最早期的簡單人工神經元模型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3F8768-275C-47A7-B1CC-A256AB7A1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C963B6-E452-4739-B712-3B62EF00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功能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858909-C8E0-4778-AD36-7AFE53941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依加權結果進行二元分類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184C8A-846F-4EB9-8DCE-516EA68C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C23DDA-2A46-4FC5-AD34-61DCFD625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可處理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48CB0F-F221-49BD-8BE3-03C6EAEC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資料能以簡單界線分開的問題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117A9E-5CAB-43D2-B7B0-0D0A80B6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CCE43D-6A79-49A9-8C0E-F79789ED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限制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EE62E2-891C-493D-9E0D-E53D8799E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單一感知機難以處理複雜非線性模式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7B269B-795F-4BF5-8EDE-48FC8AA7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1068883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0F7812-4180-405F-B230-FB0D95B4D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30ECD1-7B71-4D10-8D1F-7ECF95542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線性與非線性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CEC6EC-7552-4C42-ACD2-A6EB4270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09/11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8E6A96-7BB9-43CA-8906-339A9F84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8A222E-68AE-4261-9416-FCA25765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9D1A3F-C239-40B1-8AC7-2CFEF380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線性可分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7DCAB3-07AC-43CA-9984-FB581888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一條直線或平面可分開不同類別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AB3E88-8A25-4570-B50F-40566BB5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6ADAC7-40B8-4B5A-A44F-297D66EC0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線性不可分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B8D631-A6A7-4AAE-883B-C3EC67CB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需要彎曲或多段的判斷界線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71E5A5-DF8B-445D-9BC1-08D2D843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93C553-C755-457D-9854-7947240C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單一神經元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27BAFD-BB43-4D42-9AC1-5EA6D1920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能力較接近簡單線性分類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B259CE-6218-4E88-BBD3-AE2C37C29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4C1A79-08DD-460D-A3FE-AC9E3745D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多層網路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BCE75E-2CE9-4453-8D6A-1EF84876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可組合出較複雜的判斷模式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57C25A-999E-426B-9861-A434A1335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7387578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27B59D-A5B5-4D68-88DD-280B1749A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A938E7-24F7-47DC-BD15-6B620BBE1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第一節小結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6D31DB-8C8D-4EF9-B9C1-E4273FBD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10/11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B1334B-F11E-4C40-8874-9F6024E2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2E2E34-8ACA-4653-9C23-F796D8E89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515AAD-569B-4E74-8151-BCB13503D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人工神經元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A1FBE7-D019-4FC2-A887-783FB5542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接收輸入、套用權重並產生輸出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F76E50-03C0-4B50-B8CB-129907F4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E07E65-8A48-4065-96A0-9FA5EBB32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偏差與激活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3FB103-14C1-49E1-B22A-11175F6E4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調整啟動基準並加入非線性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3BB8AE-D9AA-47E2-882A-E5CAD019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E8500B-ED30-484C-B13D-6A414B20B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感知機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EF73AB-4CE5-4043-8833-A1C2E5064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可處理較簡單的二元分類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6FD2DF-53B0-469E-87ED-B6E755F5B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F730D0-DA94-487A-9207-D769650EB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下一步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141CC3-FB64-4E9A-827F-E0911754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多個神經元組合成多層網路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6CBA95-D728-4767-8C26-11FACEAC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47122480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419E52-441B-4459-A115-12E5DC3F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693105-D0AB-4713-A522-5483842B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本節搶答題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79E321-F828-435D-8815-26CEFF41B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5 分鐘｜先作答，再核對答案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3B0F75-A765-46CB-8DAE-CC1F8DB62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11/11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4D00D0-6411-4E7A-8473-EFAF42A0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D0C5E8-3B74-4B39-9093-AFB69D2AD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BC5A9D-6B54-42CA-B744-6DE62F4F6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287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1. 人工神經元的輸入是？（A 特徵　B 答案紙）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EDE513-82D3-4F56-8DDF-AD99B57F8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0027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2. 權重是否會在訓練中調整？（A 會　B 不會）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7748D0-DDA3-4DC7-8814-75FFFA25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718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3. 激活函數可加入非線性嗎？（A 可以　B 不可以）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9227B5-197C-4D05-A31D-D045EBE01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4332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4. 單一感知機擅長？（A 簡單分類　B 所有複雜問題）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DBE3CC-5279-4142-91D6-BF440714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148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5. 人工神經元是否完整複製人腦？（A 是　B 否）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D6B92E-FE5F-41A7-9985-2B7AF8666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10858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CEBD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9D9396-6FD4-4B59-8031-7BE0F3CD8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答案：1-A　2-A　3-A　4-A　5-B</a:t>
            </a:r>
          </a:p>
        </p:txBody>
      </p:sp>
    </p:spTree>
    <p:extLst>
      <p:ext uri="{BB962C8B-B14F-4D97-AF65-F5344CB8AC3E}">
        <p14:creationId xmlns:p14="http://schemas.microsoft.com/office/powerpoint/2010/main" val="19526795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21653D-F9EF-4281-A106-E36771AAF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2EC25A-A840-4CB2-A07D-12056DDA1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第二節｜多層網路與訓練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5C3E4F-A4F8-48FA-9EC3-4B54AC61A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01/11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4E9A44-773B-4D89-8402-73F12FD7A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6C08D4-F84A-4A26-8CE4-1DCD1F4A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0EFAA2-8E2E-4B44-8859-38A6D376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網路結構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3BB0E7-D34E-401C-9134-A3B895FB7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輸入層、隱藏層與輸出層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3D42C8-BE44-4652-8AF8-BFD3028B8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66FE41-A38B-4B29-9C92-4DD1A283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訓練目標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856DEF-D2B3-42B6-BDA4-4E1A34C0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逐步降低模型預測與答案的差距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6AB6EE-8B3B-45B8-A781-D10D040D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2E4CAA-99AC-4DD9-805B-DE2E0DD9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主要循環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2ED10D-32A8-445F-B09F-F7318FB9C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前向傳播、計算誤差與調整權重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005D88-715E-43B4-99EF-94FC5049C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87108374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5D142F-E143-4EDB-A519-EBCBCC35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0E9F5C-7F4B-4FA2-9C46-F30E491F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輸入層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58F872-E6B7-495F-8EE1-129C5FA9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02/11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8E7EFD-152D-4E1F-BCCC-877F81C15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A16764-E292-45BA-9B30-5E145E5BF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F051E7-2F76-43EA-A2B5-703CF6B5E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功能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308E37-8612-4FA4-99DB-B0E38B45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接收經過整理的特徵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B78947-1DC3-45C1-92D8-4D470094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3E4275-DE09-423B-AF3B-2C8C85F1F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金融例子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3C7A4B-D82D-4CC0-AD47-2BA68AD21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交易金額、時間、頻率與裝置特徵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51F4F4-C27E-415B-8556-15E0A604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4E7B4E-4DFD-45AD-882C-D1DCECA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前處理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5F151C-7E25-4C16-B885-8E96DDD43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數值尺度與類別編碼要一致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A580A6-10F1-4638-9E58-0860A08B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069408-42F1-4CC2-B268-3F77E7836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限制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B0EB4C-2C72-4794-B187-B5AFFE67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輸入缺漏或定義錯誤會直接影響模型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63BA03-4DD6-4481-BBAC-0C36FA375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71493328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BC6B48-9D8B-41D4-A2C7-6A3DDBA4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0F85D4-22DB-4C7A-A854-AA3329E8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隱藏層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D7700A-655A-408A-8BBB-9BB9BD047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03/11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3CBA9B-E959-4EA3-A61B-29A1C504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1117B4-7B05-4983-97C2-0B0945C16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90B51A-68D9-4109-A8DE-77D73CC32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功能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4E74ED-F9BD-4EAE-BCBE-2E1A1544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把前一層輸出重新組合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485F21-5259-4DE0-9114-09B6A8519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9D5550-369B-413F-9446-99E6A999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名稱原因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568B41-1024-4870-8FC3-5CDA5AC9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中間結果通常不直接提供為答案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1BCDEB-4FB4-43DB-9B20-D07D2A1F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06ADCF-0848-4FDC-AAD7-88F3E0AD1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多層效果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3440F3-7307-4339-AB8D-8ACE69AFC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逐層學習較複雜的特徵組合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AD0685-3B9B-4893-A68D-D7561D3B3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606BED-7F3C-42E3-8271-BC4380EFF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代價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BB8B60-56FE-4F57-BB06-2FE84E519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層數與神經元增加會提高複雜度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D342E4-6376-4D8D-AC61-45B08CEF0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04548345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40ABDF-41F2-40B2-9931-13125D14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DAA317-D59F-44DF-B0F6-74345E03B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輸出層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4A92EF-EAD3-467B-ABB0-AAACE93D0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04/11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ED5DBA-EEC1-4BF8-8F65-FB8B3B48D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90E106-84E7-44D4-8308-9A7545143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104F56-E8A1-4EDF-84BF-858A17112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二元分類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A02F7B-A320-44EB-B317-C7E0874FD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可輸出某類別的機率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42ACF2-2C50-4C55-AACF-AE06CD24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75BD4D-0F4F-4C0E-BB65-A019AC095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多類別分類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1B5840-64CB-4943-A894-ABFD4F79A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可比較多個類別的相對機率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F0A411-52B4-47ED-BE10-54CF4755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4C74F2-4A2A-489A-AD68-B2ED22D4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數值預測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CFE322-84A2-4079-9594-28351C8F5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可輸出一個連續數值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DB72CA-CA6E-40B6-984C-010D760F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0E2CB6-1748-4EF9-BA0B-BFB426C5B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設計原則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B7DE15-604D-48C4-A5FE-017748693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輸出形式要配合原本的業務問題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1486CA-91CF-4451-A68A-844D10BF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30868511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9A2C55-BFFD-4B2C-82FC-A2FC774AC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22D1D4-70B8-4E92-9C63-D873D0927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前向傳播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5E46FA-57E7-4343-BD05-64796F0D2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05/11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7FC641-1B0A-448E-BA12-7124E2650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933543-462D-409C-8468-7C834359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892754-C91D-4F7D-925C-EE7ECB7EF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第一步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59DAAB-F843-407B-AD35-73125CCE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輸入特徵進入第一層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DA689E-359F-4446-A468-EBA86B6AC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3C8C2D-85E7-4B02-A228-27B51B2D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逐層計算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459584-86D8-4B9F-8455-A56EEFB4D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每層完成加權、偏差與激活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A8FD95-A59C-486B-B894-5C422BE2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E2A9B6-C1F2-47EE-A6F2-F1814742A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最後輸出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08BA32-C268-436A-8BF8-C97CBFDF5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得到預測類別、機率或數值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5C105F-F169-4FDD-B0EB-D8254AB71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7883A5-3580-47DA-A4C5-9EF3E22AE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訓練前期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234A19-B87C-46E0-BCFD-953BA7471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預測通常與正確答案仍有差距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2C35F1-38C0-4AFB-A4BB-BB6C56E9A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2091857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255F69-5242-49BA-864A-7C9FF4CE8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154A0B-3893-40C2-A729-35F59961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損失函數 Loss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96EC2C-20A0-4D00-98A2-BF9F432B8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06/11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0819A9-32FA-49C9-9EC2-9DE54D3B7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248847-B377-4184-896D-B0C71EE89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53AEED-7612-4B3C-BED2-5C36B6854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用途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DFA68B-9C9B-42E2-A493-DBB1B647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衡量模型預測與正確答案的差距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2DEE65-CF78-4788-A707-F22E1C544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54E7E0-EDB2-4E93-84FE-5BAB1575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損失較大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DA1FFA-F014-44DB-90E3-6D8426D7E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代表目前預測偏差較多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770A65-1145-43FC-9CFD-45733BB82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66A125-B246-4070-8AD2-A59EC939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損失較小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423FB9-01D2-42F4-8D2D-70896FFB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代表模型逐漸貼近訓練答案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D056B7-6FED-4F47-9154-A42B08E4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B6F73F-B9AF-4FA5-870B-E780BCE50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注意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43A8E6-FF3A-4685-886A-4E4F7101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訓練損失低不保證新資料表現良好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104D8D-FD10-4570-81B0-AC3707F2C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68924083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15A0CD-DCCF-480C-8492-933357A40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E1122C-5FD1-49D2-84FF-F30B18674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反向傳播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1F443D-E59E-42E2-843D-066F75113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07/11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624F5B-EFDF-4525-BC03-443A0B5F7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641570-7F68-4757-97D8-A43E63200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452B35-8DD4-4279-838F-CF2D00D9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功能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0E3CA8-FDFE-48A4-9EA8-FB235D5B7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從輸出端往回計算各權重的調整方向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9D72C0-C9EA-4827-9482-8C433027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D45ACB-714C-4816-909D-670DCD56C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依據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843842-54D1-428F-8554-0E7224ED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觀察每個連結對損失造成的影響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E2C620-3073-45E4-B2E4-FE107F20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2D1E4B-43CA-41C2-8D18-4C1977974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結果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BA3B04-5F1D-41CB-9A5A-8D1C4CAE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為下一次權重更新提供資訊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9B2E70-F54A-4102-BEA8-05E9EE6C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F38DF8-7458-4B69-A963-212A10966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課堂重點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CC53EB-C944-49FF-B53E-6D25C1503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理解回傳誤差信息，不推導微分公式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91D8CA-8655-4377-BE0B-A11E69C90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93574453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CFD06E-1451-4128-99D2-2EE31E317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7EADB1-71E2-46F8-A29C-9A04FD88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學習率 Learning Rate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0E6525-BDEA-48D1-8BBE-73216549E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08/11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17CF2F-60CB-4172-B0C7-C71778DE6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C2CBD7-D857-439C-9E0B-5A5ACFD94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016CB1-5441-4E79-9D65-AFE7FFEDB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用途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D44154-8D6D-484D-87FF-DCCE2AEFF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控制每次調整權重的幅度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D61EEC-E911-48F0-8EE8-D3F1C0052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7D93EB-1763-4ABB-A38A-54B3079FA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太大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9852B4-0EBA-4675-89E4-F0A812BB8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可能跨過較好的位置並震盪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B3B3E9-586C-42FF-A523-8DB62331B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93F87A-F07B-4596-B595-F9DF38A7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太小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40AE39-4E18-4C7D-9256-501906D0A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學習速度慢，訓練時間增加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317AE1-E699-4EEB-9319-4B583311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92C86F-43A4-4380-B679-8ED9DA91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設定方式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5D569A-5316-4ECC-BB64-1B66DC6EB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透過實驗與驗證資料選擇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CA4F15-264B-48C7-8825-54D3D1252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18578500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270A25-DA31-4551-8205-B729500B0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0170B8-5E9F-47A0-9E03-E11A6489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Epoch 與 Batch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A21E8D-68CE-45DD-B04F-487E159B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09/11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AC8CE7-9B93-4B9A-9FF3-1CA29C8EF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65B172-56F1-4DD5-8523-F3C8C10F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21ED91-5A1B-433C-B473-D0A0A531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Epoch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B20794-8827-4C70-B158-A0BB04F8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全部訓練資料完整學習一次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40F1F0-13AA-4059-AA32-F396DF07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264B35-B87F-4B33-AF1E-04150F5E1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Batch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ADEAB2-C3D5-455B-8165-854F17BD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每次更新權重所使用的一小批資料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8BF34B-BAB5-4FDB-9ACB-8F0B9C50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FD0A5B-BE2C-430E-B366-5EB9DB995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多次訓練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1F516D-4E81-4277-92C5-0CD029B50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模型會反覆查看資料並調整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99E9FE-CDB6-44A4-B498-E27A3B8D5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D6A147-EFD7-43F8-AD9D-E8AD6BBCD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停止判斷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70B7F5-BD75-41A3-9DAE-43E4AFDD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觀察訓練與驗證表現，不只看次數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E4088B-D190-4F57-B92E-2FADEA05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77002284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1EAB07-5AEA-442D-AC18-8B57BED26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C9AA00-7385-4F05-B116-01C72B66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第二節小結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76A669-8F91-46C8-BB94-779F4F1E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10/11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B4BAF9-5CC1-4D3C-826A-DAADB1053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1ED812-D7A7-44A7-94E8-01EC0837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906463-1652-4325-909D-C6A62B983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三層結構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610CEB-3F24-47B8-A8B7-0F170951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輸入層、隱藏層與輸出層各有角色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4450F6-26EC-44B5-838C-2A2DFAED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EE4037-0D26-4A76-A8A3-0FEC789AC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前向傳播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F6574A-2B0A-49AB-A4C3-81910A73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由輸入逐層計算預測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5410E6-D854-4FA5-8D55-6A50D2CE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AB5970-8E48-4C90-8C3B-C1565842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反向傳播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7E0BCD-68D4-412B-AC05-8ABEE096F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依損失回傳調整方向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3C3011-7480-4613-A477-66048E134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3FC15C-2731-4FF9-9795-375D91E9F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訓練控制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658A3C-F2D7-4E2F-A95C-381BEA6C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學習率、Epoch 與 Batch 影響學習過程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0986B9-9BE3-48D2-9DDE-CED15F5C5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1574651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B80CA9-4F42-4302-9435-4511B349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026878-A77C-485C-85DB-2696FC708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本節搶答題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017493-3202-4A8D-A115-33C329C06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5 分鐘｜先作答，再核對答案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2362FC-17AC-471F-9BF6-0E8C76CF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11/11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29D5CE-A759-4FC7-A4A9-828EC559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5FD6B4-B379-406A-9295-D7D9CA2D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76FED8-FAA3-431D-B0E3-79AC4DEF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287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1. 隱藏層位於輸入與輸出之間嗎？（A 是　B 否）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1D82BF-1FAE-49B9-B740-01AE1F31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0027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2. 前向傳播產生？（A 預測　B 法規）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0C0D36-AD4E-41BD-B499-91E88ACD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718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3. Loss 衡量什麼？（A 預測差距　B 資料筆數）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7A1D7E-112B-41ED-B29C-DAD9E2E1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4332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4. 反向傳播用來提供權重調整方向嗎？（A 是　B 否）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DE9C0E-9740-4DFD-9403-452A8C45A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148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5. 學習率太大可能震盪嗎？（A 可能　B 不可能）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3415A4-503A-4361-B6C8-BAEB5A0E6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10858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CEDE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C42997-E80F-455D-88C8-D75ED222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答案：1-A　2-A　3-A　4-A　5-A</a:t>
            </a:r>
          </a:p>
        </p:txBody>
      </p:sp>
    </p:spTree>
    <p:extLst>
      <p:ext uri="{BB962C8B-B14F-4D97-AF65-F5344CB8AC3E}">
        <p14:creationId xmlns:p14="http://schemas.microsoft.com/office/powerpoint/2010/main" val="211492422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11D575-845A-4F12-94DA-209869922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3B78A0-9BD9-4E9D-A274-A7195E5C0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第三節｜評估與金融應用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DA1CF9-C3C4-45FD-9D39-9765D8B7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01/11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1FBD24-6CD3-4586-894C-20FA842A9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A0C34B-0F62-4464-AF48-FB4E8FE41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96CDC7-6911-45FD-85AF-F1BFD4EED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模型評估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CDB125-804D-4A4B-8069-1620A4B5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用未參與訓練的資料檢驗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43BE40-F2ED-48C6-901A-2718FEFF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A7B1C8-6CCC-4A83-8AA4-4DEBCE44E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主要風險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DCFCFE-F3EF-4FA4-95C4-D04A4B59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過度配適、資料偏誤與難以解釋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D5DFC8-366D-499D-A721-CD7F73D8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F11350-EB40-4BBE-B206-D10D2F64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金融要求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438C5D-21C8-4D77-875F-8EC71A72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效能之外還要考慮公平、法規與人工責任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BFAE7E-EBFF-4AE4-A87C-056CD4B55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81714002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BC91AD-3BCD-4B4D-AA0F-5FCD4281F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02E279-E58B-45D7-8056-36C43C881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訓練集、驗證集與測試集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3B1F70-435C-410A-A2F6-40558687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02/11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94E935-9672-49F0-ADAC-749B4F93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AB7D59-DD3D-4692-A81A-A63F3F22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ABD6EA-2675-420D-980B-B9D17684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訓練集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16E9C8-3912-4259-84FC-6B85C1693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調整模型權重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04D6E2-ADB0-4DF8-8226-B60DE0AF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1B9C3E-8129-4F45-AF29-BEDA0E342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驗證集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C8CEDB-C92A-481C-A0C7-84010708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選擇參數並決定何時停止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980903-553C-452F-A90B-61ACC47FC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0E55F5-E490-4469-A093-EAF31227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測試集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12FD76-CD53-4FB3-974C-219B310F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最後評估一次泛化表現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931823-5DCC-4DC6-B777-0DBA2AEB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91FE11-1F53-425C-9A0E-287C2DC99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資料原則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122441-6449-44E1-A6A1-46358A084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三者用途要分開，避免答案洩漏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3AFBCB-C3CB-4751-B78D-C00F833C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14580445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88F089-78E1-46E0-864A-C8F6780C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B959E2-D891-4DC2-8152-DE858F267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過度配適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01C37D-5712-4455-9146-8AA882DA6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03/11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5EF13E-4C10-4D4A-9D24-1A7CE57AB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8FE9EE-DAB6-4660-879D-03BC0E4C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F22B44-AB4B-4A13-9195-0DA8E90F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現象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DA2387-7CCB-4063-8290-D58059434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訓練表現很好，驗證或測試表現較差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5D3A32-D1EC-4639-B009-4184C6BB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4F624F-5ABE-48BB-B43F-9C75E4F66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可能原因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D74FB5-6F25-462F-AFBA-CF38B4FD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模型太複雜或訓練時間過長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5D911B-E2DA-4AD8-B716-103EB0EA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8970EF-0B5E-40C5-818D-A1BB068D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影響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EED06D-7374-4E80-8961-788907FF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記住歷史細節，面對新資料失準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597922-4AEE-40BB-A248-6AE99579D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6C7437-AD6A-4300-B34E-358D4EA7A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處理方向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69242D-0D1F-4A69-91DB-F5D32A55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提早停止、正則化或增加合適資料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15D040-62ED-4928-B3EE-F8C3716A3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59049598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E17436-7E50-43BA-9B29-300F548E1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EE4025-7209-42BC-958A-20DDC200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類神經與決策樹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0432FB-F7BF-483C-941E-EFB4842F6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04/11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21D30B-1A2C-41B4-B6D8-714C150D6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6DF51B-BB76-49CB-85C4-63615397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2A5273-9C5F-44BD-A04A-796E2CFC5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決策樹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0526BC-C643-46D6-A68C-DD238BD40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判斷路徑較直觀，容易說明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79CD26-5DF5-4014-AD48-5FBAD5C2D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732A8F-2809-4620-9554-DC080967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類神經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2B3181-4B4E-45F6-8327-F960F08D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能處理複雜模式，但內部較難解釋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AEE726-A9A2-4CEA-A008-D28DA770F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D861E9-3B45-4E9E-A9E9-5462FCCB6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選擇依據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DBA9E2-47E3-431C-B2D6-122A9D87E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資料型態、效能需求與解釋要求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A0B6A9-AA59-4F0F-976D-C5F2EA5E6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D6E6D8-4F4F-4CD2-8FBC-BDFCD96A3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實務原則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5C0FB4-080A-4E6F-8866-938C95F7B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不因模型較新就一定優先使用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E416AB-1690-420C-A716-F67EF69E4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75088190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9DB1C3-900E-4646-9580-99C3FE1A0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72F8C5-4C8E-417D-9A3A-5A0073FD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信用風險應用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5B0720-9F3D-4F67-8309-989634559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05/11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EC2373-74F5-48FA-80C4-12387FA7D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04F847-90F2-4D3D-8106-7AF40E5AE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9D7306-D8CF-437A-A01B-1614145F0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輸入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4C72C0-503F-429C-B9EC-F46C6344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財務資料、繳款紀錄與負債狀況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2EDC2C-BD15-4D25-8454-8D9409B86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5DCD6F-6A7C-4CC6-A2B0-032C146A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輸出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72AFC3-6C12-441C-8017-213CC9D03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逾期或違約的風險機率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8A2F57-B4A3-42C0-9425-87A4CD1C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23D8BB-6CBA-4798-A1A6-27171B43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可能價值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3CE893-6F98-4881-8273-E6BA1BF9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協助排序需要進一步審查的案件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8290B2-4CE2-4837-9E5E-8A08627E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A8CA16-AAF5-45F5-9717-06A0476AA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限制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DD084C-21B6-4B3A-A16B-4D75B793A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不得取代法規要求與人工覆核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909135-E803-4229-9A03-117278923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00722100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5E029D-28C5-454F-92F1-03D8A580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4E47F3-BD84-4866-9E56-84E37A95B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異常交易偵測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A33E64-2B9E-47F5-961F-97C48A34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06/11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9D9EE6-DFBB-4A1E-9C70-EA1542A8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6734BB-C8CA-43E3-A193-AD6E7350F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C61284-3704-4B98-B93A-5C15449C4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輸入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7A3C14-1378-4EF9-A7FB-F5322025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金額、時間、地點、裝置與行為序列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FE1E07-41BF-42FC-8D09-569EAF4A3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F651F6-6673-4D02-A41E-1EAAA9C51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輸出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B3D89B-8B24-4B73-825D-C5C320A2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異常分數或風險類別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C655B9-6B14-483B-B728-743EDB5F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188E90-DEE7-4F5A-830D-D1DE701F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優點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241C75-F92A-4A1B-B316-8EA52B45F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能整合多個交互影響的特徵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B6EC08-1354-497B-9CF0-29DE32BD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655775-9CF4-4ACE-871D-D5F06B95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挑戰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A4CD66-369A-47F7-BDD7-293CEA8B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詐欺型態改變會造成模型漂移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AA34B4-88F2-4513-A446-6E2E5EA8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6996162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BB6CDA-921A-45E3-97C0-F3C32D801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819AB9-8603-4EE2-8BD6-6BC73E4B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客戶服務應用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D593BC-3ED3-4398-AB2E-DFB940D4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07/11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F0F584-5F21-4992-B9C4-668E5C6EF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EE95A4-944F-4C0F-8BB4-9E9976720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247A3C-BBF6-443B-9DAB-422F1AE2C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輸入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4C090D-4675-488D-AF60-84B31102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通路使用、服務紀錄與互動資料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011FA8-DD55-4080-BEF6-04DE3540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D5D82E-92CE-4549-9239-997254E0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輸出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E4A94C-F2D3-4824-B757-B3E567DF5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流失風險或服務需求類別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8EA58B-7F4F-4CF3-B23C-141BCF80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41A87D-E9CE-4116-8E0A-A5DD6213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可能行動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502931-65A3-435B-BD68-2800AF5C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提供適當提醒或人工關懷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3C20C0-DDFF-4BF0-93AB-295BF35B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B098F8-DA6C-42F8-A440-70FB41604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注意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647E4C-5C03-462E-B332-23AAF33BF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模型預測不能直接代表客戶意圖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9D1E69-7D7A-4B85-B32A-7426915E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34116743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6CAA59-9582-4106-81C4-71A6E9A9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B93525-1942-497F-99CF-FA340A6FF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可解釋性與人工覆核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20678A-29EF-4F8D-8CC2-7FBBEFF3D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08/11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43D32B-7C09-4FC1-B6AC-474C1F436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5AFF14-23D1-4CF3-B364-38CF8D135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57B17F-83D8-47D8-9918-E9D4EEF7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個案說明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DDE4B6-E3D4-4074-87C4-6BAE0060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需要提供影響結果的主要資訊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5E8FD4-80D6-49CD-9C27-BBB0CAC4F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10140C-3C20-43D8-8048-A9675A09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高影響決策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D499F5-9504-4CC6-B87F-3D9D4091A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應由具權責人員再次確認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DD2A24-5701-4212-8BA5-C3E1024CB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634C8F-6171-4F9A-8B18-2CFB63D87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申訴機制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619EF7-B30C-4C5A-BB18-D1BBD842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受影響者需要可以詢問與更正資料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F6FB9F-819C-4CA4-B31D-A833A749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34EEB8-B978-4A09-8395-02837C9AE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紀錄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879388-2D2B-4E69-A11C-CB18B9F92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保留模型版本、輸入與最終決策理由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060899-2A25-474D-8383-F8A788ED8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38051151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B1FAE2-BA6A-49EF-A010-68E4B2426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18D86E-9248-4F04-919E-4D964F404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資料品質與公平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453394-41A5-4834-88B5-FAA1B2EC0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09/11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6CB40F-37B2-480C-84F7-4790745BB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AEA57E-BB99-42B1-A700-6920026BB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42B95E-C5A5-4688-B280-3BB51A87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代表性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9D5DAC-4E81-4D84-AA8F-28A9DED74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訓練資料要涵蓋實際使用族群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7B7DB6-C963-4937-8573-4896ACAED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05C00C-7ABE-40A0-94A3-E81499767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歷史偏誤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894CF4-61D9-47A0-8EBD-0D813CCBA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過去決策可能把不公平帶入模型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261FE8-B53F-47D8-B0B7-33F5478FA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5EA986-E2EE-4A08-BA83-5DC52A7EA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群體檢查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B9374B-F90A-4937-908F-B68D3B9F8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比較不同群體的錯誤率與結果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FF8221-6AE8-4693-89FF-0107F2729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44BD5E-C825-4B3E-BE2E-8E30695C2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持續管理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B93C5B-90EE-4D2F-A358-EA8A220E6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定期監測資料、效能與影響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A56AD8-A796-4C1F-BB3B-484E486E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43444264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F4D0D9-113D-4BAC-887F-F802E0DA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F3CF82-6084-46D8-8336-24DB9D62F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Week 14 全週小結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96EBF0-A7E3-451D-9745-8DA336724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10/11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AB9AF0-1239-4216-93CF-0402A72E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9C56BB-EC21-410A-9A01-6B13658D9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32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70AAEC-D44F-4FA6-9B70-5433D9C6A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神經元基礎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2DB57F-1364-4832-859E-C4AE3EFE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輸入、權重、偏差與激活函數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7BE170-AE9B-4735-A881-1C9ABC6D8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64D14E-DCE8-4DCA-B609-6F0466AD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網路訓練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01D4A7-EF99-4890-AC81-B3A85A5F5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前向計算、損失與反向調整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FE1F7F-47E3-487C-9332-3CE8CA1F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829FAF-0171-49A5-A668-1A9209924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模型評估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4DAD45-5C35-4A27-A88B-0E5E5B2BD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分開訓練、驗證與測試資料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CA2D53-B3AC-440F-B6C4-95AA9ECE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36E271-D319-40D6-A560-1701E8F30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金融應用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065F53-9877-4465-B4D5-A724F69A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兼顧效能、解釋、公平與人工責任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5ADB71-3A69-4BC9-8233-C48AB3F1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69438626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CFDA79-32BA-4FBD-96FF-B491D9C55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51BD34-53B1-4BD8-A1DB-C4FC1D42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本節搶答題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E3AF67-DD91-4EA0-BCFA-B8DC41F4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5 分鐘｜先作答，再核對答案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34B7EB-DD80-4944-9937-6B4A442B1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11/11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C73584-D1A4-4BB6-9468-EC9743FA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F40F9D-51B8-4937-988E-14048F7AC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80BCC1-1502-4647-884F-29E955FDE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287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1. 驗證集主要用來調整參數嗎？（A 是　B 否）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EC8BCE-26F8-4037-AD97-46F36A2EB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0027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2. 訓練好但測試差可能是？（A 過度配適　B 完美模型）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AC26CC-E089-489F-88CE-02C01866C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718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3. 類神經一定比決策樹適合嗎？（A 是　B 否）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E00837-2122-4417-96E8-AFFA4FA3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4332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4. 高影響金融決策是否要人工覆核？（A 要　B 不用）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E457AB-7C01-460B-BB4E-F3BF98B98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148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5. 模型上線後是否仍要監測？（A 要　B 不用）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1F8E8A-0BA1-4219-8594-7C5D3E5D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10858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E6D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DACBD1-5DB6-4D24-AF3E-5668B1F75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答案：1-A　2-A　3-B　4-A　5-A</a:t>
            </a:r>
          </a:p>
        </p:txBody>
      </p:sp>
    </p:spTree>
    <p:extLst>
      <p:ext uri="{BB962C8B-B14F-4D97-AF65-F5344CB8AC3E}">
        <p14:creationId xmlns:p14="http://schemas.microsoft.com/office/powerpoint/2010/main" val="21175915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2026-09-04T11:14:03.2430000Z</dcterms:created>
  <dcterms:modified xsi:type="dcterms:W3CDTF">2026-09-04T11:14:03.2430000Z</dcterms:modified>
</coreProperties>
</file>