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教學提示：先回顧 Week 02 的應用流程。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教學提示：先講用途，再講技術名稱。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教學提示：請學生各舉一個金融資料例子。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教學提示：使用交易表與客戶表說明。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教學提示：只建立概念，不教格式語法。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教學提示：預告 W15 文字探勘。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教學提示：用月結報表與詐欺偵測比較。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教學提示：提醒同一來源可以支援多個用途。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教學提示：請學生指出哪些步驟需要即時完成。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教學提示：用一分鐘重述資料旅程。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教學提示：先讓學生作答，再核對答案。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教學提示：先建立四種用途，不要求背產品名稱。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教學提示：連結學生使用網銀時的即時交易。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教學提示：避免把資料倉儲說成單純的大型資料庫。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教學提示：來源對應舊教材資料倉儲四特性。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教學提示：比較全企業資料倉儲與部門資料市集。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教學提示：資料湖為新版補充，不深入產品架構。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教學提示：以用途比較，避免絕對化。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教學提示：只講流程差異，不比較特定產品。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教學提示：以定義不一致說明整合難點。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教學提示：請學生用一句話區分資料庫與資料倉儲。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教學提示：先讓學生作答，再核對答案。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教學提示：用合作完成大量工作作為比喻。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教學提示：不講節點配置或程式細節。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教學提示：依舊教材第 102–109 頁更新定位。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教學提示：副本數不固定背誦，重點是容錯概念。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教學提示：用分店交易統計取代程式語法。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教學提示：避免把雲端說成完全外包責任。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教學提示：再次連回第一節的時限概念。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教學提示：預告 W04 與後續分析方法。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教學提示：舊教材第 121–123 頁與 W05 視覺化內容濃縮。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教學提示：預告 W04 大數據核心技術與方法選擇。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來源：舊教材 PDF A 第 87–123 頁；必要處依新版重組規劃補充。</a:t>
            </a:r>
          </a:p>
          <a:p>
            <a:r>
              <a:t>教學提示：先讓學生作答，再核對答案。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31C489C0-30A3-41AC-980F-D3251D0DD3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E9F224F-271B-4EF8-8710-64CC1C629902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Week 03｜大數據的技術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770BB5B-80BE-420B-B5F0-389FC8151A00}"/>
              </a:ext>
            </a:extLst>
          </p:cNvPr>
          <p:cNvSpPr>
            <a:spLocks noGrp="1"/>
          </p:cNvSpPr>
          <p:nvPr/>
        </p:nvSpPr>
        <p:spPr>
          <a:xfrm>
            <a:off x="685800" y="1005876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三節路線：技術全貌、儲存整合、處理與呈現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F4FDAC-2697-4B66-9216-DC5B036D783E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01/11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A3063A-03E9-42B0-A76F-F025B2620E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0B76FC-E747-4144-A752-F75D1DE1FA98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9CB01B-AADC-49B9-9B42-840441719AF8}"/>
              </a:ext>
            </a:extLst>
          </p:cNvPr>
          <p:cNvSpPr>
            <a:spLocks noGrp="1"/>
          </p:cNvSpPr>
          <p:nvPr/>
        </p:nvSpPr>
        <p:spPr>
          <a:xfrm>
            <a:off x="904875" y="18097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4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4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技術的工作，是讓資料可靠地走到決策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E0BBB0-CF04-42A5-AA3E-D5364F0BCB50}"/>
              </a:ext>
            </a:extLst>
          </p:cNvPr>
          <p:cNvSpPr>
            <a:spLocks noGrp="1"/>
          </p:cNvSpPr>
          <p:nvPr/>
        </p:nvSpPr>
        <p:spPr>
          <a:xfrm>
            <a:off x="1143000" y="3333750"/>
            <a:ext cx="2857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A26444-C9D1-43A3-82DF-0E43B0795626}"/>
              </a:ext>
            </a:extLst>
          </p:cNvPr>
          <p:cNvSpPr>
            <a:spLocks noGrp="1"/>
          </p:cNvSpPr>
          <p:nvPr/>
        </p:nvSpPr>
        <p:spPr>
          <a:xfrm>
            <a:off x="1143000" y="3857625"/>
            <a:ext cx="285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資料與技術全貌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B61976-65A5-4D89-8969-7CE46DD92A59}"/>
              </a:ext>
            </a:extLst>
          </p:cNvPr>
          <p:cNvSpPr>
            <a:spLocks noGrp="1"/>
          </p:cNvSpPr>
          <p:nvPr/>
        </p:nvSpPr>
        <p:spPr>
          <a:xfrm>
            <a:off x="4667250" y="3333750"/>
            <a:ext cx="2857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第二節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8603508-799B-44BB-A830-5A8902EA6883}"/>
              </a:ext>
            </a:extLst>
          </p:cNvPr>
          <p:cNvSpPr>
            <a:spLocks noGrp="1"/>
          </p:cNvSpPr>
          <p:nvPr/>
        </p:nvSpPr>
        <p:spPr>
          <a:xfrm>
            <a:off x="4667250" y="3857625"/>
            <a:ext cx="285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儲存與整合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FFC4FC-D6E8-488A-9B17-7496A19F97C9}"/>
              </a:ext>
            </a:extLst>
          </p:cNvPr>
          <p:cNvSpPr>
            <a:spLocks noGrp="1"/>
          </p:cNvSpPr>
          <p:nvPr/>
        </p:nvSpPr>
        <p:spPr>
          <a:xfrm>
            <a:off x="8191500" y="3333750"/>
            <a:ext cx="2857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第三節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266D553-7EF6-4E57-8CCA-92E81B754813}"/>
              </a:ext>
            </a:extLst>
          </p:cNvPr>
          <p:cNvSpPr>
            <a:spLocks noGrp="1"/>
          </p:cNvSpPr>
          <p:nvPr/>
        </p:nvSpPr>
        <p:spPr>
          <a:xfrm>
            <a:off x="8191500" y="3857625"/>
            <a:ext cx="285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處理、分析與呈現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955BEC8-E1D6-4C4A-ACDE-ACF96315DDBB}"/>
              </a:ext>
            </a:extLst>
          </p:cNvPr>
          <p:cNvSpPr>
            <a:spLocks noGrp="1"/>
          </p:cNvSpPr>
          <p:nvPr/>
        </p:nvSpPr>
        <p:spPr>
          <a:xfrm>
            <a:off x="1857375" y="5429250"/>
            <a:ext cx="8477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本週不寫程式，重點是看懂資料在系統中的旅程</a:t>
            </a:r>
          </a:p>
        </p:txBody>
      </p:sp>
    </p:spTree>
    <p:extLst>
      <p:ext uri="{BB962C8B-B14F-4D97-AF65-F5344CB8AC3E}">
        <p14:creationId xmlns:p14="http://schemas.microsoft.com/office/powerpoint/2010/main" val="1067047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4749ED8B-B34A-4B5F-A846-7A2A081CD9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D735A59-9B5C-42B8-B99B-7ED0D7F745E2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從業務問題到技術流程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36BD442-7A4D-42E7-B5E3-48883A834A2F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02/11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E9138C2-2B44-4793-B9CD-DB09CA26F75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4112C0A-99F8-4F44-A1DE-BC81F500491D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FCBBBE9-B768-4F99-8797-A32EAB99217C}"/>
              </a:ext>
            </a:extLst>
          </p:cNvPr>
          <p:cNvSpPr>
            <a:spLocks noGrp="1"/>
          </p:cNvSpPr>
          <p:nvPr/>
        </p:nvSpPr>
        <p:spPr>
          <a:xfrm>
            <a:off x="809625" y="1762125"/>
            <a:ext cx="194691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6EA3F4-EFCC-407C-A254-B26EBF50D5F3}"/>
              </a:ext>
            </a:extLst>
          </p:cNvPr>
          <p:cNvSpPr>
            <a:spLocks noGrp="1"/>
          </p:cNvSpPr>
          <p:nvPr/>
        </p:nvSpPr>
        <p:spPr>
          <a:xfrm>
            <a:off x="809625" y="2286000"/>
            <a:ext cx="194691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來源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9F8656-0122-4A71-95F5-3A28FF37980E}"/>
              </a:ext>
            </a:extLst>
          </p:cNvPr>
          <p:cNvSpPr>
            <a:spLocks noGrp="1"/>
          </p:cNvSpPr>
          <p:nvPr/>
        </p:nvSpPr>
        <p:spPr>
          <a:xfrm>
            <a:off x="981075" y="3048000"/>
            <a:ext cx="160401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7B4C15A-45BC-4978-AC67-EFBD109323FE}"/>
              </a:ext>
            </a:extLst>
          </p:cNvPr>
          <p:cNvSpPr>
            <a:spLocks noGrp="1"/>
          </p:cNvSpPr>
          <p:nvPr/>
        </p:nvSpPr>
        <p:spPr>
          <a:xfrm>
            <a:off x="857250" y="3286125"/>
            <a:ext cx="185166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交易與客服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9E5551-4A5E-45A1-934D-7A74BDB0BEF9}"/>
              </a:ext>
            </a:extLst>
          </p:cNvPr>
          <p:cNvSpPr>
            <a:spLocks noGrp="1"/>
          </p:cNvSpPr>
          <p:nvPr/>
        </p:nvSpPr>
        <p:spPr>
          <a:xfrm>
            <a:off x="2966085" y="1762125"/>
            <a:ext cx="194691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CB74A77-48E3-463B-A561-9735812000A1}"/>
              </a:ext>
            </a:extLst>
          </p:cNvPr>
          <p:cNvSpPr>
            <a:spLocks noGrp="1"/>
          </p:cNvSpPr>
          <p:nvPr/>
        </p:nvSpPr>
        <p:spPr>
          <a:xfrm>
            <a:off x="2966085" y="2286000"/>
            <a:ext cx="194691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整合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30836F5-A650-47A8-AA9F-67E263E397C3}"/>
              </a:ext>
            </a:extLst>
          </p:cNvPr>
          <p:cNvSpPr>
            <a:spLocks noGrp="1"/>
          </p:cNvSpPr>
          <p:nvPr/>
        </p:nvSpPr>
        <p:spPr>
          <a:xfrm>
            <a:off x="3137535" y="3048000"/>
            <a:ext cx="160401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2039311-8B2A-4316-8A21-E85430900C9C}"/>
              </a:ext>
            </a:extLst>
          </p:cNvPr>
          <p:cNvSpPr>
            <a:spLocks noGrp="1"/>
          </p:cNvSpPr>
          <p:nvPr/>
        </p:nvSpPr>
        <p:spPr>
          <a:xfrm>
            <a:off x="3013710" y="3286125"/>
            <a:ext cx="185166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清理並接系統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CE499B-BC17-4505-857C-5177C0A87A02}"/>
              </a:ext>
            </a:extLst>
          </p:cNvPr>
          <p:cNvSpPr>
            <a:spLocks noGrp="1"/>
          </p:cNvSpPr>
          <p:nvPr/>
        </p:nvSpPr>
        <p:spPr>
          <a:xfrm>
            <a:off x="5122545" y="1762125"/>
            <a:ext cx="194691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A2157B-D0CB-412C-B8A3-3571887C0FC5}"/>
              </a:ext>
            </a:extLst>
          </p:cNvPr>
          <p:cNvSpPr>
            <a:spLocks noGrp="1"/>
          </p:cNvSpPr>
          <p:nvPr/>
        </p:nvSpPr>
        <p:spPr>
          <a:xfrm>
            <a:off x="5122545" y="2286000"/>
            <a:ext cx="194691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儲存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B69AF6A-AEA6-4310-97CA-B665BE972783}"/>
              </a:ext>
            </a:extLst>
          </p:cNvPr>
          <p:cNvSpPr>
            <a:spLocks noGrp="1"/>
          </p:cNvSpPr>
          <p:nvPr/>
        </p:nvSpPr>
        <p:spPr>
          <a:xfrm>
            <a:off x="5293995" y="3048000"/>
            <a:ext cx="160401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57AC47F-19C6-498F-A29E-4A687871AD12}"/>
              </a:ext>
            </a:extLst>
          </p:cNvPr>
          <p:cNvSpPr>
            <a:spLocks noGrp="1"/>
          </p:cNvSpPr>
          <p:nvPr/>
        </p:nvSpPr>
        <p:spPr>
          <a:xfrm>
            <a:off x="5170170" y="3286125"/>
            <a:ext cx="185166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資料與歷史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1A82B0D-2AAE-4044-A444-055186614E7C}"/>
              </a:ext>
            </a:extLst>
          </p:cNvPr>
          <p:cNvSpPr>
            <a:spLocks noGrp="1"/>
          </p:cNvSpPr>
          <p:nvPr/>
        </p:nvSpPr>
        <p:spPr>
          <a:xfrm>
            <a:off x="7279005" y="1762125"/>
            <a:ext cx="194691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04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5714911-4FB0-4F02-A50A-E4DD899FDE8F}"/>
              </a:ext>
            </a:extLst>
          </p:cNvPr>
          <p:cNvSpPr>
            <a:spLocks noGrp="1"/>
          </p:cNvSpPr>
          <p:nvPr/>
        </p:nvSpPr>
        <p:spPr>
          <a:xfrm>
            <a:off x="7279005" y="2286000"/>
            <a:ext cx="194691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處理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B843DD4-65AF-43BA-8482-9B7627517796}"/>
              </a:ext>
            </a:extLst>
          </p:cNvPr>
          <p:cNvSpPr>
            <a:spLocks noGrp="1"/>
          </p:cNvSpPr>
          <p:nvPr/>
        </p:nvSpPr>
        <p:spPr>
          <a:xfrm>
            <a:off x="7450455" y="3048000"/>
            <a:ext cx="160401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4CA7CFA-B6F5-4474-8976-5581B2A9EE65}"/>
              </a:ext>
            </a:extLst>
          </p:cNvPr>
          <p:cNvSpPr>
            <a:spLocks noGrp="1"/>
          </p:cNvSpPr>
          <p:nvPr/>
        </p:nvSpPr>
        <p:spPr>
          <a:xfrm>
            <a:off x="7326630" y="3286125"/>
            <a:ext cx="185166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依時限完成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2FBDE1A-CF27-4C7F-8A60-1F3067A65F97}"/>
              </a:ext>
            </a:extLst>
          </p:cNvPr>
          <p:cNvSpPr>
            <a:spLocks noGrp="1"/>
          </p:cNvSpPr>
          <p:nvPr/>
        </p:nvSpPr>
        <p:spPr>
          <a:xfrm>
            <a:off x="9435465" y="1762125"/>
            <a:ext cx="194691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05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7561046-1F81-4ACB-9572-C72441620DF3}"/>
              </a:ext>
            </a:extLst>
          </p:cNvPr>
          <p:cNvSpPr>
            <a:spLocks noGrp="1"/>
          </p:cNvSpPr>
          <p:nvPr/>
        </p:nvSpPr>
        <p:spPr>
          <a:xfrm>
            <a:off x="9435465" y="2286000"/>
            <a:ext cx="194691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使用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B7E758B-7DDF-480B-A4E4-C2888A5B06CF}"/>
              </a:ext>
            </a:extLst>
          </p:cNvPr>
          <p:cNvSpPr>
            <a:spLocks noGrp="1"/>
          </p:cNvSpPr>
          <p:nvPr/>
        </p:nvSpPr>
        <p:spPr>
          <a:xfrm>
            <a:off x="9606915" y="3048000"/>
            <a:ext cx="160401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3DEB489-9C5E-4DF9-BA75-5F7CBBD81253}"/>
              </a:ext>
            </a:extLst>
          </p:cNvPr>
          <p:cNvSpPr>
            <a:spLocks noGrp="1"/>
          </p:cNvSpPr>
          <p:nvPr/>
        </p:nvSpPr>
        <p:spPr>
          <a:xfrm>
            <a:off x="9483090" y="3286125"/>
            <a:ext cx="185166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分析與決策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A1F693F-D16F-42FC-B791-B517B998AFF2}"/>
              </a:ext>
            </a:extLst>
          </p:cNvPr>
          <p:cNvSpPr>
            <a:spLocks noGrp="1"/>
          </p:cNvSpPr>
          <p:nvPr/>
        </p:nvSpPr>
        <p:spPr>
          <a:xfrm>
            <a:off x="2619375" y="528637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技術選擇必須配合問題、資料與時限</a:t>
            </a:r>
          </a:p>
        </p:txBody>
      </p:sp>
    </p:spTree>
    <p:extLst>
      <p:ext uri="{BB962C8B-B14F-4D97-AF65-F5344CB8AC3E}">
        <p14:creationId xmlns:p14="http://schemas.microsoft.com/office/powerpoint/2010/main" val="2065181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386A1F40-97D4-4897-8629-71BE896EFF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6401CC-97C0-4BAB-8ABB-EF094DA4644E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三種常見資料型態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34FFFF-15FC-4783-8649-E59C3F8C8E6E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03/11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24F9906-D333-4CD2-A4F2-6084C08EE8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FDB0380-9D5C-415C-9066-98E46E9BEDC4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CD3362-BD0C-4047-8FB9-B29C44C5F71C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結構化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10638C3-30E4-43FF-AA65-051274BD78C8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欄列固定，例如交易表與客戶資料表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7419A3-31E1-4F8A-B988-F665764ABF9C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0AD8395-F877-4FCF-A70D-35A102B74C41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半結構化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EF9B505-3D21-4B8E-B9E3-9FFD13FABC0F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有標記但結構可變，例如 JSON 與系統紀錄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802F529-5833-432D-925E-795B4A28976F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C73ADE-D294-43FA-9F5B-58770EC86576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非結構化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F7858A6-437D-4B5D-AAE6-7D4DC0DF1824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沒有固定欄列，例如客服文字、語音與影像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33EDAC-115A-47A9-8219-F01A6375B2D4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BA579A-CAD3-46AD-9E09-02D4E2FC5160}"/>
              </a:ext>
            </a:extLst>
          </p:cNvPr>
          <p:cNvSpPr>
            <a:spLocks noGrp="1"/>
          </p:cNvSpPr>
          <p:nvPr/>
        </p:nvSpPr>
        <p:spPr>
          <a:xfrm>
            <a:off x="2714625" y="5286375"/>
            <a:ext cx="6762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資料型態會影響儲存、搜尋與分析方式</a:t>
            </a:r>
          </a:p>
        </p:txBody>
      </p:sp>
    </p:spTree>
    <p:extLst>
      <p:ext uri="{BB962C8B-B14F-4D97-AF65-F5344CB8AC3E}">
        <p14:creationId xmlns:p14="http://schemas.microsoft.com/office/powerpoint/2010/main" val="358030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EFE17BC-BEAC-4FB5-A178-1DF78050D8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570646-D8FB-452D-A9A0-CDFCABE3C370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結構化資料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8FBBD37-3A8C-4687-AA23-69EF69740222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04/11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4CA54AE-AC33-4FBE-A086-8756BB87E2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9FCE42-C9BD-4D8B-9CA6-C0682D6792E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FACD80-1EE3-47A2-93C6-D130C1A8F9B2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優點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5E48A5-6EF2-46E8-B68B-F5B729CDAE57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EE799C-1EBE-4C12-BF97-94CC3D5CC3D6}"/>
              </a:ext>
            </a:extLst>
          </p:cNvPr>
          <p:cNvSpPr>
            <a:spLocks noGrp="1"/>
          </p:cNvSpPr>
          <p:nvPr/>
        </p:nvSpPr>
        <p:spPr>
          <a:xfrm>
            <a:off x="6000750" y="1619250"/>
            <a:ext cx="19050" cy="38576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AEC203-B141-4806-A811-9E8564A68F80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762500" cy="3048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欄位清楚，容易查詢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適合彙總、比較與報表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品質規則較容易建立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8FF6402-332F-42E4-95E1-73CECA79E1BA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762500" cy="3048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不同系統欄位定義不一致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代碼或日期格式不同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資料表之間缺少共同識別</a:t>
            </a:r>
          </a:p>
        </p:txBody>
      </p:sp>
    </p:spTree>
    <p:extLst>
      <p:ext uri="{BB962C8B-B14F-4D97-AF65-F5344CB8AC3E}">
        <p14:creationId xmlns:p14="http://schemas.microsoft.com/office/powerpoint/2010/main" val="852965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7CA666B-2329-4B83-99C2-70ABE91CCA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BDD942-F8B0-4F46-82A8-7DF6A6A263DB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半結構化資料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50F2D7-8682-4ABE-8F60-4F0B69132D90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05/11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179EF0-0482-467E-BAB8-989591C0A4C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1E12AA-2D57-42A2-A952-344621638D5D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78090E-C5E1-430C-8B73-0DC71F8AE368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常見形式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CCB6CE-033E-4895-B448-A88B53C2A16A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JSON、XML、事件紀錄與 API 回應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45946F-DC94-4D2A-AE41-45F858EFBC23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E23BB0-8E7D-42FA-8F41-DB7F46F3CC8E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結構特色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5134F5D-830B-445A-993B-2A08D9B080B3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保留欄位標記，但每筆內容可能不同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FE0E768-C6B8-4AD1-BA64-FC8B28EEF345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CE1133-70BB-41BA-9C2E-74E60B3FC7BB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金融例子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C6C087-2E13-4675-8B0E-6ECB24074D4A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App 操作事件、系統登入紀錄與服務訊息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A0C64E5-5169-4593-AB5D-E4869EF1C703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FB17EE9-0611-45CB-B949-21E83870CEF0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處理重點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89F991B-C0F6-47C3-BBE8-1980624934C8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解析欄位、統一時間與確認版本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3BDA6BE-E73A-4445-B93D-E81DF3D1C246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719056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B2D02354-289F-466C-A2FC-A9815BEA1F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020EE87-8773-4F6A-AA50-034CB3D9B20A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非結構化資料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F3BFA3-2BAD-4D7B-A45D-3C6BC51690FB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06/11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A60A88-3A54-4622-AD72-C05D63274B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7146C5B-240A-4C94-B1DE-2F3CA5B89F50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25EF81-61C6-41A1-8221-209994D012C2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常見形式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668648-CC0E-4297-82D5-2A7A241B9CC3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文字、文件、錄音、影像與影片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3DC07E-CAF9-4E6C-BCE5-BB0D459785FB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6072DB7-FD5D-4E42-9C55-F5939C61BCC2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金融例子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E52DB1-8B3E-43AB-A537-AB44B6298A58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客服對話、申訴文件、新聞與法說內容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8672F4A-D93F-4D2E-B7E9-636D3A97932F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087CF5-4C5A-4573-A4E6-048B307FD53B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分析難點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0EBA791-4DA0-4A54-904B-8DFD14A72750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內容需要轉換，語意也容易受情境影響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90B3B0-B071-4601-AC82-E9995D0510F5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129B5F1-565E-4E6D-8149-21189FA6239D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使用要求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98E47D-2F45-4F11-80C7-325E35D6F57F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先確認目的、權限、隱私與品質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14C232D-3EF3-4C84-896E-0AA0B7245C2F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535666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9446C5A-96EB-45FF-BB51-DEF7D5F3C5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D0F669E-E19E-4ACF-BA0C-B2D39C1BBB0E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批次與即時處理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BF18CE-7BB5-4D2C-8260-2CE330D61920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07/11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7768510-FA6C-42E8-813D-5F354A8DF87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10ED8E-0C23-40EC-B0E3-6B57A46CC02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4E5BF0A-F295-4F52-838F-1A992C2A40C3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批次 Batch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97124C-4AE2-4FC3-843A-FAF2C91EB752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即時 Streaming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7EDFB46-150C-409A-B76D-A3FA7FD02161}"/>
              </a:ext>
            </a:extLst>
          </p:cNvPr>
          <p:cNvSpPr>
            <a:spLocks noGrp="1"/>
          </p:cNvSpPr>
          <p:nvPr/>
        </p:nvSpPr>
        <p:spPr>
          <a:xfrm>
            <a:off x="6000750" y="1619250"/>
            <a:ext cx="19050" cy="38576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3B28C-8364-4438-94C5-CA7A3C5B109A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762500" cy="3048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累積一段時間後集中處理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適合日報、月報與歷史分析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可在非尖峰時間執行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42F19-DA37-4EF9-B4DF-6496DA5F78BB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762500" cy="3048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事件到達後快速處理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適合交易監測與即時提醒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更重視穩定性與反應時間</a:t>
            </a:r>
          </a:p>
        </p:txBody>
      </p:sp>
    </p:spTree>
    <p:extLst>
      <p:ext uri="{BB962C8B-B14F-4D97-AF65-F5344CB8AC3E}">
        <p14:creationId xmlns:p14="http://schemas.microsoft.com/office/powerpoint/2010/main" val="120097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FB20ACF3-9B6F-4BB7-B6D6-6DF488B553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5D7963-7A93-40A1-A661-14FEDCF96AAF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資料來源與用途的配對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1A389E-FB8D-4357-8159-06522EB1CF07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08/11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4AF6BD-0C4C-4B65-A67F-94151FB1FE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99DD62-B494-414B-AFBB-FB026B7A3736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CEA2A10-518C-48F2-8D64-735C16B40DC5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交易資料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663E3D-1397-4A85-930B-4C9BC9E8CA4F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報表、關聯分析、異常交易監測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8B8BD6-29AE-4A4A-B336-F08F8BDEDC6D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3660EF-3F95-4C45-B79B-76EC688BFA79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客戶資料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3907A8-2175-41E9-9656-D0A9F167A97E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服務分析、客戶分群與風險判斷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3D5925-499F-4629-979E-01D03BB8CCEA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6629084-4FBE-458B-BCDA-BB046230FD75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系統紀錄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7282347-5399-47B1-9F2A-8CFCE33C0E03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資安監測、效能與操作流程改善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D274F3-ED2E-4C0A-BEE5-4398DD64998E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B63BE0C-5784-4935-A333-21941AB62A00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文字資料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B4EAC6A-FB22-4174-901D-046DC41B4B87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客服議題、新聞與研究內容分析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119C1F8-E8F1-4B67-BB9F-69009B7B0FBC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054920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DD889F4-8A91-4DBE-A286-500606ED95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F0A8AA7-C4E4-4CA7-A7A3-46358E3F8D35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銀行案例｜信用卡交易的資料旅程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004508A-4E74-437A-8990-0A7FC15812B3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09/11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E6FDCB-7701-483C-8955-35C7DC14773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4EDE47-57C4-45EE-9A42-646A2850F705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9E808E1-B3F6-413B-A1AE-F23C6C454DA2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產生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4BD0130-D73A-4EE2-81C7-1051D164A60F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刷卡系統收到金額、商店、時間與裝置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E67ECD-4608-4FA2-B191-3B71F5C8B6DC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DE7141-BB92-42F1-A94D-EB213CF34D50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整合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2C7F75A-EC56-4D2A-8207-813F9B2B2D9F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接上帳戶狀態與歷史交易模式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D8F2888-5932-47AA-8A5A-8AA49E9100A4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72AD1A-19BD-48E7-8504-41820A1D5EA9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處理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354DD7C-7EED-41B9-9665-9127C0F73DDC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即時計算風險，必要時要求再次驗證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ACD160-2286-477E-A1C3-3D45F045FB49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D9D6900-DBE2-47E6-9D25-1F1E190DD8E6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保存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739F7CD-E08E-47C2-9AD6-1D5C788A900E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留下交易與處置紀錄，供後續分析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27CB99-7436-42A1-B18A-50E4E708D7FB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917C5C7-5FA4-4762-9C9C-C72FDDD9B563}"/>
              </a:ext>
            </a:extLst>
          </p:cNvPr>
          <p:cNvSpPr>
            <a:spLocks noGrp="1"/>
          </p:cNvSpPr>
          <p:nvPr/>
        </p:nvSpPr>
        <p:spPr>
          <a:xfrm>
            <a:off x="2333625" y="5476875"/>
            <a:ext cx="7524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即時判斷與歷史分析會使用不同處理節奏</a:t>
            </a:r>
          </a:p>
        </p:txBody>
      </p:sp>
    </p:spTree>
    <p:extLst>
      <p:ext uri="{BB962C8B-B14F-4D97-AF65-F5344CB8AC3E}">
        <p14:creationId xmlns:p14="http://schemas.microsoft.com/office/powerpoint/2010/main" val="1214541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BB7C446-0C06-42BF-8793-7AA0FDCF58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E6D9B7-899F-4E2B-91B2-68DF1E4214EF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第一節小結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C0B9A2-548B-4B49-A55F-3963B6FB1893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10/11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78D5E2-B7CE-4175-8F09-BCEE73DCD8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E96F22-D7C7-4129-92B1-155A4E07FBA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F1565C1-B13D-40E0-B2A0-5F7B5BB91AF5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型態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C76D53-94C9-49AB-A955-29C771D581A4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結構化、半結構化與非結構化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51CAC4D-2D42-400B-9E6B-4849E8914ABD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BD7CE1-AB87-402C-AFC5-83587402CADC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來源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DA6EC7-C077-4588-81EF-A23AE178BF3E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交易、客戶、系統與外部資訊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67B7277-D284-46F8-9FCF-6E949F0C8C06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06A70C9-5F22-4345-B7AD-EA63C986E875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速度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924096E-5281-4B09-87A1-ABA153E4549D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批次處理與即時處理各有用途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A14E22-3DCB-4A26-81A2-2293CC350A55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C62A5AB-17BC-4C94-AB26-6D3DA342FC9E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選擇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759E98-CEF8-4DE0-982C-CD7A70DAB9CE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技術必須配合問題、資料型態與時限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EF7403D-BC6D-4F0A-84DC-B69EA38F23DE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834857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1C68CF3-58C5-496D-A5A0-945B1284A8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6E9F72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2FBBC5-DAFC-48C2-8F56-CC49D59FA63F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本節搶答題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E9DF2E-452D-4A05-A27E-7893D506EE16}"/>
              </a:ext>
            </a:extLst>
          </p:cNvPr>
          <p:cNvSpPr>
            <a:spLocks noGrp="1"/>
          </p:cNvSpPr>
          <p:nvPr/>
        </p:nvSpPr>
        <p:spPr>
          <a:xfrm>
            <a:off x="685800" y="1000125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5 分鐘｜先作答，再核對答案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4509CBA-AC06-4880-9A8F-7E94E6C0A139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第一節  11/11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EFDA81-515C-47FB-A1D2-8F5625A846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C7C63E-B057-49EC-B6F6-C79871E6524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C4F910-0828-42E0-91BF-C8E034306C8B}"/>
              </a:ext>
            </a:extLst>
          </p:cNvPr>
          <p:cNvSpPr>
            <a:spLocks noGrp="1"/>
          </p:cNvSpPr>
          <p:nvPr/>
        </p:nvSpPr>
        <p:spPr>
          <a:xfrm>
            <a:off x="809625" y="142875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1. 交易資料表通常屬於哪一類？（A 結構化　B 非結構化）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98E8BEA-AE81-49F5-AB05-33B6B9944D5E}"/>
              </a:ext>
            </a:extLst>
          </p:cNvPr>
          <p:cNvSpPr>
            <a:spLocks noGrp="1"/>
          </p:cNvSpPr>
          <p:nvPr/>
        </p:nvSpPr>
        <p:spPr>
          <a:xfrm>
            <a:off x="809625" y="2200275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2. 客服錄音通常屬於哪一類？（A 半結構化　B 非結構化）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B9E125-0973-4E13-8655-5D3BC6B0AC4C}"/>
              </a:ext>
            </a:extLst>
          </p:cNvPr>
          <p:cNvSpPr>
            <a:spLocks noGrp="1"/>
          </p:cNvSpPr>
          <p:nvPr/>
        </p:nvSpPr>
        <p:spPr>
          <a:xfrm>
            <a:off x="809625" y="297180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3. JSON 較接近哪一類？（A 半結構化　B 紙本資料）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AC8F4BE-12E5-47EB-9A03-051CFBE8D426}"/>
              </a:ext>
            </a:extLst>
          </p:cNvPr>
          <p:cNvSpPr>
            <a:spLocks noGrp="1"/>
          </p:cNvSpPr>
          <p:nvPr/>
        </p:nvSpPr>
        <p:spPr>
          <a:xfrm>
            <a:off x="809625" y="3743325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4. 月底報表較適合哪種處理？（A 批次　B 即時）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158FD7-5D81-442A-B88C-20AD5DDD1CA5}"/>
              </a:ext>
            </a:extLst>
          </p:cNvPr>
          <p:cNvSpPr>
            <a:spLocks noGrp="1"/>
          </p:cNvSpPr>
          <p:nvPr/>
        </p:nvSpPr>
        <p:spPr>
          <a:xfrm>
            <a:off x="809625" y="451485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5. 詐欺交易當下判斷較重視什麼？（A 反應時間　B 投影片數）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F69CCF1-7307-4EDB-98E8-2671312DD400}"/>
              </a:ext>
            </a:extLst>
          </p:cNvPr>
          <p:cNvSpPr>
            <a:spLocks noGrp="1"/>
          </p:cNvSpPr>
          <p:nvPr/>
        </p:nvSpPr>
        <p:spPr>
          <a:xfrm>
            <a:off x="666750" y="5467350"/>
            <a:ext cx="10858500" cy="685800"/>
          </a:xfrm>
          <a:prstGeom prst="roundRect">
            <a:avLst>
              <a:gd name="adj" fmla="val 11111"/>
            </a:avLst>
          </a:prstGeom>
          <a:solidFill>
            <a:srgbClr val="DCEBDD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C22EA27-B9BF-42D0-B953-8E118FB5D3E5}"/>
              </a:ext>
            </a:extLst>
          </p:cNvPr>
          <p:cNvSpPr>
            <a:spLocks noGrp="1"/>
          </p:cNvSpPr>
          <p:nvPr/>
        </p:nvSpPr>
        <p:spPr>
          <a:xfrm>
            <a:off x="857250" y="556260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答案：1-A　2-B　3-A　4-A　5-A</a:t>
            </a:r>
          </a:p>
        </p:txBody>
      </p:sp>
    </p:spTree>
    <p:extLst>
      <p:ext uri="{BB962C8B-B14F-4D97-AF65-F5344CB8AC3E}">
        <p14:creationId xmlns:p14="http://schemas.microsoft.com/office/powerpoint/2010/main" val="51538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2A60CAB-C76D-48B3-A5EE-349060B209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F3855E5-3EAE-4E2F-A791-96EF31B87FAE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第二節｜資料儲存與整合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37895A-50B9-4A0B-AB02-08EC373CE3CF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01/11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030E71-6553-4154-8C9C-4FCD32F25DD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650865A-897C-4F3D-8D85-6D3A872B043E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5C1C6C0-976B-4BFD-B932-933BE3550A24}"/>
              </a:ext>
            </a:extLst>
          </p:cNvPr>
          <p:cNvSpPr>
            <a:spLocks noGrp="1"/>
          </p:cNvSpPr>
          <p:nvPr/>
        </p:nvSpPr>
        <p:spPr>
          <a:xfrm>
            <a:off x="952500" y="1905000"/>
            <a:ext cx="10287000" cy="809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22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22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不同資料放在哪裡，取決於用途與管理方式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E4F172-E0F9-42E7-A4A1-2FA4C679C4CD}"/>
              </a:ext>
            </a:extLst>
          </p:cNvPr>
          <p:cNvSpPr>
            <a:spLocks noGrp="1"/>
          </p:cNvSpPr>
          <p:nvPr/>
        </p:nvSpPr>
        <p:spPr>
          <a:xfrm>
            <a:off x="523875" y="3524250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02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作業資料庫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5B5578-AEA8-4E31-8F26-EF36B2A779A4}"/>
              </a:ext>
            </a:extLst>
          </p:cNvPr>
          <p:cNvSpPr>
            <a:spLocks noGrp="1"/>
          </p:cNvSpPr>
          <p:nvPr/>
        </p:nvSpPr>
        <p:spPr>
          <a:xfrm>
            <a:off x="523875" y="4048125"/>
            <a:ext cx="261937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支援日常交易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E56ABE-07C1-41C5-B4B4-3AF7856D6084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02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資料倉儲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55B298E-3FD8-499F-A5DE-3119F5A6FDBF}"/>
              </a:ext>
            </a:extLst>
          </p:cNvPr>
          <p:cNvSpPr>
            <a:spLocks noGrp="1"/>
          </p:cNvSpPr>
          <p:nvPr/>
        </p:nvSpPr>
        <p:spPr>
          <a:xfrm>
            <a:off x="3429000" y="4048125"/>
            <a:ext cx="261937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支援整合分析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EA51E7-91DD-443E-8E73-64683D1BA73F}"/>
              </a:ext>
            </a:extLst>
          </p:cNvPr>
          <p:cNvSpPr>
            <a:spLocks noGrp="1"/>
          </p:cNvSpPr>
          <p:nvPr/>
        </p:nvSpPr>
        <p:spPr>
          <a:xfrm>
            <a:off x="6334125" y="3524250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B9852D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025" b="1">
                <a:solidFill>
                  <a:srgbClr val="B9852D"/>
                </a:solidFill>
                <a:latin typeface="微軟正黑體"/>
                <a:ea typeface="微軟正黑體"/>
                <a:cs typeface="微軟正黑體"/>
              </a:rPr>
              <a:t>資料市集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763E230-8222-463F-97F7-B8BDC71C125A}"/>
              </a:ext>
            </a:extLst>
          </p:cNvPr>
          <p:cNvSpPr>
            <a:spLocks noGrp="1"/>
          </p:cNvSpPr>
          <p:nvPr/>
        </p:nvSpPr>
        <p:spPr>
          <a:xfrm>
            <a:off x="6334125" y="4048125"/>
            <a:ext cx="261937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聚焦部門需求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495954C-4381-41C4-8772-993C7F4619C8}"/>
              </a:ext>
            </a:extLst>
          </p:cNvPr>
          <p:cNvSpPr>
            <a:spLocks noGrp="1"/>
          </p:cNvSpPr>
          <p:nvPr/>
        </p:nvSpPr>
        <p:spPr>
          <a:xfrm>
            <a:off x="9239250" y="3524250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02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資料湖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2DB4C4-B0E8-441C-A00A-F70039F51CD7}"/>
              </a:ext>
            </a:extLst>
          </p:cNvPr>
          <p:cNvSpPr>
            <a:spLocks noGrp="1"/>
          </p:cNvSpPr>
          <p:nvPr/>
        </p:nvSpPr>
        <p:spPr>
          <a:xfrm>
            <a:off x="9239250" y="4048125"/>
            <a:ext cx="261937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保留多樣原始資料</a:t>
            </a:r>
          </a:p>
        </p:txBody>
      </p:sp>
    </p:spTree>
    <p:extLst>
      <p:ext uri="{BB962C8B-B14F-4D97-AF65-F5344CB8AC3E}">
        <p14:creationId xmlns:p14="http://schemas.microsoft.com/office/powerpoint/2010/main" val="35311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B43BE7F9-4F2C-49C4-BAF0-6ACCFAF9CB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4D3249-1949-457B-8E26-0267710384A3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作業資料庫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5B3EC9-A9FF-456B-9E71-DE34035EEC0C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02/11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1CAEB1-8070-4947-8A0E-3696A613946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642BD35-E839-46E2-A37A-66720879000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8637989-6B00-4C9F-A03D-A460290D43FC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主要用途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F1357A-3415-4C62-86B5-D5F635A71377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支援存款、轉帳、下單與理賠等日常作業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0B6672E-FE05-4B7E-AAA9-5662A316E7BC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B0A46F-9A67-4E44-BCF1-124D38A820B4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資料特色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1C0F65-0718-4A2F-8660-A93C8AA54F06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記錄最新狀態，更新頻繁且要求正確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BBFDA99-B04A-47A0-9D49-F5DF73FBD8E9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43ECFBB-F39C-4257-9C26-7ED6A0ECBC5E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設計重點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3C4A25-CBA0-4E7C-B70D-0CF08C218B75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快速寫入、交易一致與系統穩定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D9B18-0BAA-42BE-A154-89BFA6B07FF6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95B05AD-AB46-4BEF-A8E2-B2B51F4EBA21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分析限制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62EFF2E-7584-4C66-BF07-DACA2F25BF63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跨系統與長期趨勢分析通常較不方便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567358F-F215-493C-8477-3F9E544C4CD0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375354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3D4C222-136A-407F-8ABF-8DD62E7A90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4D6F8C-92C9-4619-A6CE-B5D51EBCA3B9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5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資料倉儲 Data Warehouse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D36071-B286-429E-9D9F-7947F928ACAE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03/11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BE315F-33D1-48DE-A8F0-4226599FF09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481666-783F-45B7-BD65-7F7F90B6475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5BD33D9-F92B-4D90-80AB-2882559CAC46}"/>
              </a:ext>
            </a:extLst>
          </p:cNvPr>
          <p:cNvSpPr>
            <a:spLocks noGrp="1"/>
          </p:cNvSpPr>
          <p:nvPr/>
        </p:nvSpPr>
        <p:spPr>
          <a:xfrm>
            <a:off x="952500" y="1714500"/>
            <a:ext cx="1028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4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4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把分散資料整理成可分析的共同版本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8627CE-6E9F-4AFE-8FFD-068D18F272B3}"/>
              </a:ext>
            </a:extLst>
          </p:cNvPr>
          <p:cNvSpPr>
            <a:spLocks noGrp="1"/>
          </p:cNvSpPr>
          <p:nvPr/>
        </p:nvSpPr>
        <p:spPr>
          <a:xfrm>
            <a:off x="2190750" y="3476625"/>
            <a:ext cx="7810500" cy="28575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1EF63E-61C1-4827-B601-F8956AF767B1}"/>
              </a:ext>
            </a:extLst>
          </p:cNvPr>
          <p:cNvSpPr>
            <a:spLocks noGrp="1"/>
          </p:cNvSpPr>
          <p:nvPr/>
        </p:nvSpPr>
        <p:spPr>
          <a:xfrm>
            <a:off x="1666875" y="3857625"/>
            <a:ext cx="8858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2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資料倉儲通常整合多個內部系統，保留歷史並提供報表、商業智慧與分析使用。</a:t>
            </a:r>
          </a:p>
        </p:txBody>
      </p:sp>
    </p:spTree>
    <p:extLst>
      <p:ext uri="{BB962C8B-B14F-4D97-AF65-F5344CB8AC3E}">
        <p14:creationId xmlns:p14="http://schemas.microsoft.com/office/powerpoint/2010/main" val="2012555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BB61F76-B51B-472F-83F2-D0BF47DB7E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ECEE414-5F37-4749-85F4-D855D8C57CF8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資料倉儲的四個特性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C1EBE71-5AF4-48B3-A552-20560AA2488E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04/11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B31BD-192C-4C78-B86E-E153E419943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D95040-4804-4710-A9E4-97397957ABE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9782BDF-7E80-4A63-938E-1ED55AE84506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主題導向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B534902-928A-4504-99E6-4620B82DD156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依客戶、商品或風險等分析主題組織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8B2DA9-8CA2-4E07-9A8E-026744D6FA35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D417E13-8C0B-4248-96CB-93315CBED7AE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整合性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131165D-6049-4A31-A16F-6F0D3A70C00E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統一來源系統的欄位、代碼與定義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FCDFE1-3692-4D41-B02F-C75652A99962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BFA341C-B89B-4647-81C8-EE1F683C4FC4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長期性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73AD927-7733-4A4A-B143-E77DCD00B0A9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保留歷史，才能比較變化與趨勢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CC6303F-F302-450B-AB09-B11BB4125785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A354C0-D355-4FE3-A8D0-92792DF9D430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少變性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96E6B05-FC78-4A65-BE2F-8F4DC2A62026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資料載入後以查詢與分析為主要用途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248AE14-873B-4563-857C-DD508424E152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863737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5AE049AF-777C-48D5-9466-D6FCF1ECAC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BEDB4E-6C0A-454A-A743-F60F7AEC8CF6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資料市集 Data Mart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745E5D-86EC-4704-A6EB-63BE094AB2AE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05/11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B78C9D4-DA50-400D-A56A-D2893EBBF83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E2DB42-81C4-464D-966E-71FF4A4769A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E8D0FA1-6D78-4728-BD0D-147EBD8507C2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定位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819D4B-9D16-4AEA-950C-63B59C6AEED9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聚焦一個部門、主題或特定分析需求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945823F-2FA7-4AAF-A07F-78252B7245B0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AFFF6D-C31A-40E8-9171-AEEFF2C08E03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例子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5342AE1-70CA-45E2-B9BA-4E3504482D15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信用風險市集、行銷市集或理賠市集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34D33D-D62F-4A7A-9D0B-F14F31D27111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1C9547E-72D4-4AB4-9740-F6316707A89F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優點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A5C85BC-899E-4E95-B33A-CE85F6D4A795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範圍較小，較容易貼近使用者需求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D859DD-CEB6-4DED-B099-4219512FA9F2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BDB49A-562E-4C9D-9431-71E86A34BA99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風險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96EF453-3201-41F8-B8E9-BEA186A45497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各自建置可能形成重複與不一致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AAABD89-6BCC-40F2-A19A-2FCD91D3B096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916845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7B0DB1D-5005-4530-9167-CB6ECB1E01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60EDE5-D080-47C8-B86B-7C4549D09085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資料湖 Data Lake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FADFE6-E2AD-415F-8955-9DDD89971E0A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06/11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F3521A-A0F1-4C0C-BE14-1ABF98E913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7995BF-9ED0-4A77-9D90-E22CF1BAF81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1180C6-EFC9-470D-A157-6ACC3D4FD723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定位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32F9D7F-B996-436B-85EF-04A8D4155201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以較原始形式保留大量、多樣資料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9F8DFA-D462-4218-A08C-8E137C4733CC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D494B3-8636-465E-9A68-320268D969AE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可放內容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FB5EB7E-176C-43DE-BDFB-E6C548E09675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表格、系統紀錄、文件、文字與影像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0D30F4-472F-4ACE-BADC-CA7C1409C7E3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82559E-8AB9-47B7-B8F5-3A5BFF4C1EAA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優點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6FB0F1B-2AAE-4E2F-8A02-34D7354BC2B7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保留彈性，便於未來不同分析需求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DDF69A1-806E-45C3-8991-E67798092D8D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F7449A-678A-42AC-9027-A854C13C2D96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風險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C34C29E-98FD-458A-B495-C9F5BB617774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缺少目錄與治理時，資料會難以尋找與信任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86D5174-601D-429B-8B86-C2C2A19DB83D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529342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1EBE6220-99D1-42FF-ABC4-ED673292A2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004F7C3-FDEE-4CBD-94DD-2E6914F1B8C3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四種儲存方式的用途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2C0FAB-A4CE-400B-9AD1-0045BAA2E327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07/11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91E503E-E447-47CE-B4F0-CDC292985C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46EA309-571A-4866-8392-8E99ECF0A5C6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F526548-1BE2-420A-9FCE-45A83FAC1D7D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作業資料庫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23B610D-0A85-43A1-9178-FAD394097CA3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處理今天正在發生的交易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F6A3C53-490B-41BD-B6C5-F232478B309E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92A56D-9BBF-410E-BBFA-4C9430019C76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資料倉儲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AF066A2-8C0E-43CA-953E-72D64E66E29D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整合歷史資料並支援共同分析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D86A7C8-04A2-44D2-81A2-7E8F3AB9BFD0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C4689BA-F08D-41E7-8DCF-08AE2CCCED7F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資料市集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825769F-3877-4BD4-BE09-B87D97800352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服務特定部門或主題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3A199ED-1D64-4737-8E39-75E134DA574D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147840-E860-4636-AA99-32171B75088E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資料湖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B8D2EA3-765B-4F31-B64D-BA5BC270A993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保留多樣、較原始的資料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BB2DFAF-879B-4486-AEB6-4B1A15470489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FEB645-9280-4466-AD4C-FA1B7DFF9147}"/>
              </a:ext>
            </a:extLst>
          </p:cNvPr>
          <p:cNvSpPr>
            <a:spLocks noGrp="1"/>
          </p:cNvSpPr>
          <p:nvPr/>
        </p:nvSpPr>
        <p:spPr>
          <a:xfrm>
            <a:off x="3048000" y="5476875"/>
            <a:ext cx="6096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實務上可能並存，不必硬選唯一一種</a:t>
            </a:r>
          </a:p>
        </p:txBody>
      </p:sp>
    </p:spTree>
    <p:extLst>
      <p:ext uri="{BB962C8B-B14F-4D97-AF65-F5344CB8AC3E}">
        <p14:creationId xmlns:p14="http://schemas.microsoft.com/office/powerpoint/2010/main" val="620585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65A4C1BA-F710-414F-BFD5-241F802CFA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55BCD8-4660-4436-8419-81FA7BF058C2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ETL｜先轉換再載入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5CFC426-A519-4090-A36B-A1A65E3545F0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08/11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D89E5E-4D35-40A0-9A81-F7EDD7B1DC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8CDD557-46FA-4972-856F-06409A47451E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99F1126-A8A5-4429-A7A0-56C3AF642062}"/>
              </a:ext>
            </a:extLst>
          </p:cNvPr>
          <p:cNvSpPr>
            <a:spLocks noGrp="1"/>
          </p:cNvSpPr>
          <p:nvPr/>
        </p:nvSpPr>
        <p:spPr>
          <a:xfrm>
            <a:off x="809625" y="1762125"/>
            <a:ext cx="33845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479BD27-1968-490B-BB10-9B2EDD4D13D6}"/>
              </a:ext>
            </a:extLst>
          </p:cNvPr>
          <p:cNvSpPr>
            <a:spLocks noGrp="1"/>
          </p:cNvSpPr>
          <p:nvPr/>
        </p:nvSpPr>
        <p:spPr>
          <a:xfrm>
            <a:off x="809625" y="2286000"/>
            <a:ext cx="3384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Extract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14B3D09-F0C2-45AB-A4BC-1CF6C7AE664A}"/>
              </a:ext>
            </a:extLst>
          </p:cNvPr>
          <p:cNvSpPr>
            <a:spLocks noGrp="1"/>
          </p:cNvSpPr>
          <p:nvPr/>
        </p:nvSpPr>
        <p:spPr>
          <a:xfrm>
            <a:off x="981075" y="3048000"/>
            <a:ext cx="304165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3EB3CA-128A-41B1-BA69-0701FF411140}"/>
              </a:ext>
            </a:extLst>
          </p:cNvPr>
          <p:cNvSpPr>
            <a:spLocks noGrp="1"/>
          </p:cNvSpPr>
          <p:nvPr/>
        </p:nvSpPr>
        <p:spPr>
          <a:xfrm>
            <a:off x="857250" y="3286125"/>
            <a:ext cx="328930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從來源擷取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6ECCC8C-11B6-4347-87E9-E6737D75A94E}"/>
              </a:ext>
            </a:extLst>
          </p:cNvPr>
          <p:cNvSpPr>
            <a:spLocks noGrp="1"/>
          </p:cNvSpPr>
          <p:nvPr/>
        </p:nvSpPr>
        <p:spPr>
          <a:xfrm>
            <a:off x="4403725" y="1762125"/>
            <a:ext cx="33845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D776A9-ACE3-4D4D-BD40-8D3723ED0780}"/>
              </a:ext>
            </a:extLst>
          </p:cNvPr>
          <p:cNvSpPr>
            <a:spLocks noGrp="1"/>
          </p:cNvSpPr>
          <p:nvPr/>
        </p:nvSpPr>
        <p:spPr>
          <a:xfrm>
            <a:off x="4403725" y="2286000"/>
            <a:ext cx="3384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Transform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6AAC9CA-9095-476D-B063-2654F82DD136}"/>
              </a:ext>
            </a:extLst>
          </p:cNvPr>
          <p:cNvSpPr>
            <a:spLocks noGrp="1"/>
          </p:cNvSpPr>
          <p:nvPr/>
        </p:nvSpPr>
        <p:spPr>
          <a:xfrm>
            <a:off x="4575175" y="3048000"/>
            <a:ext cx="304165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881EB73-5B36-4408-9F70-1F14FE9662A6}"/>
              </a:ext>
            </a:extLst>
          </p:cNvPr>
          <p:cNvSpPr>
            <a:spLocks noGrp="1"/>
          </p:cNvSpPr>
          <p:nvPr/>
        </p:nvSpPr>
        <p:spPr>
          <a:xfrm>
            <a:off x="4451350" y="3286125"/>
            <a:ext cx="328930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清理並統一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366259B-C688-4560-B9FE-77584A1785F1}"/>
              </a:ext>
            </a:extLst>
          </p:cNvPr>
          <p:cNvSpPr>
            <a:spLocks noGrp="1"/>
          </p:cNvSpPr>
          <p:nvPr/>
        </p:nvSpPr>
        <p:spPr>
          <a:xfrm>
            <a:off x="7997825" y="1762125"/>
            <a:ext cx="33845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C52EFDB-BD98-4BC4-BB90-4DF62E006AEF}"/>
              </a:ext>
            </a:extLst>
          </p:cNvPr>
          <p:cNvSpPr>
            <a:spLocks noGrp="1"/>
          </p:cNvSpPr>
          <p:nvPr/>
        </p:nvSpPr>
        <p:spPr>
          <a:xfrm>
            <a:off x="7997825" y="2286000"/>
            <a:ext cx="3384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Load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74E9D7-52D4-483F-905B-77EAEDC1180A}"/>
              </a:ext>
            </a:extLst>
          </p:cNvPr>
          <p:cNvSpPr>
            <a:spLocks noGrp="1"/>
          </p:cNvSpPr>
          <p:nvPr/>
        </p:nvSpPr>
        <p:spPr>
          <a:xfrm>
            <a:off x="8169275" y="3048000"/>
            <a:ext cx="304165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FD183BD-A647-4865-9466-641FA05C15B5}"/>
              </a:ext>
            </a:extLst>
          </p:cNvPr>
          <p:cNvSpPr>
            <a:spLocks noGrp="1"/>
          </p:cNvSpPr>
          <p:nvPr/>
        </p:nvSpPr>
        <p:spPr>
          <a:xfrm>
            <a:off x="8045450" y="3286125"/>
            <a:ext cx="328930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載入分析環境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8DE4226-FEA5-4688-84BF-0F4F9286A585}"/>
              </a:ext>
            </a:extLst>
          </p:cNvPr>
          <p:cNvSpPr>
            <a:spLocks noGrp="1"/>
          </p:cNvSpPr>
          <p:nvPr/>
        </p:nvSpPr>
        <p:spPr>
          <a:xfrm>
            <a:off x="2047875" y="5048250"/>
            <a:ext cx="8096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2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ETL 的重點是讓不同來源能以共同定義使用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BFEEA83-F6BA-4BEB-9B67-F8620E9042C8}"/>
              </a:ext>
            </a:extLst>
          </p:cNvPr>
          <p:cNvSpPr>
            <a:spLocks noGrp="1"/>
          </p:cNvSpPr>
          <p:nvPr/>
        </p:nvSpPr>
        <p:spPr>
          <a:xfrm>
            <a:off x="3429000" y="557212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ELT 則先載入，再於目標環境轉換</a:t>
            </a:r>
          </a:p>
        </p:txBody>
      </p:sp>
    </p:spTree>
    <p:extLst>
      <p:ext uri="{BB962C8B-B14F-4D97-AF65-F5344CB8AC3E}">
        <p14:creationId xmlns:p14="http://schemas.microsoft.com/office/powerpoint/2010/main" val="639904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0E467638-92ED-4330-8AEE-42257E0107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FBD312-37D8-448B-BE07-0B3E51069E9F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整合不只搬資料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AB4A49-1666-4037-859E-ABBCD3201A59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09/11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6689AD3-2024-412A-908F-8496511208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9F214EE-7063-4A2D-951D-F3DF9CC43232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4F192FC-56AC-4C72-A300-CCE3E905DC54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共同識別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C180D3-6F69-4E7E-8D38-D9A68488F54D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不同系統是否指向同一客戶或帳戶？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EDD1549-976D-482D-9A87-6CCE7ED15F21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2A9230-1E1F-4D7F-9D26-1DD415536A60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共同時間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E0FA14-B8D8-48B9-AF1F-83D605CB5F6B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交易時間、入帳時間與報表日期是否一致？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8CCEA5-BED0-4279-87C1-2F2E8267425D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CA11EF-A2D8-415F-9257-C57A19A55F8C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共同定義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64DC3F4-558C-42F9-9AA2-1E62A393FB59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『活躍客戶』在各部門是否相同？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05CC08-37F5-44C9-AF9A-EEE0F0C0F4F9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CCEEB24-75B7-4050-8F0A-725E3CD8DE2D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追蹤來源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67199B4-C775-416E-8B14-A4DD4E687376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數字從哪裡來？經過哪些轉換？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ED729AF-66EB-4AF7-9528-C7B6981106FA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993820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4C7206EA-C3B0-4634-96BA-883FBA67F5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08F030-7ED0-4FD9-800D-276C8425CB06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第二節小結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916F37-2300-4DC5-B8A8-BCEDA193BB95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10/11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83AE28B-7F2F-46DD-8B34-770B63F57A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9BA244-9717-434A-92F4-7952373683F6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F5773E3-0F06-4240-9DD4-C4CA720811BE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作業資料庫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D9B1A61-33BA-4481-A6E2-6253631FD80D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支援日常交易與最新狀態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025009-0327-4EFF-A568-C57562346DA7}"/>
              </a:ext>
            </a:extLst>
          </p:cNvPr>
          <p:cNvSpPr>
            <a:spLocks noGrp="1"/>
          </p:cNvSpPr>
          <p:nvPr/>
        </p:nvSpPr>
        <p:spPr>
          <a:xfrm>
            <a:off x="809625" y="2305050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112D8E-A37A-454F-AEF6-D3836529E631}"/>
              </a:ext>
            </a:extLst>
          </p:cNvPr>
          <p:cNvSpPr>
            <a:spLocks noGrp="1"/>
          </p:cNvSpPr>
          <p:nvPr/>
        </p:nvSpPr>
        <p:spPr>
          <a:xfrm>
            <a:off x="857250" y="2343150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資料倉儲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90A745-37B5-47E1-8389-9E42C87009B8}"/>
              </a:ext>
            </a:extLst>
          </p:cNvPr>
          <p:cNvSpPr>
            <a:spLocks noGrp="1"/>
          </p:cNvSpPr>
          <p:nvPr/>
        </p:nvSpPr>
        <p:spPr>
          <a:xfrm>
            <a:off x="3286125" y="2343150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整合歷史資料供分析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44F6092-8297-4003-A180-CA1670692D53}"/>
              </a:ext>
            </a:extLst>
          </p:cNvPr>
          <p:cNvSpPr>
            <a:spLocks noGrp="1"/>
          </p:cNvSpPr>
          <p:nvPr/>
        </p:nvSpPr>
        <p:spPr>
          <a:xfrm>
            <a:off x="809625" y="3171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910919C-F37C-4F88-A92F-CFD019215A44}"/>
              </a:ext>
            </a:extLst>
          </p:cNvPr>
          <p:cNvSpPr>
            <a:spLocks noGrp="1"/>
          </p:cNvSpPr>
          <p:nvPr/>
        </p:nvSpPr>
        <p:spPr>
          <a:xfrm>
            <a:off x="857250" y="3209925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資料市集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C563DA4-B9D5-4B2E-ACCF-31C6D631650E}"/>
              </a:ext>
            </a:extLst>
          </p:cNvPr>
          <p:cNvSpPr>
            <a:spLocks noGrp="1"/>
          </p:cNvSpPr>
          <p:nvPr/>
        </p:nvSpPr>
        <p:spPr>
          <a:xfrm>
            <a:off x="3286125" y="3209925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服務特定主題與部門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A56048A-A45E-49A9-8EDB-198CC58691E3}"/>
              </a:ext>
            </a:extLst>
          </p:cNvPr>
          <p:cNvSpPr>
            <a:spLocks noGrp="1"/>
          </p:cNvSpPr>
          <p:nvPr/>
        </p:nvSpPr>
        <p:spPr>
          <a:xfrm>
            <a:off x="809625" y="4038600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A40B5F-7073-4A16-B231-246DCD2A0BC2}"/>
              </a:ext>
            </a:extLst>
          </p:cNvPr>
          <p:cNvSpPr>
            <a:spLocks noGrp="1"/>
          </p:cNvSpPr>
          <p:nvPr/>
        </p:nvSpPr>
        <p:spPr>
          <a:xfrm>
            <a:off x="857250" y="4076700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資料湖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036327E-86D5-40BC-9D6E-28BA15E00537}"/>
              </a:ext>
            </a:extLst>
          </p:cNvPr>
          <p:cNvSpPr>
            <a:spLocks noGrp="1"/>
          </p:cNvSpPr>
          <p:nvPr/>
        </p:nvSpPr>
        <p:spPr>
          <a:xfrm>
            <a:off x="3286125" y="4076700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保留多樣原始資料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FEF302D-CC0B-4C60-B56D-86F320218558}"/>
              </a:ext>
            </a:extLst>
          </p:cNvPr>
          <p:cNvSpPr>
            <a:spLocks noGrp="1"/>
          </p:cNvSpPr>
          <p:nvPr/>
        </p:nvSpPr>
        <p:spPr>
          <a:xfrm>
            <a:off x="809625" y="4905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8B118F0-000E-4D01-8073-9BDE49C4E873}"/>
              </a:ext>
            </a:extLst>
          </p:cNvPr>
          <p:cNvSpPr>
            <a:spLocks noGrp="1"/>
          </p:cNvSpPr>
          <p:nvPr/>
        </p:nvSpPr>
        <p:spPr>
          <a:xfrm>
            <a:off x="857250" y="4943475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整合治理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92751E2-03BB-4D44-957E-99C233CE331F}"/>
              </a:ext>
            </a:extLst>
          </p:cNvPr>
          <p:cNvSpPr>
            <a:spLocks noGrp="1"/>
          </p:cNvSpPr>
          <p:nvPr/>
        </p:nvSpPr>
        <p:spPr>
          <a:xfrm>
            <a:off x="3286125" y="4943475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統一識別、時間、定義與來源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74ADCBC-6292-416D-A7B6-9F351A87FB50}"/>
              </a:ext>
            </a:extLst>
          </p:cNvPr>
          <p:cNvSpPr>
            <a:spLocks noGrp="1"/>
          </p:cNvSpPr>
          <p:nvPr/>
        </p:nvSpPr>
        <p:spPr>
          <a:xfrm>
            <a:off x="809625" y="5772150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2133335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33B39C0-D4CF-46AB-BA28-FA55DA602E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7180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E39E24-BCDC-49BD-A6BB-DED5C4F7A7B9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本節搶答題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3E7749-2AFC-4FC7-8219-F554180B9E8F}"/>
              </a:ext>
            </a:extLst>
          </p:cNvPr>
          <p:cNvSpPr>
            <a:spLocks noGrp="1"/>
          </p:cNvSpPr>
          <p:nvPr/>
        </p:nvSpPr>
        <p:spPr>
          <a:xfrm>
            <a:off x="685800" y="1000125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5 分鐘｜先作答，再核對答案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5D8E030-84F7-455F-A876-FB23BC21542F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第二節  11/11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93D7D27-3622-404F-B411-40E02861A3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6D3B905-FF86-4263-93D4-19B694A64E92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E17D5BB-EEF2-42B3-91BF-1575EE51E7AC}"/>
              </a:ext>
            </a:extLst>
          </p:cNvPr>
          <p:cNvSpPr>
            <a:spLocks noGrp="1"/>
          </p:cNvSpPr>
          <p:nvPr/>
        </p:nvSpPr>
        <p:spPr>
          <a:xfrm>
            <a:off x="809625" y="142875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1. 支援即時轉帳最接近哪一種？（A 作業資料庫　B 資料市集）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4F5E10-C296-4935-ABDE-0F905A1604E5}"/>
              </a:ext>
            </a:extLst>
          </p:cNvPr>
          <p:cNvSpPr>
            <a:spLocks noGrp="1"/>
          </p:cNvSpPr>
          <p:nvPr/>
        </p:nvSpPr>
        <p:spPr>
          <a:xfrm>
            <a:off x="809625" y="2200275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2. 長期趨勢分析較常使用什麼？（A 資料倉儲　B 暫存檔）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641173-E39E-4363-88B1-338F8E8A70E4}"/>
              </a:ext>
            </a:extLst>
          </p:cNvPr>
          <p:cNvSpPr>
            <a:spLocks noGrp="1"/>
          </p:cNvSpPr>
          <p:nvPr/>
        </p:nvSpPr>
        <p:spPr>
          <a:xfrm>
            <a:off x="809625" y="297180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3. 只服務理賠部門的資料集合較接近？（A 資料市集　B 作業系統）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92A0ACF-3079-47EF-B18D-4EA06DF74F42}"/>
              </a:ext>
            </a:extLst>
          </p:cNvPr>
          <p:cNvSpPr>
            <a:spLocks noGrp="1"/>
          </p:cNvSpPr>
          <p:nvPr/>
        </p:nvSpPr>
        <p:spPr>
          <a:xfrm>
            <a:off x="809625" y="3743325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4. 資料湖缺少治理時最可能發生什麼？（A 難以尋找與信任　B 自動變乾淨）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F2194E-34A8-45B7-A2EA-4F39C26945FB}"/>
              </a:ext>
            </a:extLst>
          </p:cNvPr>
          <p:cNvSpPr>
            <a:spLocks noGrp="1"/>
          </p:cNvSpPr>
          <p:nvPr/>
        </p:nvSpPr>
        <p:spPr>
          <a:xfrm>
            <a:off x="809625" y="451485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5. ETL 的 T 代表什麼？（A Transform　B Transfer）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2DD9EB1-CFCC-4E4D-A702-A32EB1C6C69A}"/>
              </a:ext>
            </a:extLst>
          </p:cNvPr>
          <p:cNvSpPr>
            <a:spLocks noGrp="1"/>
          </p:cNvSpPr>
          <p:nvPr/>
        </p:nvSpPr>
        <p:spPr>
          <a:xfrm>
            <a:off x="666750" y="5467350"/>
            <a:ext cx="10858500" cy="685800"/>
          </a:xfrm>
          <a:prstGeom prst="roundRect">
            <a:avLst>
              <a:gd name="adj" fmla="val 11111"/>
            </a:avLst>
          </a:prstGeom>
          <a:solidFill>
            <a:srgbClr val="DCEDEF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8385E1-9F0D-49BC-8F6C-4F3D7D26529B}"/>
              </a:ext>
            </a:extLst>
          </p:cNvPr>
          <p:cNvSpPr>
            <a:spLocks noGrp="1"/>
          </p:cNvSpPr>
          <p:nvPr/>
        </p:nvSpPr>
        <p:spPr>
          <a:xfrm>
            <a:off x="857250" y="556260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答案：1-A　2-A　3-A　4-A　5-A</a:t>
            </a:r>
          </a:p>
        </p:txBody>
      </p:sp>
    </p:spTree>
    <p:extLst>
      <p:ext uri="{BB962C8B-B14F-4D97-AF65-F5344CB8AC3E}">
        <p14:creationId xmlns:p14="http://schemas.microsoft.com/office/powerpoint/2010/main" val="1440988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51344094-9FC1-4785-BD78-B7BD52BFCE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A1E43E7-CF5B-4D93-9A29-13AB2DD61F27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第三節｜處理、分析與呈現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2D8190E-709B-45C2-A853-EADD1156BE71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01/11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9C6958D-7BD5-4E70-951B-FF2746E959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3BD42A2-844F-481E-803B-662A22AF5E9D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DA5F488-5388-4967-8AE0-005A2D236174}"/>
              </a:ext>
            </a:extLst>
          </p:cNvPr>
          <p:cNvSpPr>
            <a:spLocks noGrp="1"/>
          </p:cNvSpPr>
          <p:nvPr/>
        </p:nvSpPr>
        <p:spPr>
          <a:xfrm>
            <a:off x="1000125" y="1905000"/>
            <a:ext cx="101917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22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22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資料規模增加時，單一電腦可能不再足夠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5404A2-0082-4EC2-8704-DF3947ECCECD}"/>
              </a:ext>
            </a:extLst>
          </p:cNvPr>
          <p:cNvSpPr>
            <a:spLocks noGrp="1"/>
          </p:cNvSpPr>
          <p:nvPr/>
        </p:nvSpPr>
        <p:spPr>
          <a:xfrm>
            <a:off x="523875" y="3524250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02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分散式儲存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B8CDE41-1A19-443B-80BC-FA06CEA440CB}"/>
              </a:ext>
            </a:extLst>
          </p:cNvPr>
          <p:cNvSpPr>
            <a:spLocks noGrp="1"/>
          </p:cNvSpPr>
          <p:nvPr/>
        </p:nvSpPr>
        <p:spPr>
          <a:xfrm>
            <a:off x="523875" y="4048125"/>
            <a:ext cx="261937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資料分開保存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6DDAC6-84B9-4D3B-8227-528A7B008210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025" b="1">
                <a:solidFill>
                  <a:srgbClr val="2D7180"/>
                </a:solidFill>
                <a:latin typeface="微軟正黑體"/>
                <a:ea typeface="微軟正黑體"/>
                <a:cs typeface="微軟正黑體"/>
              </a:rPr>
              <a:t>分散式處理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C4A493C-EBF0-4E25-B954-2BF2251464D0}"/>
              </a:ext>
            </a:extLst>
          </p:cNvPr>
          <p:cNvSpPr>
            <a:spLocks noGrp="1"/>
          </p:cNvSpPr>
          <p:nvPr/>
        </p:nvSpPr>
        <p:spPr>
          <a:xfrm>
            <a:off x="3429000" y="4048125"/>
            <a:ext cx="261937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工作分開計算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12435DA-64AD-4617-8720-557FBEF93201}"/>
              </a:ext>
            </a:extLst>
          </p:cNvPr>
          <p:cNvSpPr>
            <a:spLocks noGrp="1"/>
          </p:cNvSpPr>
          <p:nvPr/>
        </p:nvSpPr>
        <p:spPr>
          <a:xfrm>
            <a:off x="6334125" y="3524250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B9852D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025" b="1">
                <a:solidFill>
                  <a:srgbClr val="B9852D"/>
                </a:solidFill>
                <a:latin typeface="微軟正黑體"/>
                <a:ea typeface="微軟正黑體"/>
                <a:cs typeface="微軟正黑體"/>
              </a:rPr>
              <a:t>雲端服務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044A6B-5C63-4F65-B46A-D398BFFBCEC0}"/>
              </a:ext>
            </a:extLst>
          </p:cNvPr>
          <p:cNvSpPr>
            <a:spLocks noGrp="1"/>
          </p:cNvSpPr>
          <p:nvPr/>
        </p:nvSpPr>
        <p:spPr>
          <a:xfrm>
            <a:off x="6334125" y="4048125"/>
            <a:ext cx="261937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依需要取得資源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E76104-EEBA-4730-9FFE-743C3BD37BF1}"/>
              </a:ext>
            </a:extLst>
          </p:cNvPr>
          <p:cNvSpPr>
            <a:spLocks noGrp="1"/>
          </p:cNvSpPr>
          <p:nvPr/>
        </p:nvSpPr>
        <p:spPr>
          <a:xfrm>
            <a:off x="9239250" y="3524250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02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分析呈現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9813019-ACF6-4754-A2EA-0A37C4956002}"/>
              </a:ext>
            </a:extLst>
          </p:cNvPr>
          <p:cNvSpPr>
            <a:spLocks noGrp="1"/>
          </p:cNvSpPr>
          <p:nvPr/>
        </p:nvSpPr>
        <p:spPr>
          <a:xfrm>
            <a:off x="9239250" y="4048125"/>
            <a:ext cx="261937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把結果交給使用者</a:t>
            </a:r>
          </a:p>
        </p:txBody>
      </p:sp>
    </p:spTree>
    <p:extLst>
      <p:ext uri="{BB962C8B-B14F-4D97-AF65-F5344CB8AC3E}">
        <p14:creationId xmlns:p14="http://schemas.microsoft.com/office/powerpoint/2010/main" val="17622914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DDA793F7-911F-4E29-A665-8ED5EACB3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B3A957-EC5F-4BA9-9352-C8DC80C52A74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分散式處理的核心想法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0134697-1312-4352-A2E7-1964C18C6FDB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02/11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291EEE-FA72-4A0C-8996-FBD7A2D26C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F21772-0E3D-4645-A5F5-25E8A1B9FF5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FE31AB-5354-48F2-BE43-783E2395B8AB}"/>
              </a:ext>
            </a:extLst>
          </p:cNvPr>
          <p:cNvSpPr>
            <a:spLocks noGrp="1"/>
          </p:cNvSpPr>
          <p:nvPr/>
        </p:nvSpPr>
        <p:spPr>
          <a:xfrm>
            <a:off x="952500" y="1714500"/>
            <a:ext cx="1028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4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4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把資料與工作分給多台電腦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BCEF82-B945-4878-AD9B-46A9E4016FE7}"/>
              </a:ext>
            </a:extLst>
          </p:cNvPr>
          <p:cNvSpPr>
            <a:spLocks noGrp="1"/>
          </p:cNvSpPr>
          <p:nvPr/>
        </p:nvSpPr>
        <p:spPr>
          <a:xfrm>
            <a:off x="2190750" y="3476625"/>
            <a:ext cx="7810500" cy="28575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2FBFAF-C52D-4420-BE56-63B614C7B7B4}"/>
              </a:ext>
            </a:extLst>
          </p:cNvPr>
          <p:cNvSpPr>
            <a:spLocks noGrp="1"/>
          </p:cNvSpPr>
          <p:nvPr/>
        </p:nvSpPr>
        <p:spPr>
          <a:xfrm>
            <a:off x="1666875" y="3857625"/>
            <a:ext cx="8858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25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系統再把各部分結果彙整。這種方式能處理更大規模，也能透過副本降低單一設備故障的影響。</a:t>
            </a:r>
          </a:p>
        </p:txBody>
      </p:sp>
    </p:spTree>
    <p:extLst>
      <p:ext uri="{BB962C8B-B14F-4D97-AF65-F5344CB8AC3E}">
        <p14:creationId xmlns:p14="http://schemas.microsoft.com/office/powerpoint/2010/main" val="3869737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CA0E9F5-34F2-4733-85C9-83A0A0411C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880D73-BBF7-41CD-82C7-4690533BA95F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Hadoop 的歷史角色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F2369E-FF4E-4687-94C7-A33C231CAF0C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03/11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B63DDB-8643-4540-A1BA-82B1985FE6D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DBC2AD8-AA6F-487C-82AE-30772EBDF212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518403-05CA-4C12-8DA5-8AB3D976BFD7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背景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36752FA-00D9-4835-AFB2-02CB61418E94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大量網頁與非結構化資料促成分散式需求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15BC51B-A798-4DC8-A409-2D86B20A0F88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47437C-8A8C-4439-88E8-7B99D38B08F6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定位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94F19CD-F6C9-4AA3-B720-9D36912F24E0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開放原始碼的分散式儲存與處理生態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F96FCDC-518E-4382-8FEE-6F6FB0653166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19E681-5F40-4FF6-AF76-EF4DFD1F6BF8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代表概念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0B13FF-6816-449F-BEBD-013331B35111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HDFS 分散儲存，MapReduce 分散計算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CB38C8E-1489-4DE5-8B91-F1145B64636E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495D74A-F1A8-4F0E-B05E-D70DE4ABF3C9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今天的理解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3D8AA6F-8079-4656-A4DB-8846A9A1CE6A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保留核心觀念，不把它視為唯一現代方案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D85B591-97E5-4370-B5E3-76A4439F44EA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599462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87EC1F48-0AF6-4A9D-B96C-8A8C8E7F5A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861884-497A-413F-9320-7F38CB276D1A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HDFS 的直覺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0D5EA18-761E-4E7E-8488-2E8D3322F24C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04/11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D846C8-545C-4A34-AC03-7AC7DCFF8E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523627-4F24-4C2F-A0D1-A8EBF560534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96AAD5-10D6-4C2A-8662-D53FF0B8AB42}"/>
              </a:ext>
            </a:extLst>
          </p:cNvPr>
          <p:cNvSpPr>
            <a:spLocks noGrp="1"/>
          </p:cNvSpPr>
          <p:nvPr/>
        </p:nvSpPr>
        <p:spPr>
          <a:xfrm>
            <a:off x="809625" y="1762125"/>
            <a:ext cx="24860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DF5BEF-BC07-4971-A263-28D36AF6E7D3}"/>
              </a:ext>
            </a:extLst>
          </p:cNvPr>
          <p:cNvSpPr>
            <a:spLocks noGrp="1"/>
          </p:cNvSpPr>
          <p:nvPr/>
        </p:nvSpPr>
        <p:spPr>
          <a:xfrm>
            <a:off x="809625" y="2286000"/>
            <a:ext cx="24860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切割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E4319D8-586B-437C-8F7B-037A7DB9F18F}"/>
              </a:ext>
            </a:extLst>
          </p:cNvPr>
          <p:cNvSpPr>
            <a:spLocks noGrp="1"/>
          </p:cNvSpPr>
          <p:nvPr/>
        </p:nvSpPr>
        <p:spPr>
          <a:xfrm>
            <a:off x="981075" y="3048000"/>
            <a:ext cx="2143125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3CEA0BA-E2A7-47AB-A200-093E9F40867F}"/>
              </a:ext>
            </a:extLst>
          </p:cNvPr>
          <p:cNvSpPr>
            <a:spLocks noGrp="1"/>
          </p:cNvSpPr>
          <p:nvPr/>
        </p:nvSpPr>
        <p:spPr>
          <a:xfrm>
            <a:off x="857250" y="3286125"/>
            <a:ext cx="2390775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大型檔案分成區塊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B99C9F-CD6E-4945-9237-E34D69DB80E8}"/>
              </a:ext>
            </a:extLst>
          </p:cNvPr>
          <p:cNvSpPr>
            <a:spLocks noGrp="1"/>
          </p:cNvSpPr>
          <p:nvPr/>
        </p:nvSpPr>
        <p:spPr>
          <a:xfrm>
            <a:off x="3505200" y="1762125"/>
            <a:ext cx="24860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71C92B-FBE7-4F01-A6BA-1B08BBF27035}"/>
              </a:ext>
            </a:extLst>
          </p:cNvPr>
          <p:cNvSpPr>
            <a:spLocks noGrp="1"/>
          </p:cNvSpPr>
          <p:nvPr/>
        </p:nvSpPr>
        <p:spPr>
          <a:xfrm>
            <a:off x="3505200" y="2286000"/>
            <a:ext cx="24860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分散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33906C0-B5CE-483E-ACEE-2D3A1D809B95}"/>
              </a:ext>
            </a:extLst>
          </p:cNvPr>
          <p:cNvSpPr>
            <a:spLocks noGrp="1"/>
          </p:cNvSpPr>
          <p:nvPr/>
        </p:nvSpPr>
        <p:spPr>
          <a:xfrm>
            <a:off x="3676650" y="3048000"/>
            <a:ext cx="2143125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EAB6836-9151-4BC8-8903-9B4507A60051}"/>
              </a:ext>
            </a:extLst>
          </p:cNvPr>
          <p:cNvSpPr>
            <a:spLocks noGrp="1"/>
          </p:cNvSpPr>
          <p:nvPr/>
        </p:nvSpPr>
        <p:spPr>
          <a:xfrm>
            <a:off x="3552825" y="3286125"/>
            <a:ext cx="2390775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區塊存到多台設備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FD92895-4D44-4169-9DF5-90C967EBAA2C}"/>
              </a:ext>
            </a:extLst>
          </p:cNvPr>
          <p:cNvSpPr>
            <a:spLocks noGrp="1"/>
          </p:cNvSpPr>
          <p:nvPr/>
        </p:nvSpPr>
        <p:spPr>
          <a:xfrm>
            <a:off x="6200775" y="1762125"/>
            <a:ext cx="24860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D69E73-AC6C-42B0-B01A-BA75FA4B6506}"/>
              </a:ext>
            </a:extLst>
          </p:cNvPr>
          <p:cNvSpPr>
            <a:spLocks noGrp="1"/>
          </p:cNvSpPr>
          <p:nvPr/>
        </p:nvSpPr>
        <p:spPr>
          <a:xfrm>
            <a:off x="6200775" y="2286000"/>
            <a:ext cx="24860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副本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8E35DFF-538A-44CC-9ACA-25C4984CB1D6}"/>
              </a:ext>
            </a:extLst>
          </p:cNvPr>
          <p:cNvSpPr>
            <a:spLocks noGrp="1"/>
          </p:cNvSpPr>
          <p:nvPr/>
        </p:nvSpPr>
        <p:spPr>
          <a:xfrm>
            <a:off x="6372225" y="3048000"/>
            <a:ext cx="2143125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C9E1124-4F30-49BF-B5B0-03C8D76BBCA1}"/>
              </a:ext>
            </a:extLst>
          </p:cNvPr>
          <p:cNvSpPr>
            <a:spLocks noGrp="1"/>
          </p:cNvSpPr>
          <p:nvPr/>
        </p:nvSpPr>
        <p:spPr>
          <a:xfrm>
            <a:off x="6248400" y="3286125"/>
            <a:ext cx="2390775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重要資料保留多份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97E2255-F72F-472E-82AC-CE163BE65C5C}"/>
              </a:ext>
            </a:extLst>
          </p:cNvPr>
          <p:cNvSpPr>
            <a:spLocks noGrp="1"/>
          </p:cNvSpPr>
          <p:nvPr/>
        </p:nvSpPr>
        <p:spPr>
          <a:xfrm>
            <a:off x="8896350" y="1762125"/>
            <a:ext cx="24860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04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2E7EF1B-7B3A-49B9-BA73-04C8AB69A3FF}"/>
              </a:ext>
            </a:extLst>
          </p:cNvPr>
          <p:cNvSpPr>
            <a:spLocks noGrp="1"/>
          </p:cNvSpPr>
          <p:nvPr/>
        </p:nvSpPr>
        <p:spPr>
          <a:xfrm>
            <a:off x="8896350" y="2286000"/>
            <a:ext cx="24860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讀取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BBE59AC-734B-434E-9ED9-9DB67B87EEDB}"/>
              </a:ext>
            </a:extLst>
          </p:cNvPr>
          <p:cNvSpPr>
            <a:spLocks noGrp="1"/>
          </p:cNvSpPr>
          <p:nvPr/>
        </p:nvSpPr>
        <p:spPr>
          <a:xfrm>
            <a:off x="9067800" y="3048000"/>
            <a:ext cx="2143125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EE0FF96-A177-41F7-A89E-CF477CC9264B}"/>
              </a:ext>
            </a:extLst>
          </p:cNvPr>
          <p:cNvSpPr>
            <a:spLocks noGrp="1"/>
          </p:cNvSpPr>
          <p:nvPr/>
        </p:nvSpPr>
        <p:spPr>
          <a:xfrm>
            <a:off x="8943975" y="3286125"/>
            <a:ext cx="2390775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系統協調並組回需要內容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6A34979-EDC5-40A7-B0B1-D6E06E6AFAC8}"/>
              </a:ext>
            </a:extLst>
          </p:cNvPr>
          <p:cNvSpPr>
            <a:spLocks noGrp="1"/>
          </p:cNvSpPr>
          <p:nvPr/>
        </p:nvSpPr>
        <p:spPr>
          <a:xfrm>
            <a:off x="2286000" y="52863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重點：容量可擴充，也能降低單點故障風險</a:t>
            </a:r>
          </a:p>
        </p:txBody>
      </p:sp>
    </p:spTree>
    <p:extLst>
      <p:ext uri="{BB962C8B-B14F-4D97-AF65-F5344CB8AC3E}">
        <p14:creationId xmlns:p14="http://schemas.microsoft.com/office/powerpoint/2010/main" val="7951141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7D438B2C-7FE1-47FB-B718-8B74619A94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B3A4CC-173C-4F5D-81F6-C86C662B14FD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MapReduce 的直覺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3995428-D7CF-46DD-A47C-CDDD8133FADC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05/11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DA82BD7-9691-43F6-B5FE-0A0901E303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E774B1-B16B-41C7-B802-256B3D118718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8031D35-4622-407C-B5E0-C91B63E0C0AE}"/>
              </a:ext>
            </a:extLst>
          </p:cNvPr>
          <p:cNvSpPr>
            <a:spLocks noGrp="1"/>
          </p:cNvSpPr>
          <p:nvPr/>
        </p:nvSpPr>
        <p:spPr>
          <a:xfrm>
            <a:off x="809625" y="1762125"/>
            <a:ext cx="33845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8E74553-8B40-49A2-958C-751945187ECC}"/>
              </a:ext>
            </a:extLst>
          </p:cNvPr>
          <p:cNvSpPr>
            <a:spLocks noGrp="1"/>
          </p:cNvSpPr>
          <p:nvPr/>
        </p:nvSpPr>
        <p:spPr>
          <a:xfrm>
            <a:off x="809625" y="2286000"/>
            <a:ext cx="3384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Map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1A859B4-7B3C-4F77-B8F1-6532F7D92031}"/>
              </a:ext>
            </a:extLst>
          </p:cNvPr>
          <p:cNvSpPr>
            <a:spLocks noGrp="1"/>
          </p:cNvSpPr>
          <p:nvPr/>
        </p:nvSpPr>
        <p:spPr>
          <a:xfrm>
            <a:off x="981075" y="3048000"/>
            <a:ext cx="304165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3EE1A3-0A3E-46B3-9F8D-931F3D0B0674}"/>
              </a:ext>
            </a:extLst>
          </p:cNvPr>
          <p:cNvSpPr>
            <a:spLocks noGrp="1"/>
          </p:cNvSpPr>
          <p:nvPr/>
        </p:nvSpPr>
        <p:spPr>
          <a:xfrm>
            <a:off x="857250" y="3286125"/>
            <a:ext cx="328930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把工作拆成多份並行計算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4166BF1-D0B6-4C5E-AECE-9CEA36D51D43}"/>
              </a:ext>
            </a:extLst>
          </p:cNvPr>
          <p:cNvSpPr>
            <a:spLocks noGrp="1"/>
          </p:cNvSpPr>
          <p:nvPr/>
        </p:nvSpPr>
        <p:spPr>
          <a:xfrm>
            <a:off x="4403725" y="1762125"/>
            <a:ext cx="33845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2681666-8799-465D-A1E5-C2B4183A398C}"/>
              </a:ext>
            </a:extLst>
          </p:cNvPr>
          <p:cNvSpPr>
            <a:spLocks noGrp="1"/>
          </p:cNvSpPr>
          <p:nvPr/>
        </p:nvSpPr>
        <p:spPr>
          <a:xfrm>
            <a:off x="4403725" y="2286000"/>
            <a:ext cx="3384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Shuffle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418E9C1-0A69-421C-B454-20537DED8765}"/>
              </a:ext>
            </a:extLst>
          </p:cNvPr>
          <p:cNvSpPr>
            <a:spLocks noGrp="1"/>
          </p:cNvSpPr>
          <p:nvPr/>
        </p:nvSpPr>
        <p:spPr>
          <a:xfrm>
            <a:off x="4575175" y="3048000"/>
            <a:ext cx="304165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7DB98B-91F1-4413-AF0F-7540D9755F02}"/>
              </a:ext>
            </a:extLst>
          </p:cNvPr>
          <p:cNvSpPr>
            <a:spLocks noGrp="1"/>
          </p:cNvSpPr>
          <p:nvPr/>
        </p:nvSpPr>
        <p:spPr>
          <a:xfrm>
            <a:off x="4451350" y="3286125"/>
            <a:ext cx="328930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把相同類型結果整理到一起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F80BA0-9CED-42B1-A611-75443854D391}"/>
              </a:ext>
            </a:extLst>
          </p:cNvPr>
          <p:cNvSpPr>
            <a:spLocks noGrp="1"/>
          </p:cNvSpPr>
          <p:nvPr/>
        </p:nvSpPr>
        <p:spPr>
          <a:xfrm>
            <a:off x="7997825" y="1762125"/>
            <a:ext cx="33845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87D1A86-2741-4667-A5F7-F19C6A211CD6}"/>
              </a:ext>
            </a:extLst>
          </p:cNvPr>
          <p:cNvSpPr>
            <a:spLocks noGrp="1"/>
          </p:cNvSpPr>
          <p:nvPr/>
        </p:nvSpPr>
        <p:spPr>
          <a:xfrm>
            <a:off x="7997825" y="2286000"/>
            <a:ext cx="3384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Reduce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F7B8F29-9062-4C31-94F0-AFEE38349451}"/>
              </a:ext>
            </a:extLst>
          </p:cNvPr>
          <p:cNvSpPr>
            <a:spLocks noGrp="1"/>
          </p:cNvSpPr>
          <p:nvPr/>
        </p:nvSpPr>
        <p:spPr>
          <a:xfrm>
            <a:off x="8169275" y="3048000"/>
            <a:ext cx="3041650" cy="19050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D77F782-5766-4041-BFA3-43523004DD49}"/>
              </a:ext>
            </a:extLst>
          </p:cNvPr>
          <p:cNvSpPr>
            <a:spLocks noGrp="1"/>
          </p:cNvSpPr>
          <p:nvPr/>
        </p:nvSpPr>
        <p:spPr>
          <a:xfrm>
            <a:off x="8045450" y="3286125"/>
            <a:ext cx="328930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彙整成最後結果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D09E11-0393-4804-91E0-19510E294B6E}"/>
              </a:ext>
            </a:extLst>
          </p:cNvPr>
          <p:cNvSpPr>
            <a:spLocks noGrp="1"/>
          </p:cNvSpPr>
          <p:nvPr/>
        </p:nvSpPr>
        <p:spPr>
          <a:xfrm>
            <a:off x="1809750" y="5048250"/>
            <a:ext cx="85725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例：不同電腦先統計各分店交易，再彙總全行結果</a:t>
            </a:r>
          </a:p>
        </p:txBody>
      </p:sp>
    </p:spTree>
    <p:extLst>
      <p:ext uri="{BB962C8B-B14F-4D97-AF65-F5344CB8AC3E}">
        <p14:creationId xmlns:p14="http://schemas.microsoft.com/office/powerpoint/2010/main" val="3258883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564B7D4-2C2C-4FF2-B631-F3959C368B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C32355-658A-4F9F-98A1-F01B680D2FBE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雲端運算的角色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F10C88-2121-40D4-999B-C640D4BB513F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06/11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2A9A4A7-C0ED-4D11-A6BF-9914E1C425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8DDB83-E43C-456B-8560-9E60397C941D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3ACFF6-96EC-46EA-9D75-91F199CDB700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資源取得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9DAE7A-7757-47E2-84E7-EE68B5C021C2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依需求使用運算、儲存與平台服務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AFEB1F-C4A1-43DC-BFDC-0C1E9CD17379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F5C2E52-00A2-44EB-8EC7-2DA3D584CF32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彈性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21A113-7E07-4AFC-A179-933FDB7545B6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工作量增加時可調整資源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05FB79-B568-45F5-B800-C38241A9F576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B88430-4DEF-45DB-AF32-B10932081859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管理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59B8BF-6FD5-4057-A5E1-5809FE4845D7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由服務提供者處理部分基礎設施工作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79B6516-0F39-4512-ACC6-1129FCBF04B2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626FD83-6D65-4FE3-8B6F-13CA389299DF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責任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0B76DC-FD4F-4FFD-9289-9D209E57826C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組織仍需管理權限、資料安全與成本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CF50704-4533-4EAF-B94D-FEB8BA5D17F0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7322703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E8DC463-2079-452C-84F1-58B0F02BE8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A36B5C-167A-4374-97F7-2968A95CAEBD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批次架構與即時架構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AE1BD8-4333-4460-AF25-5BD93B1058E0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07/11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B1CFA35-34D7-4701-9BF9-D2658D23F9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3E9810-C335-48C1-B8B6-FCCC683E163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2BB14BF-0DA4-4D2D-BAF7-3D8F007312B7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6E9F72"/>
                </a:solidFill>
                <a:latin typeface="微軟正黑體"/>
                <a:ea typeface="微軟正黑體"/>
                <a:cs typeface="微軟正黑體"/>
              </a:rPr>
              <a:t>批次分析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64D245F-6A2C-405D-AAE8-13CA210D87C7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即時分析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B31147A-4B2E-4030-83B9-6B773021EF04}"/>
              </a:ext>
            </a:extLst>
          </p:cNvPr>
          <p:cNvSpPr>
            <a:spLocks noGrp="1"/>
          </p:cNvSpPr>
          <p:nvPr/>
        </p:nvSpPr>
        <p:spPr>
          <a:xfrm>
            <a:off x="6000750" y="1619250"/>
            <a:ext cx="19050" cy="38576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86F2506-8027-4639-81AD-571FB3EB8614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762500" cy="3048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日終或月底集中處理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適合完整報表與歷史趨勢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允許較長處理時間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A1821A-BC63-435A-B1EA-AFE3E3DD1184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762500" cy="3048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事件進入後立即處理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適合交易監測與系統告警</a:t>
            </a:r>
          </a:p>
          <a:p>
            <a:pPr marL="254000" indent="-127000">
              <a:spcAft>
                <a:spcPts val="1200"/>
              </a:spcAft>
              <a:buChar char="•"/>
              <a:def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要求低延遲與穩定運作</a:t>
            </a:r>
          </a:p>
        </p:txBody>
      </p:sp>
    </p:spTree>
    <p:extLst>
      <p:ext uri="{BB962C8B-B14F-4D97-AF65-F5344CB8AC3E}">
        <p14:creationId xmlns:p14="http://schemas.microsoft.com/office/powerpoint/2010/main" val="11463536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8DFF458-6165-44BF-A3BB-97741D2F5A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7AE1633-2DFA-42D1-B55A-64D597655808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分析層的工作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67003B-6978-42CC-BEBC-F831E9D02C23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08/11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6F1B42-9A0F-44D1-8795-6571A7615EB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CCFD7F-90B9-4397-84C8-5E8FEFAE8D86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0FD50CF-2882-434B-AA60-E9D69DBA583D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查詢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D092E2E-F536-439E-98A6-7BC47C313FB3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依條件找出資料與彙總結果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87C28A2-6B5D-4C47-B335-AD6C7A298E49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A995B1-DBFD-40DB-BAB3-3970F6AF5F1B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商業智慧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36EF028-96C7-417D-9AEF-B4393BD9A992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以報表與儀表板掌握營運狀況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CCB3015-2DB5-4F6F-9D06-18F86553A925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7F97E17-4E6A-40CE-AD17-4F7753599044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資料探勘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4FCFCA5-F1E0-4CEB-B8F5-64A43A35AC13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找出分群、關聯、分類與預測模式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9B54F2C-149C-4AE7-A32D-32901C78A6C5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E589568-6333-4EF8-BD4F-E3066B368A37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模型服務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A37B8F1-03E5-4595-9156-60EE9E77C4EF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把分析結果接回實際作業流程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EDB7262-BC7C-4136-85FD-DEEC1D256753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9773893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CAFF59E-60FC-4F3D-A51B-00104A809A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DB55A5-D3DF-4E4C-B277-9D886B8E3768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視覺化讓結果可理解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9EE73B-3F03-4D42-BAC4-98B125BA9C07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09/11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E6D63E-BE6D-4E99-933C-53630CCBD69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1B5C48-7F28-493D-98C6-C4AB13D361B4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3482E9A-0BF1-4A63-ABF7-F65B2F883D31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比較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AA21E2-FB05-405F-9800-2E6B92D2DA32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長條圖呈現類別差異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93B57C5-DFCB-4BE1-B23F-2A18F58DA4BD}"/>
              </a:ext>
            </a:extLst>
          </p:cNvPr>
          <p:cNvSpPr>
            <a:spLocks noGrp="1"/>
          </p:cNvSpPr>
          <p:nvPr/>
        </p:nvSpPr>
        <p:spPr>
          <a:xfrm>
            <a:off x="809625" y="2409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6DCF1A-BBC9-48C8-8818-3D93A0A6858B}"/>
              </a:ext>
            </a:extLst>
          </p:cNvPr>
          <p:cNvSpPr>
            <a:spLocks noGrp="1"/>
          </p:cNvSpPr>
          <p:nvPr/>
        </p:nvSpPr>
        <p:spPr>
          <a:xfrm>
            <a:off x="857250" y="24479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趨勢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C2595A9-C8DC-4F4E-A40C-123E96704F5F}"/>
              </a:ext>
            </a:extLst>
          </p:cNvPr>
          <p:cNvSpPr>
            <a:spLocks noGrp="1"/>
          </p:cNvSpPr>
          <p:nvPr/>
        </p:nvSpPr>
        <p:spPr>
          <a:xfrm>
            <a:off x="3286125" y="24479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折線圖呈現時間變化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55A8B6-E400-4301-AE60-11E8313A258C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AC35A5C-EF89-4903-A793-AF34E370E83D}"/>
              </a:ext>
            </a:extLst>
          </p:cNvPr>
          <p:cNvSpPr>
            <a:spLocks noGrp="1"/>
          </p:cNvSpPr>
          <p:nvPr/>
        </p:nvSpPr>
        <p:spPr>
          <a:xfrm>
            <a:off x="857250" y="341947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關係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6505006-B83B-4AF6-964D-A1965F3636A2}"/>
              </a:ext>
            </a:extLst>
          </p:cNvPr>
          <p:cNvSpPr>
            <a:spLocks noGrp="1"/>
          </p:cNvSpPr>
          <p:nvPr/>
        </p:nvSpPr>
        <p:spPr>
          <a:xfrm>
            <a:off x="3286125" y="341947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散佈圖呈現兩個數值的關係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75E2FE4-65B0-4B9F-8930-B87FCD978078}"/>
              </a:ext>
            </a:extLst>
          </p:cNvPr>
          <p:cNvSpPr>
            <a:spLocks noGrp="1"/>
          </p:cNvSpPr>
          <p:nvPr/>
        </p:nvSpPr>
        <p:spPr>
          <a:xfrm>
            <a:off x="809625" y="43529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DAE1A38-7D04-4E2B-821A-19673A6E2572}"/>
              </a:ext>
            </a:extLst>
          </p:cNvPr>
          <p:cNvSpPr>
            <a:spLocks noGrp="1"/>
          </p:cNvSpPr>
          <p:nvPr/>
        </p:nvSpPr>
        <p:spPr>
          <a:xfrm>
            <a:off x="857250" y="4391025"/>
            <a:ext cx="2238375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原則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20824E6-DEB7-478F-B923-E122B06D6A28}"/>
              </a:ext>
            </a:extLst>
          </p:cNvPr>
          <p:cNvSpPr>
            <a:spLocks noGrp="1"/>
          </p:cNvSpPr>
          <p:nvPr/>
        </p:nvSpPr>
        <p:spPr>
          <a:xfrm>
            <a:off x="3286125" y="4391025"/>
            <a:ext cx="790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先確認讀者與問題，再選圖表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DC1A276-1F43-4DFC-899F-22DCBEEA57B4}"/>
              </a:ext>
            </a:extLst>
          </p:cNvPr>
          <p:cNvSpPr>
            <a:spLocks noGrp="1"/>
          </p:cNvSpPr>
          <p:nvPr/>
        </p:nvSpPr>
        <p:spPr>
          <a:xfrm>
            <a:off x="809625" y="53244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C12F19C-0983-4FF9-9A54-F10309F22C0D}"/>
              </a:ext>
            </a:extLst>
          </p:cNvPr>
          <p:cNvSpPr>
            <a:spLocks noGrp="1"/>
          </p:cNvSpPr>
          <p:nvPr/>
        </p:nvSpPr>
        <p:spPr>
          <a:xfrm>
            <a:off x="2428875" y="5476875"/>
            <a:ext cx="7334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75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圖表的工作是縮短理解時間，不是增加裝飾</a:t>
            </a:r>
          </a:p>
        </p:txBody>
      </p:sp>
    </p:spTree>
    <p:extLst>
      <p:ext uri="{BB962C8B-B14F-4D97-AF65-F5344CB8AC3E}">
        <p14:creationId xmlns:p14="http://schemas.microsoft.com/office/powerpoint/2010/main" val="9990374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4175F910-0C2F-4C07-A1FB-A1C0EE8EA1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A3295D-9E9C-4CDB-8D6F-D8B4EFBC9CA5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Week 03 全週小結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023ECB-7887-42A0-8514-8433D8DEEA5C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10/11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3956CE-4CA8-4A8F-AEE9-9D0A4924A2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39E7E1A-A67F-4EE4-8620-41E0AEF8583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4A8B66-AA31-4EE8-BA08-B06ADDF7B5DA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資料型態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77E2DF-A2F8-45B1-8272-42D6FD0FDFF8}"/>
              </a:ext>
            </a:extLst>
          </p:cNvPr>
          <p:cNvSpPr>
            <a:spLocks noGrp="1"/>
          </p:cNvSpPr>
          <p:nvPr/>
        </p:nvSpPr>
        <p:spPr>
          <a:xfrm>
            <a:off x="3286125" y="1476375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決定儲存與處理方式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C2FF45-0A29-4B51-915F-AC83D4532EC9}"/>
              </a:ext>
            </a:extLst>
          </p:cNvPr>
          <p:cNvSpPr>
            <a:spLocks noGrp="1"/>
          </p:cNvSpPr>
          <p:nvPr/>
        </p:nvSpPr>
        <p:spPr>
          <a:xfrm>
            <a:off x="809625" y="2305050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CEF44B6-3FD4-4E8B-8B01-71671EB4CEA3}"/>
              </a:ext>
            </a:extLst>
          </p:cNvPr>
          <p:cNvSpPr>
            <a:spLocks noGrp="1"/>
          </p:cNvSpPr>
          <p:nvPr/>
        </p:nvSpPr>
        <p:spPr>
          <a:xfrm>
            <a:off x="857250" y="2343150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儲存整合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0B8D11-605C-4565-953A-7816435A26F8}"/>
              </a:ext>
            </a:extLst>
          </p:cNvPr>
          <p:cNvSpPr>
            <a:spLocks noGrp="1"/>
          </p:cNvSpPr>
          <p:nvPr/>
        </p:nvSpPr>
        <p:spPr>
          <a:xfrm>
            <a:off x="3286125" y="2343150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讓分散資料形成共同版本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65527C9-8155-4DC9-ADC0-8F6AEE9E1AF9}"/>
              </a:ext>
            </a:extLst>
          </p:cNvPr>
          <p:cNvSpPr>
            <a:spLocks noGrp="1"/>
          </p:cNvSpPr>
          <p:nvPr/>
        </p:nvSpPr>
        <p:spPr>
          <a:xfrm>
            <a:off x="809625" y="317182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D368F2F-A76B-43A6-9B5E-4F5BB2B10173}"/>
              </a:ext>
            </a:extLst>
          </p:cNvPr>
          <p:cNvSpPr>
            <a:spLocks noGrp="1"/>
          </p:cNvSpPr>
          <p:nvPr/>
        </p:nvSpPr>
        <p:spPr>
          <a:xfrm>
            <a:off x="857250" y="3209925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分散與雲端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86F14B-366C-4F89-8B92-4DECE4FAE0B8}"/>
              </a:ext>
            </a:extLst>
          </p:cNvPr>
          <p:cNvSpPr>
            <a:spLocks noGrp="1"/>
          </p:cNvSpPr>
          <p:nvPr/>
        </p:nvSpPr>
        <p:spPr>
          <a:xfrm>
            <a:off x="3286125" y="3209925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支援更大規模與彈性資源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586E902-D33C-4BDA-A4F0-B37416E37214}"/>
              </a:ext>
            </a:extLst>
          </p:cNvPr>
          <p:cNvSpPr>
            <a:spLocks noGrp="1"/>
          </p:cNvSpPr>
          <p:nvPr/>
        </p:nvSpPr>
        <p:spPr>
          <a:xfrm>
            <a:off x="809625" y="4038600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7049662-F6C3-4A7F-90F4-02A99D46CD53}"/>
              </a:ext>
            </a:extLst>
          </p:cNvPr>
          <p:cNvSpPr>
            <a:spLocks noGrp="1"/>
          </p:cNvSpPr>
          <p:nvPr/>
        </p:nvSpPr>
        <p:spPr>
          <a:xfrm>
            <a:off x="857250" y="4076700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分析呈現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E41F7AB-3642-41AD-ADC3-83355A353BD0}"/>
              </a:ext>
            </a:extLst>
          </p:cNvPr>
          <p:cNvSpPr>
            <a:spLocks noGrp="1"/>
          </p:cNvSpPr>
          <p:nvPr/>
        </p:nvSpPr>
        <p:spPr>
          <a:xfrm>
            <a:off x="3286125" y="4076700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把資料轉成可理解、可使用的結果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EF4502-35F7-449C-B80A-2E52AA68788F}"/>
              </a:ext>
            </a:extLst>
          </p:cNvPr>
          <p:cNvSpPr>
            <a:spLocks noGrp="1"/>
          </p:cNvSpPr>
          <p:nvPr/>
        </p:nvSpPr>
        <p:spPr>
          <a:xfrm>
            <a:off x="809625" y="4905375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8E30039-829A-47D7-A82A-F65BF987827C}"/>
              </a:ext>
            </a:extLst>
          </p:cNvPr>
          <p:cNvSpPr>
            <a:spLocks noGrp="1"/>
          </p:cNvSpPr>
          <p:nvPr/>
        </p:nvSpPr>
        <p:spPr>
          <a:xfrm>
            <a:off x="857250" y="4943475"/>
            <a:ext cx="2238375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選擇原則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FFE51C4-EA39-4792-967B-BC3DABE31646}"/>
              </a:ext>
            </a:extLst>
          </p:cNvPr>
          <p:cNvSpPr>
            <a:spLocks noGrp="1"/>
          </p:cNvSpPr>
          <p:nvPr/>
        </p:nvSpPr>
        <p:spPr>
          <a:xfrm>
            <a:off x="3286125" y="4943475"/>
            <a:ext cx="7905750" cy="771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配合問題、時限、安全與成本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930B787-53D5-4917-B3E2-ABD5DBE2AA90}"/>
              </a:ext>
            </a:extLst>
          </p:cNvPr>
          <p:cNvSpPr>
            <a:spLocks noGrp="1"/>
          </p:cNvSpPr>
          <p:nvPr/>
        </p:nvSpPr>
        <p:spPr>
          <a:xfrm>
            <a:off x="809625" y="5772150"/>
            <a:ext cx="10525125" cy="9525"/>
          </a:xfrm>
          <a:prstGeom prst="rect">
            <a:avLst/>
          </a:prstGeom>
          <a:solidFill>
            <a:srgbClr val="B9CEBF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8974717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FA3B54C-85FC-4E85-A120-0314AD7DDA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95151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466086D-0644-4244-B6FA-E85C8282574B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914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850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本節搶答題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220CB4E-74BC-4041-84D7-E9FB30C4FC5B}"/>
              </a:ext>
            </a:extLst>
          </p:cNvPr>
          <p:cNvSpPr>
            <a:spLocks noGrp="1"/>
          </p:cNvSpPr>
          <p:nvPr/>
        </p:nvSpPr>
        <p:spPr>
          <a:xfrm>
            <a:off x="685800" y="1000125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5 分鐘｜先作答，再核對答案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D89B1E-90F3-4D1B-A90F-8944492F4CB8}"/>
              </a:ext>
            </a:extLst>
          </p:cNvPr>
          <p:cNvSpPr>
            <a:spLocks noGrp="1"/>
          </p:cNvSpPr>
          <p:nvPr/>
        </p:nvSpPr>
        <p:spPr>
          <a:xfrm>
            <a:off x="10096500" y="4572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350" b="1">
                <a:solidFill>
                  <a:srgbClr val="C95151"/>
                </a:solidFill>
                <a:latin typeface="微軟正黑體"/>
                <a:ea typeface="微軟正黑體"/>
                <a:cs typeface="微軟正黑體"/>
              </a:rPr>
              <a:t>第三節  11/11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667666-730F-4BA2-82A9-87DC10ACE85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大數據｜Week 03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F1068E-7DEA-464D-8B8E-5264E9C154C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200" b="0">
                <a:solidFill>
                  <a:srgbClr val="597276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D193545-3AAC-424C-8E42-0DC36E6EE891}"/>
              </a:ext>
            </a:extLst>
          </p:cNvPr>
          <p:cNvSpPr>
            <a:spLocks noGrp="1"/>
          </p:cNvSpPr>
          <p:nvPr/>
        </p:nvSpPr>
        <p:spPr>
          <a:xfrm>
            <a:off x="809625" y="142875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1. HDFS 的核心概念較接近？（A 分散儲存　B 圖表美化）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B1B47A-4018-4825-A434-1B381D49CB61}"/>
              </a:ext>
            </a:extLst>
          </p:cNvPr>
          <p:cNvSpPr>
            <a:spLocks noGrp="1"/>
          </p:cNvSpPr>
          <p:nvPr/>
        </p:nvSpPr>
        <p:spPr>
          <a:xfrm>
            <a:off x="809625" y="2200275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2. MapReduce 的 Map 主要做什麼？（A 拆分並行工作　B 最後彙整）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C01A96A-4AA2-43C9-A63E-EFAC9468EAB9}"/>
              </a:ext>
            </a:extLst>
          </p:cNvPr>
          <p:cNvSpPr>
            <a:spLocks noGrp="1"/>
          </p:cNvSpPr>
          <p:nvPr/>
        </p:nvSpPr>
        <p:spPr>
          <a:xfrm>
            <a:off x="809625" y="297180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3. 使用雲端後，組織是否仍需管理權限與安全？（A 需要　B 不需要）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3A7E660-AE6C-4D58-BDE9-DC6F19BF0EC9}"/>
              </a:ext>
            </a:extLst>
          </p:cNvPr>
          <p:cNvSpPr>
            <a:spLocks noGrp="1"/>
          </p:cNvSpPr>
          <p:nvPr/>
        </p:nvSpPr>
        <p:spPr>
          <a:xfrm>
            <a:off x="809625" y="3743325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4. 呈現時間趨勢通常適合什麼圖？（A 折線圖　B 圓餅圖）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23B6421-A650-4985-96E9-1C836D7794C6}"/>
              </a:ext>
            </a:extLst>
          </p:cNvPr>
          <p:cNvSpPr>
            <a:spLocks noGrp="1"/>
          </p:cNvSpPr>
          <p:nvPr/>
        </p:nvSpPr>
        <p:spPr>
          <a:xfrm>
            <a:off x="809625" y="4514850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0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5. 選擇技術時最重要的是？（A 配合問題與時限　B 名稱最新）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B5427D75-14E3-4550-8CFA-9D66C70D52DF}"/>
              </a:ext>
            </a:extLst>
          </p:cNvPr>
          <p:cNvSpPr>
            <a:spLocks noGrp="1"/>
          </p:cNvSpPr>
          <p:nvPr/>
        </p:nvSpPr>
        <p:spPr>
          <a:xfrm>
            <a:off x="666750" y="5467350"/>
            <a:ext cx="10858500" cy="685800"/>
          </a:xfrm>
          <a:prstGeom prst="roundRect">
            <a:avLst>
              <a:gd name="adj" fmla="val 11111"/>
            </a:avLst>
          </a:prstGeom>
          <a:solidFill>
            <a:srgbClr val="F6E6D7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B04CC9-623D-4F5F-A5B9-F6B5E0A3BF85}"/>
              </a:ext>
            </a:extLst>
          </p:cNvPr>
          <p:cNvSpPr>
            <a:spLocks noGrp="1"/>
          </p:cNvSpPr>
          <p:nvPr/>
        </p:nvSpPr>
        <p:spPr>
          <a:xfrm>
            <a:off x="857250" y="556260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75" b="1">
                <a:solidFill>
                  <a:srgbClr val="17383E"/>
                </a:solidFill>
                <a:latin typeface="微軟正黑體"/>
                <a:ea typeface="微軟正黑體"/>
                <a:cs typeface="微軟正黑體"/>
              </a:rPr>
              <a:t>答案：1-A　2-A　3-A　4-A　5-A</a:t>
            </a:r>
          </a:p>
        </p:txBody>
      </p:sp>
    </p:spTree>
    <p:extLst>
      <p:ext uri="{BB962C8B-B14F-4D97-AF65-F5344CB8AC3E}">
        <p14:creationId xmlns:p14="http://schemas.microsoft.com/office/powerpoint/2010/main" val="92287653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1447</Words>
  <Application>Microsoft Office PowerPoint</Application>
  <DocSecurity>0</DocSecurity>
  <PresentationFormat>寬螢幕</PresentationFormat>
  <Paragraphs>474</Paragraphs>
  <Slides>33</Slides>
  <Notes>33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33</vt:i4>
      </vt:variant>
    </vt:vector>
  </HeadingPairs>
  <TitlesOfParts>
    <vt:vector size="36" baseType="lpstr">
      <vt:lpstr>微軟正黑體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桂珍 邱</cp:lastModifiedBy>
  <cp:revision>1</cp:revision>
  <dcterms:created xsi:type="dcterms:W3CDTF">2026-09-04T06:56:57Z</dcterms:created>
  <dcterms:modified xsi:type="dcterms:W3CDTF">2026-09-04T06:58:22Z</dcterms:modified>
</cp:coreProperties>
</file>