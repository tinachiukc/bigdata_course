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89" r:id="rId5"/>
    <p:sldId id="259" r:id="rId6"/>
    <p:sldId id="260" r:id="rId7"/>
    <p:sldId id="261" r:id="rId8"/>
    <p:sldId id="262" r:id="rId9"/>
    <p:sldId id="263" r:id="rId10"/>
    <p:sldId id="290" r:id="rId11"/>
    <p:sldId id="264" r:id="rId12"/>
    <p:sldId id="265" r:id="rId13"/>
    <p:sldId id="266" r:id="rId14"/>
    <p:sldId id="267" r:id="rId15"/>
    <p:sldId id="291" r:id="rId16"/>
    <p:sldId id="268" r:id="rId17"/>
    <p:sldId id="292" r:id="rId18"/>
    <p:sldId id="269" r:id="rId19"/>
    <p:sldId id="270" r:id="rId20"/>
    <p:sldId id="293" r:id="rId21"/>
    <p:sldId id="271" r:id="rId22"/>
    <p:sldId id="294" r:id="rId23"/>
    <p:sldId id="272" r:id="rId24"/>
    <p:sldId id="295" r:id="rId25"/>
    <p:sldId id="273" r:id="rId26"/>
    <p:sldId id="296" r:id="rId27"/>
    <p:sldId id="274" r:id="rId28"/>
    <p:sldId id="297" r:id="rId29"/>
    <p:sldId id="275" r:id="rId30"/>
    <p:sldId id="276" r:id="rId31"/>
    <p:sldId id="277" r:id="rId32"/>
    <p:sldId id="278" r:id="rId33"/>
    <p:sldId id="298" r:id="rId34"/>
    <p:sldId id="279" r:id="rId35"/>
    <p:sldId id="280" r:id="rId36"/>
    <p:sldId id="281" r:id="rId37"/>
    <p:sldId id="282" r:id="rId38"/>
    <p:sldId id="299" r:id="rId39"/>
    <p:sldId id="283" r:id="rId40"/>
    <p:sldId id="300" r:id="rId41"/>
    <p:sldId id="284" r:id="rId42"/>
    <p:sldId id="285" r:id="rId43"/>
    <p:sldId id="301" r:id="rId44"/>
    <p:sldId id="286" r:id="rId45"/>
    <p:sldId id="287" r:id="rId46"/>
    <p:sldId id="288" r:id="rId4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教學提示：先回顧 Week 02 的應用流程。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教學提示：先講用途，再講技術名稱。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教學提示：請學生各舉一個金融資料例子。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教學提示：使用交易表與客戶表說明。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教學提示：只建立概念，不教格式語法。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教學提示：預告 W15 文字探勘。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教學提示：用月結報表與詐欺偵測比較。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教學提示：提醒同一來源可以支援多個用途。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教學提示：請學生指出哪些步驟需要即時完成。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教學提示：用一分鐘重述資料旅程。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教學提示：先建立四種用途，不要求背產品名稱。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教學提示：連結學生使用網銀時的即時交易。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教學提示：避免把資料倉儲說成單純的大型資料庫。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教學提示：來源對應舊教材資料倉儲四特性。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教學提示：比較全企業資料倉儲與部門資料市集。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教學提示：資料湖為新版補充，不深入產品架構。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教學提示：以用途比較，避免絕對化。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教學提示：只講流程差異，不比較特定產品。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教學提示：以定義不一致說明整合難點。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教學提示：請學生用一句話區分資料庫與資料倉儲。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教學提示：用合作完成大量工作作為比喻。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教學提示：不講節點配置或程式細節。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教學提示：依舊教材第 102–109 頁更新定位。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教學提示：副本數不固定背誦，重點是容錯概念。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教學提示：用分店交易統計取代程式語法。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教學提示：避免把雲端說成完全外包責任。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教學提示：再次連回第一節的時限概念。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教學提示：預告 W04 與後續分析方法。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教學提示：舊教材第 121–123 頁與 W05 視覺化內容濃縮。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教學提示：預告 W04 大數據核心技術與方法選擇。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87–123 頁；必要處依新版重組規劃補充。</a:t>
            </a:r>
          </a:p>
          <a:p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1C489C0-30A3-41AC-980F-D3251D0DD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9F224F-271B-4EF8-8710-64CC1C62990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03｜大數據的技術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70BB5B-80BE-420B-B5F0-389FC8151A00}"/>
              </a:ext>
            </a:extLst>
          </p:cNvPr>
          <p:cNvSpPr>
            <a:spLocks noGrp="1"/>
          </p:cNvSpPr>
          <p:nvPr/>
        </p:nvSpPr>
        <p:spPr>
          <a:xfrm>
            <a:off x="685800" y="1005876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三節路線：技術全貌、儲存整合、處理與呈現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A3063A-03E9-42B0-A76F-F025B2620E5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9CB01B-AADC-49B9-9B42-840441719AF8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技術的工作，是讓資料可靠地走到決策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E0BBB0-CF04-42A5-AA3E-D5364F0BCB50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A26444-C9D1-43A3-82DF-0E43B0795626}"/>
              </a:ext>
            </a:extLst>
          </p:cNvPr>
          <p:cNvSpPr>
            <a:spLocks noGrp="1"/>
          </p:cNvSpPr>
          <p:nvPr/>
        </p:nvSpPr>
        <p:spPr>
          <a:xfrm>
            <a:off x="114300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資料與技術全貌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B61976-65A5-4D89-8969-7CE46DD92A59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603508-799B-44BB-A830-5A8902EA6883}"/>
              </a:ext>
            </a:extLst>
          </p:cNvPr>
          <p:cNvSpPr>
            <a:spLocks noGrp="1"/>
          </p:cNvSpPr>
          <p:nvPr/>
        </p:nvSpPr>
        <p:spPr>
          <a:xfrm>
            <a:off x="466725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儲存與整合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FFC4FC-D6E8-488A-9B17-7496A19F97C9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66D553-7EF6-4E57-8CCA-92E81B754813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處理、分析與呈現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55BEC8-E1D6-4C4A-ACDE-ACF96315DDBB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8477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本週不寫程式，重點是看懂資料在系統中的旅程</a:t>
            </a:r>
          </a:p>
        </p:txBody>
      </p:sp>
    </p:spTree>
    <p:extLst>
      <p:ext uri="{BB962C8B-B14F-4D97-AF65-F5344CB8AC3E}">
        <p14:creationId xmlns:p14="http://schemas.microsoft.com/office/powerpoint/2010/main" val="10670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4749ED8B-B34A-4B5F-A846-7A2A081CD9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735A59-9B5C-42B8-B99B-7ED0D7F745E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從業務問題到技術流程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9138C2-2B44-4793-B9CD-DB09CA26F75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CBBBE9-B768-4F99-8797-A32EAB99217C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194691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EA3F4-EFCC-407C-A254-B26EBF50D5F3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19469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來源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9F8656-0122-4A71-95F5-3A28FF37980E}"/>
              </a:ext>
            </a:extLst>
          </p:cNvPr>
          <p:cNvSpPr>
            <a:spLocks noGrp="1"/>
          </p:cNvSpPr>
          <p:nvPr/>
        </p:nvSpPr>
        <p:spPr>
          <a:xfrm>
            <a:off x="981075" y="3048000"/>
            <a:ext cx="160401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B4C15A-45BC-4978-AC67-EFBD109323FE}"/>
              </a:ext>
            </a:extLst>
          </p:cNvPr>
          <p:cNvSpPr>
            <a:spLocks noGrp="1"/>
          </p:cNvSpPr>
          <p:nvPr/>
        </p:nvSpPr>
        <p:spPr>
          <a:xfrm>
            <a:off x="857250" y="3286125"/>
            <a:ext cx="185166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交易與客服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9E5551-4A5E-45A1-934D-7A74BDB0BEF9}"/>
              </a:ext>
            </a:extLst>
          </p:cNvPr>
          <p:cNvSpPr>
            <a:spLocks noGrp="1"/>
          </p:cNvSpPr>
          <p:nvPr/>
        </p:nvSpPr>
        <p:spPr>
          <a:xfrm>
            <a:off x="2966085" y="1762125"/>
            <a:ext cx="194691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B74A77-48E3-463B-A561-9735812000A1}"/>
              </a:ext>
            </a:extLst>
          </p:cNvPr>
          <p:cNvSpPr>
            <a:spLocks noGrp="1"/>
          </p:cNvSpPr>
          <p:nvPr/>
        </p:nvSpPr>
        <p:spPr>
          <a:xfrm>
            <a:off x="2966085" y="2286000"/>
            <a:ext cx="19469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0836F5-A650-47A8-AA9F-67E263E397C3}"/>
              </a:ext>
            </a:extLst>
          </p:cNvPr>
          <p:cNvSpPr>
            <a:spLocks noGrp="1"/>
          </p:cNvSpPr>
          <p:nvPr/>
        </p:nvSpPr>
        <p:spPr>
          <a:xfrm>
            <a:off x="3137535" y="3048000"/>
            <a:ext cx="160401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039311-8B2A-4316-8A21-E85430900C9C}"/>
              </a:ext>
            </a:extLst>
          </p:cNvPr>
          <p:cNvSpPr>
            <a:spLocks noGrp="1"/>
          </p:cNvSpPr>
          <p:nvPr/>
        </p:nvSpPr>
        <p:spPr>
          <a:xfrm>
            <a:off x="3013710" y="3286125"/>
            <a:ext cx="185166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清理並接系統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CE499B-BC17-4505-857C-5177C0A87A02}"/>
              </a:ext>
            </a:extLst>
          </p:cNvPr>
          <p:cNvSpPr>
            <a:spLocks noGrp="1"/>
          </p:cNvSpPr>
          <p:nvPr/>
        </p:nvSpPr>
        <p:spPr>
          <a:xfrm>
            <a:off x="5122545" y="1762125"/>
            <a:ext cx="194691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2157B-D0CB-412C-B8A3-3571887C0FC5}"/>
              </a:ext>
            </a:extLst>
          </p:cNvPr>
          <p:cNvSpPr>
            <a:spLocks noGrp="1"/>
          </p:cNvSpPr>
          <p:nvPr/>
        </p:nvSpPr>
        <p:spPr>
          <a:xfrm>
            <a:off x="5122545" y="2286000"/>
            <a:ext cx="19469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儲存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69AF6A-AEA6-4310-97CA-B665BE972783}"/>
              </a:ext>
            </a:extLst>
          </p:cNvPr>
          <p:cNvSpPr>
            <a:spLocks noGrp="1"/>
          </p:cNvSpPr>
          <p:nvPr/>
        </p:nvSpPr>
        <p:spPr>
          <a:xfrm>
            <a:off x="5293995" y="3048000"/>
            <a:ext cx="160401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7AC47F-19C6-498F-A29E-4A687871AD12}"/>
              </a:ext>
            </a:extLst>
          </p:cNvPr>
          <p:cNvSpPr>
            <a:spLocks noGrp="1"/>
          </p:cNvSpPr>
          <p:nvPr/>
        </p:nvSpPr>
        <p:spPr>
          <a:xfrm>
            <a:off x="5170170" y="3286125"/>
            <a:ext cx="185166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資料與歷史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A82B0D-2AAE-4044-A444-055186614E7C}"/>
              </a:ext>
            </a:extLst>
          </p:cNvPr>
          <p:cNvSpPr>
            <a:spLocks noGrp="1"/>
          </p:cNvSpPr>
          <p:nvPr/>
        </p:nvSpPr>
        <p:spPr>
          <a:xfrm>
            <a:off x="7279005" y="1762125"/>
            <a:ext cx="194691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714911-4FB0-4F02-A50A-E4DD899FDE8F}"/>
              </a:ext>
            </a:extLst>
          </p:cNvPr>
          <p:cNvSpPr>
            <a:spLocks noGrp="1"/>
          </p:cNvSpPr>
          <p:nvPr/>
        </p:nvSpPr>
        <p:spPr>
          <a:xfrm>
            <a:off x="7279005" y="2286000"/>
            <a:ext cx="19469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處理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843DD4-65AF-43BA-8482-9B7627517796}"/>
              </a:ext>
            </a:extLst>
          </p:cNvPr>
          <p:cNvSpPr>
            <a:spLocks noGrp="1"/>
          </p:cNvSpPr>
          <p:nvPr/>
        </p:nvSpPr>
        <p:spPr>
          <a:xfrm>
            <a:off x="7450455" y="3048000"/>
            <a:ext cx="160401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CA7CFA-B6F5-4474-8976-5581B2A9EE65}"/>
              </a:ext>
            </a:extLst>
          </p:cNvPr>
          <p:cNvSpPr>
            <a:spLocks noGrp="1"/>
          </p:cNvSpPr>
          <p:nvPr/>
        </p:nvSpPr>
        <p:spPr>
          <a:xfrm>
            <a:off x="7326630" y="3286125"/>
            <a:ext cx="185166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依時限完成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2FBDE1A-CF27-4C7F-8A60-1F3067A65F97}"/>
              </a:ext>
            </a:extLst>
          </p:cNvPr>
          <p:cNvSpPr>
            <a:spLocks noGrp="1"/>
          </p:cNvSpPr>
          <p:nvPr/>
        </p:nvSpPr>
        <p:spPr>
          <a:xfrm>
            <a:off x="9435465" y="1762125"/>
            <a:ext cx="194691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7561046-1F81-4ACB-9572-C72441620DF3}"/>
              </a:ext>
            </a:extLst>
          </p:cNvPr>
          <p:cNvSpPr>
            <a:spLocks noGrp="1"/>
          </p:cNvSpPr>
          <p:nvPr/>
        </p:nvSpPr>
        <p:spPr>
          <a:xfrm>
            <a:off x="9435465" y="2286000"/>
            <a:ext cx="19469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7E758B-7DDF-480B-A4E4-C2888A5B06CF}"/>
              </a:ext>
            </a:extLst>
          </p:cNvPr>
          <p:cNvSpPr>
            <a:spLocks noGrp="1"/>
          </p:cNvSpPr>
          <p:nvPr/>
        </p:nvSpPr>
        <p:spPr>
          <a:xfrm>
            <a:off x="9606915" y="3048000"/>
            <a:ext cx="160401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DEB489-9C5E-4DF9-BA75-5F7CBBD81253}"/>
              </a:ext>
            </a:extLst>
          </p:cNvPr>
          <p:cNvSpPr>
            <a:spLocks noGrp="1"/>
          </p:cNvSpPr>
          <p:nvPr/>
        </p:nvSpPr>
        <p:spPr>
          <a:xfrm>
            <a:off x="9483090" y="3286125"/>
            <a:ext cx="185166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分析與決策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1F693F-D16F-42FC-B791-B517B998AFF2}"/>
              </a:ext>
            </a:extLst>
          </p:cNvPr>
          <p:cNvSpPr>
            <a:spLocks noGrp="1"/>
          </p:cNvSpPr>
          <p:nvPr/>
        </p:nvSpPr>
        <p:spPr>
          <a:xfrm>
            <a:off x="2619375" y="528637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技術選擇必須配合問題、資料與時限</a:t>
            </a:r>
          </a:p>
        </p:txBody>
      </p:sp>
    </p:spTree>
    <p:extLst>
      <p:ext uri="{BB962C8B-B14F-4D97-AF65-F5344CB8AC3E}">
        <p14:creationId xmlns:p14="http://schemas.microsoft.com/office/powerpoint/2010/main" val="206518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86A1F40-97D4-4897-8629-71BE896EFF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6401CC-97C0-4BAB-8ABB-EF094DA4644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三種常見資料型態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F9906-D333-4CD2-A4F2-6084C08EE84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CD3362-BD0C-4047-8FB9-B29C44C5F71C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結構化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0638C3-30E4-43FF-AA65-051274BD78C8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欄列固定，例如交易表與客戶資料表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7419A3-31E1-4F8A-B988-F665764ABF9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AD8395-F877-4FCF-A70D-35A102B74C41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半結構化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F9B505-3D21-4B8E-B9E3-9FFD13FABC0F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有標記但結構可變，例如 JSON 與系統紀錄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02F529-5833-432D-925E-795B4A28976F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C73ADE-D294-43FA-9F5B-58770EC86576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非結構化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7858A6-437D-4B5D-AAE6-7D4DC0DF1824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沒有固定欄列，例如客服文字、語音與影像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33EDAC-115A-47A9-8219-F01A6375B2D4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BA579A-CAD3-46AD-9E09-02D4E2FC5160}"/>
              </a:ext>
            </a:extLst>
          </p:cNvPr>
          <p:cNvSpPr>
            <a:spLocks noGrp="1"/>
          </p:cNvSpPr>
          <p:nvPr/>
        </p:nvSpPr>
        <p:spPr>
          <a:xfrm>
            <a:off x="2714625" y="5286375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資料型態會影響儲存、搜尋與分析方式</a:t>
            </a:r>
          </a:p>
        </p:txBody>
      </p:sp>
    </p:spTree>
    <p:extLst>
      <p:ext uri="{BB962C8B-B14F-4D97-AF65-F5344CB8AC3E}">
        <p14:creationId xmlns:p14="http://schemas.microsoft.com/office/powerpoint/2010/main" val="35803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FE7CD20-3649-8D38-2A30-9B01247F1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5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EFE17BC-BEAC-4FB5-A178-1DF78050D8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70646-D8FB-452D-A9A0-CDFCABE3C37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結構化資料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CA54AE-AC33-4FBE-A086-8756BB87E26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FACD80-1EE3-47A2-93C6-D130C1A8F9B2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5E48A5-6EF2-46E8-B68B-F5B729CDAE57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E799C-1EBE-4C12-BF97-94CC3D5CC3D6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AEC203-B141-4806-A811-9E8564A68F80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欄位清楚，容易查詢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適合彙總、比較與報表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品質規則較容易建立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FF6402-332F-42E4-95E1-73CECA79E1BA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不同系統欄位定義不一致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代碼或日期格式不同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資料表之間缺少共同識別</a:t>
            </a:r>
          </a:p>
        </p:txBody>
      </p:sp>
    </p:spTree>
    <p:extLst>
      <p:ext uri="{BB962C8B-B14F-4D97-AF65-F5344CB8AC3E}">
        <p14:creationId xmlns:p14="http://schemas.microsoft.com/office/powerpoint/2010/main" val="85296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7CA666B-2329-4B83-99C2-70ABE91CC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BDD942-F8B0-4F46-82A8-7DF6A6A263D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半結構化資料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79EF0-0482-467E-BAB8-989591C0A4C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78090E-C5E1-430C-8B73-0DC71F8AE368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常見形式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CB6CE-033E-4895-B448-A88B53C2A16A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JSON、XML、事件紀錄與 API 回應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45946F-DC94-4D2A-AE41-45F858EFBC23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E23BB0-8E7D-42FA-8F41-DB7F46F3CC8E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結構特色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134F5D-830B-445A-993B-2A08D9B080B3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保留欄位標記，但每筆內容可能不同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E0E768-C6B8-4AD1-BA64-FC8B28EEF345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CE1133-70BB-41BA-9C2E-74E60B3FC7BB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C6C087-2E13-4675-8B0E-6ECB24074D4A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App 操作事件、系統登入紀錄與服務訊息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0C64E5-5169-4593-AB5D-E4869EF1C703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B17EE9-0611-45CB-B949-21E83870CEF0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處理重點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9F991B-C0F6-47C3-BBE8-1980624934C8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解析欄位、統一時間與確認版本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DA6BE-E73A-4445-B93D-E81DF3D1C246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71905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2D02354-289F-466C-A2FC-A9815BEA1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20EE87-8773-4F6A-AA50-034CB3D9B20A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非結構化資料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A60A88-3A54-4622-AD72-C05D63274B8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25EF81-61C6-41A1-8221-209994D012C2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常見形式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668648-CC0E-4297-82D5-2A7A241B9CC3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文字、文件、錄音、影像與影片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3DC07E-CAF9-4E6C-BCE5-BB0D459785FB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072DB7-FD5D-4E42-9C55-F5939C61BCC2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52DB1-8B3E-43AB-A537-AB44B6298A58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客服對話、申訴文件、新聞與法說內容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72F4A-D93F-4D2E-B7E9-636D3A97932F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087CF5-4C5A-4573-A4E6-048B307FD53B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分析難點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EBA791-4DA0-4A54-904B-8DFD14A72750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內容需要轉換，語意也容易受情境影響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90B3B0-B071-4601-AC82-E9995D0510F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29B5F1-565E-4E6D-8149-21189FA6239D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使用要求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98E47D-2F45-4F11-80C7-325E35D6F57F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先確認目的、權限、隱私與品質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4C232D-3EF3-4C84-896E-0AA0B7245C2F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535666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9446C5A-96EB-45FF-BB51-DEF7D5F3C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F669E-E19E-4ACF-BA0C-B2D39C1BBB0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批次與即時處理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768510-FA6C-42E8-813D-5F354A8DF87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E5BF0A-F295-4F52-838F-1A992C2A40C3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批次 Batch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97124C-4AE2-4FC3-843A-FAF2C91EB752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即時 Streaming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EDFB46-150C-409A-B76D-A3FA7FD02161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73B28C-8364-4438-94C5-CA7A3C5B109A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累積一段時間後集中處理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適合日報、月報與歷史分析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可在非尖峰時間執行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742F19-DA37-4EF9-B4DF-6496DA5F78BB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事件到達後快速處理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適合交易監測與即時提醒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更重視穩定性與反應時間</a:t>
            </a:r>
          </a:p>
        </p:txBody>
      </p:sp>
    </p:spTree>
    <p:extLst>
      <p:ext uri="{BB962C8B-B14F-4D97-AF65-F5344CB8AC3E}">
        <p14:creationId xmlns:p14="http://schemas.microsoft.com/office/powerpoint/2010/main" val="120097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B20ACF3-9B6F-4BB7-B6D6-6DF488B55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5D7963-7A93-40A1-A661-14FEDCF96AA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資料來源與用途的配對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4AF6BD-0C4C-4B65-A67F-94151FB1FEE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EA2A10-518C-48F2-8D64-735C16B40DC5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交易資料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663E3D-1397-4A85-930B-4C9BC9E8CA4F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報表、關聯分析、異常交易監測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8B8BD6-29AE-4A4A-B336-F08F8BDEDC6D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3660EF-3F95-4C45-B79B-76EC688BFA79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客戶資料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3907A8-2175-41E9-9656-D0A9F167A97E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服務分析、客戶分群與風險判斷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3D5925-499F-4629-979E-01D03BB8CCEA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629084-4FBE-458B-BCDA-BB046230FD75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系統紀錄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282347-5399-47B1-9F2A-8CFCE33C0E03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資安監測、效能與操作流程改善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D274F3-ED2E-4C0A-BEE5-4398DD64998E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63BE0C-5784-4935-A333-21941AB62A00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文字資料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4EAC6A-FB22-4174-901D-046DC41B4B87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客服議題、新聞與研究內容分析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19C1F8-E8F1-4B67-BB9F-69009B7B0FBC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5492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B4417BC-7BDF-234B-05AD-25BB5EB65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68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DD889F4-8A91-4DBE-A286-500606ED95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0A8AA7-C4E4-4CA7-A7A3-46358E3F8D3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銀行案例｜信用卡交易的資料旅程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6FDCB-7701-483C-8955-35C7DC14773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E808E1-B3F6-413B-A1AE-F23C6C454DA2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BD0130-D73A-4EE2-81C7-1051D164A60F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刷卡系統收到金額、商店、時間與裝置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E67ECD-4608-4FA2-B191-3B71F5C8B6D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DE7141-BB92-42F1-A94D-EB213CF34D50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整合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C7F75A-EC56-4D2A-8207-813F9B2B2D9F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接上帳戶狀態與歷史交易模式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8F2888-5932-47AA-8A5A-8AA49E9100A4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72AD1A-19BD-48E7-8504-41820A1D5EA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處理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54DD7C-7EED-41B9-9665-9127C0F73DDC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即時計算風險，必要時要求再次驗證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ACD160-2286-477E-A1C3-3D45F045FB49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9D6900-DBE2-47E6-9D25-1F1E190DD8E6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保存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39F7CD-E08E-47C2-9AD6-1D5C788A900E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留下交易與處置紀錄，供後續分析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27CB99-7436-42A1-B18A-50E4E708D7FB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17C5C7-5FA4-4762-9C9C-C72FDDD9B563}"/>
              </a:ext>
            </a:extLst>
          </p:cNvPr>
          <p:cNvSpPr>
            <a:spLocks noGrp="1"/>
          </p:cNvSpPr>
          <p:nvPr/>
        </p:nvSpPr>
        <p:spPr>
          <a:xfrm>
            <a:off x="2333625" y="5476875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即時判斷與歷史分析會使用不同處理節奏</a:t>
            </a:r>
          </a:p>
        </p:txBody>
      </p:sp>
    </p:spTree>
    <p:extLst>
      <p:ext uri="{BB962C8B-B14F-4D97-AF65-F5344CB8AC3E}">
        <p14:creationId xmlns:p14="http://schemas.microsoft.com/office/powerpoint/2010/main" val="1214541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BB7C446-0C06-42BF-8793-7AA0FDCF58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E6D9B7-899F-4E2B-91B2-68DF1E4214E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78D5E2-B7CE-4175-8F09-BCEE73DCD85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1565C1-B13D-40E0-B2A0-5F7B5BB91AF5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型態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C76D53-94C9-49AB-A955-29C771D581A4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結構化、半結構化與非結構化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1CAC4D-2D42-400B-9E6B-4849E8914ABD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BD7CE1-AB87-402C-AFC5-83587402CADC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來源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DA6EC7-C077-4588-81EF-A23AE178BF3E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交易、客戶、系統與外部資訊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7B7277-D284-46F8-9FCF-6E949F0C8C0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6A70C9-5F22-4345-B7AD-EA63C986E875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速度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24096E-5281-4B09-87A1-ABA153E4549D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批次處理與即時處理各有用途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A14E22-3DCB-4A26-81A2-2293CC350A5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62A5AB-17BC-4C94-AB26-6D3DA342FC9E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選擇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759E98-CEF8-4DE0-982C-CD7A70DAB9CE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技術必須配合問題、資料型態與時限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F7403D-BC6D-4F0A-84DC-B69EA38F23DE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83485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1C68CF3-58C5-496D-A5A0-945B1284A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2FBBC5-DAFC-48C2-8F56-CC49D59FA63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E9DF2E-452D-4A05-A27E-7893D506EE16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EFDA81-515C-47FB-A1D2-8F5625A8465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C4F910-0828-42E0-91BF-C8E034306C8B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交易資料表通常屬於哪一類？（A 結構化　B 非結構化）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8E8BEA-AE81-49F5-AB05-33B6B9944D5E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客服錄音通常屬於哪一類？（A 半結構化　B 非結構化）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B9E125-0973-4E13-8655-5D3BC6B0AC4C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JSON 較接近哪一類？（A 半結構化　B 紙本資料）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C8F4BE-12E5-47EB-9A03-051CFBE8D426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月底報表較適合哪種處理？（A 批次　B 即時）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158FD7-5D81-442A-B88C-20AD5DDD1CA5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詐欺交易當下判斷較重視什麼？（A 反應時間　B 投影片數）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F69CCF1-7307-4EDB-98E8-2671312DD400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DCEBD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22EA27-B9BF-42D0-B953-8E118FB5D3E5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51538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2A60CAB-C76D-48B3-A5EE-349060B20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3855E5-3EAE-4E2F-A791-96EF31B87FA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第二節｜資料儲存與整合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37895A-50B9-4A0B-AB02-08EC373CE3CF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30E71-6553-4154-8C9C-4FCD32F25DD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C1C6C0-976B-4BFD-B932-933BE3550A24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2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2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不同資料放在哪裡，取決於用途與管理方式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E4F172-E0F9-42E7-A4A1-2FA4C679C4CD}"/>
              </a:ext>
            </a:extLst>
          </p:cNvPr>
          <p:cNvSpPr>
            <a:spLocks noGrp="1"/>
          </p:cNvSpPr>
          <p:nvPr/>
        </p:nvSpPr>
        <p:spPr>
          <a:xfrm>
            <a:off x="52387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作業資料庫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B5578-AEA8-4E31-8F26-EF36B2A779A4}"/>
              </a:ext>
            </a:extLst>
          </p:cNvPr>
          <p:cNvSpPr>
            <a:spLocks noGrp="1"/>
          </p:cNvSpPr>
          <p:nvPr/>
        </p:nvSpPr>
        <p:spPr>
          <a:xfrm>
            <a:off x="52387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支援日常交易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56ABE-07C1-41C5-B4B4-3AF7856D6084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資料倉儲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5B298E-3FD8-499F-A5DE-3119F5A6FDBF}"/>
              </a:ext>
            </a:extLst>
          </p:cNvPr>
          <p:cNvSpPr>
            <a:spLocks noGrp="1"/>
          </p:cNvSpPr>
          <p:nvPr/>
        </p:nvSpPr>
        <p:spPr>
          <a:xfrm>
            <a:off x="342900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支援整合分析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A51E7-91DD-443E-8E73-64683D1BA73F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資料市集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63E230-8222-463F-97F7-B8BDC71C125A}"/>
              </a:ext>
            </a:extLst>
          </p:cNvPr>
          <p:cNvSpPr>
            <a:spLocks noGrp="1"/>
          </p:cNvSpPr>
          <p:nvPr/>
        </p:nvSpPr>
        <p:spPr>
          <a:xfrm>
            <a:off x="633412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聚焦部門需求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95954C-4381-41C4-8772-993C7F4619C8}"/>
              </a:ext>
            </a:extLst>
          </p:cNvPr>
          <p:cNvSpPr>
            <a:spLocks noGrp="1"/>
          </p:cNvSpPr>
          <p:nvPr/>
        </p:nvSpPr>
        <p:spPr>
          <a:xfrm>
            <a:off x="923925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2DB4C4-B0E8-441C-A00A-F70039F51CD7}"/>
              </a:ext>
            </a:extLst>
          </p:cNvPr>
          <p:cNvSpPr>
            <a:spLocks noGrp="1"/>
          </p:cNvSpPr>
          <p:nvPr/>
        </p:nvSpPr>
        <p:spPr>
          <a:xfrm>
            <a:off x="923925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保留多樣原始資料</a:t>
            </a:r>
          </a:p>
        </p:txBody>
      </p:sp>
    </p:spTree>
    <p:extLst>
      <p:ext uri="{BB962C8B-B14F-4D97-AF65-F5344CB8AC3E}">
        <p14:creationId xmlns:p14="http://schemas.microsoft.com/office/powerpoint/2010/main" val="35311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6B1A9D7-4475-0769-1BF4-B4D5103AA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65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43BE7F9-4F2C-49C4-BAF0-6ACCFAF9CB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4D3249-1949-457B-8E26-0267710384A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作業資料庫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1CAEB1-8070-4947-8A0E-3696A613946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637989-6B00-4C9F-A03D-A460290D43FC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主要用途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F1357A-3415-4C62-86B5-D5F635A71377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支援存款、轉帳、下單與理賠等日常作業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B6672E-FE05-4B7E-AAA9-5662A316E7B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B0A46F-9A67-4E44-BCF1-124D38A820B4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資料特色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1C0F65-0718-4A2F-8660-A93C8AA54F06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記錄最新狀態，更新頻繁且要求正確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BFDA99-B04A-47A0-9D49-F5DF73FBD8E9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3ECFBB-F39C-4257-9C26-7ED6A0ECBC5E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設計重點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3C4A25-CBA0-4E7C-B70D-0CF08C218B75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快速寫入、交易一致與系統穩定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2D9B18-0BAA-42BE-A154-89BFA6B07FF6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5B05AD-AB46-4BEF-A8E2-B2B51F4EBA21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分析限制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2EFF2E-7584-4C66-BF07-DACA2F25BF63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跨系統與長期趨勢分析通常較不方便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67358F-F215-493C-8477-3F9E544C4CD0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375354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9BA625C-C5DE-0A71-7F97-D8B5CD63A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4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3D4C222-136A-407F-8ABF-8DD62E7A90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4D6F8C-92C9-4619-A6CE-B5D51EBCA3B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資料倉儲 Data Warehouse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BE315F-33D1-48DE-A8F0-4226599FF09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BD33D9-F92B-4D90-80AB-2882559CAC46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把分散資料整理成可分析的共同版本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627CE-6E9F-4AFE-8FFD-068D18F272B3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EF63E-61C1-4827-B601-F8956AF767B1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資料倉儲通常整合多個內部系統，保留歷史並提供報表、商業智慧與分析使用。</a:t>
            </a:r>
          </a:p>
        </p:txBody>
      </p:sp>
    </p:spTree>
    <p:extLst>
      <p:ext uri="{BB962C8B-B14F-4D97-AF65-F5344CB8AC3E}">
        <p14:creationId xmlns:p14="http://schemas.microsoft.com/office/powerpoint/2010/main" val="201255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61F76-B51B-472F-83F2-D0BF47DB7E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CEE414-5F37-4749-85F4-D855D8C57CF8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資料倉儲的四個特性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B31BD-192C-4C78-B86E-E153E419943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782BDF-7E80-4A63-938E-1ED55AE84506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主題導向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534902-928A-4504-99E6-4620B82DD156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依客戶、商品或風險等分析主題組織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B2DA9-8CA2-4E07-9A8E-026744D6FA35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417E13-8C0B-4248-96CB-93315CBED7AE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整合性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31165D-6049-4A31-A16F-6F0D3A70C00E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統一來源系統的欄位、代碼與定義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FCDFE1-3692-4D41-B02F-C75652A99962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FA341C-B89B-4647-81C8-EE1F683C4FC4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長期性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3AD927-7733-4A4A-B143-E77DCD00B0A9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保留歷史，才能比較變化與趨勢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C6303F-F302-450B-AB09-B11BB412578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A354C0-D355-4FE3-A8D0-92792DF9D430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少變性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6E6B05-FC78-4A65-BE2F-8F4DC2A62026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資料載入後以查詢與分析為主要用途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48AE14-873B-4563-857C-DD508424E152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863737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9975C59-A3EF-92A5-7AA3-B1BDF3E91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30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AE049AF-777C-48D5-9466-D6FCF1ECA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BEDB4E-6C0A-454A-A743-F60F7AEC8CF6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資料市集 Data Mart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78C9D4-DA50-400D-A56A-D2893EBBF83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D0FA1-6D78-4728-BD0D-147EBD8507C2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定位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819D4B-9D16-4AEA-950C-63B59C6AEED9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聚焦一個部門、主題或特定分析需求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45823F-2FA7-4AAF-A07F-78252B7245B0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AFFF6D-C31A-40E8-9171-AEEFF2C08E03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例子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342AE1-70CA-45E2-B9BA-4E3504482D15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信用風險市集、行銷市集或理賠市集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34D33D-D62F-4A7A-9D0B-F14F31D27111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C9547E-72D4-4AB4-9740-F6316707A89F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5C85BC-899E-4E95-B33A-CE85F6D4A795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範圍較小，較容易貼近使用者需求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D859DD-CEB6-4DED-B099-4219512FA9F2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BDB49A-562E-4C9D-9431-71E86A34BA99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6EF453-3201-41F8-B8E9-BEA186A45497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各自建置可能形成重複與不一致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AABD89-6BCC-40F2-A19A-2FCD91D3B096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16845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973840F-712B-20F4-BB55-665F8B3B5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92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7B0DB1D-5005-4530-9167-CB6ECB1E01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60EDE5-D080-47C8-B86B-7C4549D0908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資料湖 Data Lake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F3521A-A0F1-4C0C-BE14-1ABF98E9131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1180C6-EFC9-470D-A157-6ACC3D4FD723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定位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2F9D7F-B996-436B-85EF-04A8D4155201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以較原始形式保留大量、多樣資料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9F8DFA-D462-4218-A08C-8E137C4733C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D494B3-8636-465E-9A68-320268D969AE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可放內容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B5EB7E-176C-43DE-BDFB-E6C548E09675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表格、系統紀錄、文件、文字與影像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0D30F4-472F-4ACE-BADC-CA7C1409C7E3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82559E-8AB9-47B7-B8F5-3A5BFF4C1EAA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FB0F1B-2AAE-4E2F-8A02-34D7354BC2B7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保留彈性，便於未來不同分析需求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DF69A1-806E-45C3-8991-E67798092D8D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F7449A-678A-42AC-9027-A854C13C2D96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34C29E-98FD-458A-B495-C9F5BB617774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缺少目錄與治理時，資料會難以尋找與信任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6D5174-601D-429B-8B86-C2C2A19DB83D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52934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932575F-B693-AB7A-CE51-BDAB5A5AB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77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EBE6220-99D1-42FF-ABC4-ED673292A2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04F7C3-FDEE-4CBD-94DD-2E6914F1B8C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四種儲存方式的用途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1E503E-E447-47CE-B4F0-CDC292985C4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526548-1BE2-420A-9FCE-45A83FAC1D7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作業資料庫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3B610D-0A85-43A1-9178-FAD394097CA3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處理今天正在發生的交易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A3C53-490B-41BD-B6C5-F232478B309E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92A56D-9BBF-410E-BBFA-4C9430019C76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資料倉儲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F066A2-8C0E-43CA-953E-72D64E66E29D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整合歷史資料並支援共同分析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86A7C8-04A2-44D2-81A2-7E8F3AB9BFD0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4689BA-F08D-41E7-8DCF-08AE2CCCED7F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資料市集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25769F-3877-4BD4-BE09-B87D97800352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服務特定部門或主題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A199ED-1D64-4737-8E39-75E134DA574D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147840-E860-4636-AA99-32171B75088E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8D2EA3-765B-4F31-B64D-BA5BC270A993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保留多樣、較原始的資料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B2DFAF-879B-4486-AEB6-4B1A15470489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FEB645-9280-4466-AD4C-FA1B7DFF9147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實務上可能並存，不必硬選唯一一種</a:t>
            </a:r>
          </a:p>
        </p:txBody>
      </p:sp>
    </p:spTree>
    <p:extLst>
      <p:ext uri="{BB962C8B-B14F-4D97-AF65-F5344CB8AC3E}">
        <p14:creationId xmlns:p14="http://schemas.microsoft.com/office/powerpoint/2010/main" val="620585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07FBCA4-685E-05E8-3EAC-93DFA5CB0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1" y="0"/>
            <a:ext cx="11947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35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5A4C1BA-F710-414F-BFD5-241F802CFA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55BCD8-4660-4436-8419-81FA7BF058C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ETL｜先轉換再載入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D89E5E-4D35-40A0-9A81-F7EDD7B1DCD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F1126-A8A5-4429-A7A0-56C3AF642062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79BD27-1968-490B-BB10-9B2EDD4D13D6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Extract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4B3D09-F0C2-45AB-A4BC-1CF6C7AE664A}"/>
              </a:ext>
            </a:extLst>
          </p:cNvPr>
          <p:cNvSpPr>
            <a:spLocks noGrp="1"/>
          </p:cNvSpPr>
          <p:nvPr/>
        </p:nvSpPr>
        <p:spPr>
          <a:xfrm>
            <a:off x="981075" y="3048000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3EB3CA-128A-41B1-BA69-0701FF411140}"/>
              </a:ext>
            </a:extLst>
          </p:cNvPr>
          <p:cNvSpPr>
            <a:spLocks noGrp="1"/>
          </p:cNvSpPr>
          <p:nvPr/>
        </p:nvSpPr>
        <p:spPr>
          <a:xfrm>
            <a:off x="857250" y="3286125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從來源擷取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ECCC8C-11B6-4347-87E9-E6737D75A94E}"/>
              </a:ext>
            </a:extLst>
          </p:cNvPr>
          <p:cNvSpPr>
            <a:spLocks noGrp="1"/>
          </p:cNvSpPr>
          <p:nvPr/>
        </p:nvSpPr>
        <p:spPr>
          <a:xfrm>
            <a:off x="4403725" y="1762125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776A9-ACE3-4D4D-BD40-8D3723ED0780}"/>
              </a:ext>
            </a:extLst>
          </p:cNvPr>
          <p:cNvSpPr>
            <a:spLocks noGrp="1"/>
          </p:cNvSpPr>
          <p:nvPr/>
        </p:nvSpPr>
        <p:spPr>
          <a:xfrm>
            <a:off x="4403725" y="2286000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Transform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AC9CA-9095-476D-B063-2654F82DD136}"/>
              </a:ext>
            </a:extLst>
          </p:cNvPr>
          <p:cNvSpPr>
            <a:spLocks noGrp="1"/>
          </p:cNvSpPr>
          <p:nvPr/>
        </p:nvSpPr>
        <p:spPr>
          <a:xfrm>
            <a:off x="4575175" y="3048000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81EB73-5B36-4408-9F70-1F14FE9662A6}"/>
              </a:ext>
            </a:extLst>
          </p:cNvPr>
          <p:cNvSpPr>
            <a:spLocks noGrp="1"/>
          </p:cNvSpPr>
          <p:nvPr/>
        </p:nvSpPr>
        <p:spPr>
          <a:xfrm>
            <a:off x="4451350" y="3286125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清理並統一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6259B-C688-4560-B9FE-77584A1785F1}"/>
              </a:ext>
            </a:extLst>
          </p:cNvPr>
          <p:cNvSpPr>
            <a:spLocks noGrp="1"/>
          </p:cNvSpPr>
          <p:nvPr/>
        </p:nvSpPr>
        <p:spPr>
          <a:xfrm>
            <a:off x="7997825" y="1762125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52EFDB-BD98-4BC4-BB90-4DF62E006AEF}"/>
              </a:ext>
            </a:extLst>
          </p:cNvPr>
          <p:cNvSpPr>
            <a:spLocks noGrp="1"/>
          </p:cNvSpPr>
          <p:nvPr/>
        </p:nvSpPr>
        <p:spPr>
          <a:xfrm>
            <a:off x="7997825" y="2286000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Load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74E9D7-52D4-483F-905B-77EAEDC1180A}"/>
              </a:ext>
            </a:extLst>
          </p:cNvPr>
          <p:cNvSpPr>
            <a:spLocks noGrp="1"/>
          </p:cNvSpPr>
          <p:nvPr/>
        </p:nvSpPr>
        <p:spPr>
          <a:xfrm>
            <a:off x="8169275" y="3048000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D183BD-A647-4865-9466-641FA05C15B5}"/>
              </a:ext>
            </a:extLst>
          </p:cNvPr>
          <p:cNvSpPr>
            <a:spLocks noGrp="1"/>
          </p:cNvSpPr>
          <p:nvPr/>
        </p:nvSpPr>
        <p:spPr>
          <a:xfrm>
            <a:off x="8045450" y="3286125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載入分析環境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DE4226-FEA5-4688-84BF-0F4F9286A585}"/>
              </a:ext>
            </a:extLst>
          </p:cNvPr>
          <p:cNvSpPr>
            <a:spLocks noGrp="1"/>
          </p:cNvSpPr>
          <p:nvPr/>
        </p:nvSpPr>
        <p:spPr>
          <a:xfrm>
            <a:off x="2047875" y="5048250"/>
            <a:ext cx="809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ETL 的重點是讓不同來源能以共同定義使用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FEEA83-F6BA-4BEB-9B67-F8620E9042C8}"/>
              </a:ext>
            </a:extLst>
          </p:cNvPr>
          <p:cNvSpPr>
            <a:spLocks noGrp="1"/>
          </p:cNvSpPr>
          <p:nvPr/>
        </p:nvSpPr>
        <p:spPr>
          <a:xfrm>
            <a:off x="3429000" y="5572125"/>
            <a:ext cx="5334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ELT 則先載入，再於目標環境轉換</a:t>
            </a:r>
          </a:p>
        </p:txBody>
      </p:sp>
    </p:spTree>
    <p:extLst>
      <p:ext uri="{BB962C8B-B14F-4D97-AF65-F5344CB8AC3E}">
        <p14:creationId xmlns:p14="http://schemas.microsoft.com/office/powerpoint/2010/main" val="639904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579792A-802B-83F4-40AC-6CD6FB52D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37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E467638-92ED-4330-8AEE-42257E0107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FBD312-37D8-448B-BE07-0B3E51069E9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整合不只搬資料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689AD3-2024-412A-908F-84965112082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F192FC-56AC-4C72-A300-CCE3E905DC54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共同識別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C180D3-6F69-4E7E-8D38-D9A68488F54D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不同系統是否指向同一客戶或帳戶？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DD1549-976D-482D-9A87-6CCE7ED15F2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2A9230-1E1F-4D7F-9D26-1DD415536A60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共同時間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E0FA14-B8D8-48B9-AF1F-83D605CB5F6B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交易時間、入帳時間與報表日期是否一致？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8CCEA5-BED0-4279-87C1-2F2E8267425D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CA11EF-A2D8-415F-9257-C57A19A55F8C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共同定義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4DC3F4-558C-42F9-9AA2-1E62A393FB59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『活躍客戶』在各部門是否相同？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05CC08-37F5-44C9-AF9A-EEE0F0C0F4F9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CEEB24-75B7-4050-8F0A-725E3CD8DE2D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追蹤來源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7199B4-C775-416E-8B14-A4DD4E687376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數字從哪裡來？經過哪些轉換？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D729AF-66EB-4AF7-9528-C7B6981106FA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9382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C7206EA-C3B0-4634-96BA-883FBA67F5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08F030-7ED0-4FD9-800D-276C8425CB06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3AE28B-7F2F-46DD-8B34-770B63F57A6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5773E3-0F06-4240-9DD4-C4CA720811BE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作業資料庫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9B1A61-33BA-4481-A6E2-6253631FD80D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支援日常交易與最新狀態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025009-0327-4EFF-A568-C57562346DA7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112D8E-A37A-454F-AEF6-D3836529E631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資料倉儲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90A745-37B5-47E1-8389-9E42C87009B8}"/>
              </a:ext>
            </a:extLst>
          </p:cNvPr>
          <p:cNvSpPr>
            <a:spLocks noGrp="1"/>
          </p:cNvSpPr>
          <p:nvPr/>
        </p:nvSpPr>
        <p:spPr>
          <a:xfrm>
            <a:off x="3286125" y="2343150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整合歷史資料供分析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4F6092-8297-4003-A180-CA1670692D53}"/>
              </a:ext>
            </a:extLst>
          </p:cNvPr>
          <p:cNvSpPr>
            <a:spLocks noGrp="1"/>
          </p:cNvSpPr>
          <p:nvPr/>
        </p:nvSpPr>
        <p:spPr>
          <a:xfrm>
            <a:off x="809625" y="3171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10919C-F37C-4F88-A92F-CFD019215A44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資料市集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563DA4-B9D5-4B2E-ACCF-31C6D631650E}"/>
              </a:ext>
            </a:extLst>
          </p:cNvPr>
          <p:cNvSpPr>
            <a:spLocks noGrp="1"/>
          </p:cNvSpPr>
          <p:nvPr/>
        </p:nvSpPr>
        <p:spPr>
          <a:xfrm>
            <a:off x="3286125" y="320992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服務特定主題與部門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56048A-A45E-49A9-8EDB-198CC58691E3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A40B5F-7073-4A16-B231-246DCD2A0BC2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36327E-86D5-40BC-9D6E-28BA15E00537}"/>
              </a:ext>
            </a:extLst>
          </p:cNvPr>
          <p:cNvSpPr>
            <a:spLocks noGrp="1"/>
          </p:cNvSpPr>
          <p:nvPr/>
        </p:nvSpPr>
        <p:spPr>
          <a:xfrm>
            <a:off x="3286125" y="4076700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保留多樣原始資料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EF302D-CC0B-4C60-B56D-86F320218558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B118F0-000E-4D01-8073-9BDE49C4E873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整合治理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2751E2-03BB-4D44-957E-99C233CE331F}"/>
              </a:ext>
            </a:extLst>
          </p:cNvPr>
          <p:cNvSpPr>
            <a:spLocks noGrp="1"/>
          </p:cNvSpPr>
          <p:nvPr/>
        </p:nvSpPr>
        <p:spPr>
          <a:xfrm>
            <a:off x="3286125" y="494347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統一識別、時間、定義與來源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4ADCBC-6292-416D-A7B6-9F351A87FB50}"/>
              </a:ext>
            </a:extLst>
          </p:cNvPr>
          <p:cNvSpPr>
            <a:spLocks noGrp="1"/>
          </p:cNvSpPr>
          <p:nvPr/>
        </p:nvSpPr>
        <p:spPr>
          <a:xfrm>
            <a:off x="809625" y="57721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13333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3B39C0-D4CF-46AB-BA28-FA55DA602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E39E24-BCDC-49BD-A6BB-DED5C4F7A7B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3E7749-2AFC-4FC7-8219-F554180B9E8F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3D7D27-3622-404F-B411-40E02861A31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17D5BB-EEF2-42B3-91BF-1575EE51E7AC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支援即時轉帳最接近哪一種？（A 作業資料庫　B 資料市集）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4F5E10-C296-4935-ABDE-0F905A1604E5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長期趨勢分析較常使用什麼？（A 資料倉儲　B 暫存檔）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641173-E39E-4363-88B1-338F8E8A70E4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只服務理賠部門的資料集合較接近？（A 資料市集　B 作業系統）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2A0ACF-3079-47EF-B18D-4EA06DF74F42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資料湖缺少治理時最可能發生什麼？（A 難以尋找與信任　B 自動變乾淨）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F2194E-34A8-45B7-A2EA-4F39C26945FB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en-US" sz="1875" b="0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ETL </a:t>
            </a:r>
            <a:r>
              <a:rPr lang="zh-TW" altLang="en-US" sz="1875" b="0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的 </a:t>
            </a:r>
            <a:r>
              <a:rPr lang="en-US" sz="1875" b="0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T </a:t>
            </a:r>
            <a:r>
              <a:rPr lang="zh-TW" altLang="en-US" sz="1875" b="0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代表什麼？（</a:t>
            </a:r>
            <a:r>
              <a:rPr lang="en-US" sz="1875" b="0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 Transform　B Transfer）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2DD9EB1-CFCC-4E4D-A702-A32EB1C6C69A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DCEDE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8385E1-9F0D-49BC-8F6C-4F3D7D26529B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440988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1344094-9FC1-4785-BD78-B7BD52BFC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1E43E7-CF5B-4D93-9A29-13AB2DD61F27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第三節｜處理、分析與呈現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C6958D-7BD5-4E70-951B-FF2746E9596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5F488-5388-4967-8AE0-005A2D236174}"/>
              </a:ext>
            </a:extLst>
          </p:cNvPr>
          <p:cNvSpPr>
            <a:spLocks noGrp="1"/>
          </p:cNvSpPr>
          <p:nvPr/>
        </p:nvSpPr>
        <p:spPr>
          <a:xfrm>
            <a:off x="1000125" y="1905000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資料規模增加時，單一電腦可能不再足夠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5404A2-0082-4EC2-8704-DF3947ECCECD}"/>
              </a:ext>
            </a:extLst>
          </p:cNvPr>
          <p:cNvSpPr>
            <a:spLocks noGrp="1"/>
          </p:cNvSpPr>
          <p:nvPr/>
        </p:nvSpPr>
        <p:spPr>
          <a:xfrm>
            <a:off x="52387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2025" b="1" dirty="0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分散式儲存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8CDE41-1A19-443B-80BC-FA06CEA440CB}"/>
              </a:ext>
            </a:extLst>
          </p:cNvPr>
          <p:cNvSpPr>
            <a:spLocks noGrp="1"/>
          </p:cNvSpPr>
          <p:nvPr/>
        </p:nvSpPr>
        <p:spPr>
          <a:xfrm>
            <a:off x="52387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資料分開保存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6DDAC6-84B9-4D3B-8227-528A7B008210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分散式處理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4A493C-EBF0-4E25-B954-2BF2251464D0}"/>
              </a:ext>
            </a:extLst>
          </p:cNvPr>
          <p:cNvSpPr>
            <a:spLocks noGrp="1"/>
          </p:cNvSpPr>
          <p:nvPr/>
        </p:nvSpPr>
        <p:spPr>
          <a:xfrm>
            <a:off x="342900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工作分開計算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2435DA-64AD-4617-8720-557FBEF93201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雲端服務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44A6B-5C63-4F65-B46A-D398BFFBCEC0}"/>
              </a:ext>
            </a:extLst>
          </p:cNvPr>
          <p:cNvSpPr>
            <a:spLocks noGrp="1"/>
          </p:cNvSpPr>
          <p:nvPr/>
        </p:nvSpPr>
        <p:spPr>
          <a:xfrm>
            <a:off x="633412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依需要取得資源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E76104-EEBA-4730-9FFE-743C3BD37BF1}"/>
              </a:ext>
            </a:extLst>
          </p:cNvPr>
          <p:cNvSpPr>
            <a:spLocks noGrp="1"/>
          </p:cNvSpPr>
          <p:nvPr/>
        </p:nvSpPr>
        <p:spPr>
          <a:xfrm>
            <a:off x="923925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分析呈現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813019-ACF6-4754-A2EA-0A37C4956002}"/>
              </a:ext>
            </a:extLst>
          </p:cNvPr>
          <p:cNvSpPr>
            <a:spLocks noGrp="1"/>
          </p:cNvSpPr>
          <p:nvPr/>
        </p:nvSpPr>
        <p:spPr>
          <a:xfrm>
            <a:off x="923925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把結果交給使用者</a:t>
            </a:r>
          </a:p>
        </p:txBody>
      </p:sp>
    </p:spTree>
    <p:extLst>
      <p:ext uri="{BB962C8B-B14F-4D97-AF65-F5344CB8AC3E}">
        <p14:creationId xmlns:p14="http://schemas.microsoft.com/office/powerpoint/2010/main" val="1762291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357A54-3D8D-37CF-5EDA-7E3A257A7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71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DA793F7-911F-4E29-A665-8ED5EACB3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B3A957-EC5F-4BA9-9352-C8DC80C52A74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分散式處理的核心想法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291EEE-FA72-4A0C-8996-FBD7A2D26CB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FE31AB-5354-48F2-BE43-783E2395B8AB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把資料與工作分給多台電腦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BCEF82-B945-4878-AD9B-46A9E4016FE7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2FBFAF-C52D-4420-BE56-63B614C7B7B4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系統再把各部分結果彙整。這種方式能處理更大規模，也能透過副本降低單一設備故障的影響。</a:t>
            </a:r>
          </a:p>
        </p:txBody>
      </p:sp>
    </p:spTree>
    <p:extLst>
      <p:ext uri="{BB962C8B-B14F-4D97-AF65-F5344CB8AC3E}">
        <p14:creationId xmlns:p14="http://schemas.microsoft.com/office/powerpoint/2010/main" val="386973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CA0E9F5-34F2-4733-85C9-83A0A0411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880D73-BBF7-41CD-82C7-4690533BA95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Hadoop 的歷史角色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B63DDB-8643-4540-A1BA-82B1985FE6D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518403-05CA-4C12-8DA5-8AB3D976BFD7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背景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6752FA-00D9-4835-AFB2-02CB61418E94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大量網頁與非結構化資料促成分散式需求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5BC51B-A798-4DC8-A409-2D86B20A0F88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47437C-8A8C-4439-88E8-7B99D38B08F6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定位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4F19CD-F6C9-4AA3-B720-9D36912F24E0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開放原始碼的分散式儲存與處理生態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6FCDC-518E-4382-8FEE-6F6FB065316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19E681-5F40-4FF6-AF76-EF4DFD1F6BF8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代表概念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0B13FF-6816-449F-BEBD-013331B35111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HDFS 分散儲存，MapReduce 分散計算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B38C8E-1489-4DE5-8B91-F1145B64636E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95D74A-F1A8-4F0E-B05E-D70DE4ABF3C9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今天的理解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D8AA6F-8079-4656-A4DB-8846A9A1CE6A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保留核心觀念，不把它視為唯一現代方案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85B591-97E5-4370-B5E3-76A4439F44EA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59946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87EC1F48-0AF6-4A9D-B96C-8A8C8E7F5A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861884-497A-413F-9320-7F38CB276D1A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分散式儲存</a:t>
            </a:r>
            <a:r>
              <a:rPr lang="en-US" altLang="zh-TW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:HDFS </a:t>
            </a:r>
            <a:r>
              <a:rPr lang="zh-TW" altLang="en-US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的概念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D846C8-545C-4A34-AC03-7AC7DCFF8E3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96AAD5-10D6-4C2A-8662-D53FF0B8AB42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F5BEF-BC07-4971-A263-28D36AF6E7D3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86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切割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4319D8-586B-437C-8F7B-037A7DB9F18F}"/>
              </a:ext>
            </a:extLst>
          </p:cNvPr>
          <p:cNvSpPr>
            <a:spLocks noGrp="1"/>
          </p:cNvSpPr>
          <p:nvPr/>
        </p:nvSpPr>
        <p:spPr>
          <a:xfrm>
            <a:off x="981075" y="3048000"/>
            <a:ext cx="2143125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CEA0BA-E2A7-47AB-A200-093E9F40867F}"/>
              </a:ext>
            </a:extLst>
          </p:cNvPr>
          <p:cNvSpPr>
            <a:spLocks noGrp="1"/>
          </p:cNvSpPr>
          <p:nvPr/>
        </p:nvSpPr>
        <p:spPr>
          <a:xfrm>
            <a:off x="857250" y="3286125"/>
            <a:ext cx="23907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大型檔案分成區塊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B99C9F-CD6E-4945-9237-E34D69DB80E8}"/>
              </a:ext>
            </a:extLst>
          </p:cNvPr>
          <p:cNvSpPr>
            <a:spLocks noGrp="1"/>
          </p:cNvSpPr>
          <p:nvPr/>
        </p:nvSpPr>
        <p:spPr>
          <a:xfrm>
            <a:off x="3505200" y="176212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71C92B-FBE7-4F01-A6BA-1B08BBF27035}"/>
              </a:ext>
            </a:extLst>
          </p:cNvPr>
          <p:cNvSpPr>
            <a:spLocks noGrp="1"/>
          </p:cNvSpPr>
          <p:nvPr/>
        </p:nvSpPr>
        <p:spPr>
          <a:xfrm>
            <a:off x="3505200" y="2286000"/>
            <a:ext cx="2486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3906C0-B5CE-483E-ACEE-2D3A1D809B95}"/>
              </a:ext>
            </a:extLst>
          </p:cNvPr>
          <p:cNvSpPr>
            <a:spLocks noGrp="1"/>
          </p:cNvSpPr>
          <p:nvPr/>
        </p:nvSpPr>
        <p:spPr>
          <a:xfrm>
            <a:off x="3676650" y="3048000"/>
            <a:ext cx="2143125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AB6836-9151-4BC8-8903-9B4507A60051}"/>
              </a:ext>
            </a:extLst>
          </p:cNvPr>
          <p:cNvSpPr>
            <a:spLocks noGrp="1"/>
          </p:cNvSpPr>
          <p:nvPr/>
        </p:nvSpPr>
        <p:spPr>
          <a:xfrm>
            <a:off x="3552825" y="3286125"/>
            <a:ext cx="23907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區塊存到多台設備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D92895-4D44-4169-9DF5-90C967EBAA2C}"/>
              </a:ext>
            </a:extLst>
          </p:cNvPr>
          <p:cNvSpPr>
            <a:spLocks noGrp="1"/>
          </p:cNvSpPr>
          <p:nvPr/>
        </p:nvSpPr>
        <p:spPr>
          <a:xfrm>
            <a:off x="6200775" y="176212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D69E73-AC6C-42B0-B01A-BA75FA4B6506}"/>
              </a:ext>
            </a:extLst>
          </p:cNvPr>
          <p:cNvSpPr>
            <a:spLocks noGrp="1"/>
          </p:cNvSpPr>
          <p:nvPr/>
        </p:nvSpPr>
        <p:spPr>
          <a:xfrm>
            <a:off x="6200775" y="2286000"/>
            <a:ext cx="2486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副本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E35DFF-538A-44CC-9ACA-25C4984CB1D6}"/>
              </a:ext>
            </a:extLst>
          </p:cNvPr>
          <p:cNvSpPr>
            <a:spLocks noGrp="1"/>
          </p:cNvSpPr>
          <p:nvPr/>
        </p:nvSpPr>
        <p:spPr>
          <a:xfrm>
            <a:off x="6372225" y="3048000"/>
            <a:ext cx="2143125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9E1124-4F30-49BF-B5B0-03C8D76BBCA1}"/>
              </a:ext>
            </a:extLst>
          </p:cNvPr>
          <p:cNvSpPr>
            <a:spLocks noGrp="1"/>
          </p:cNvSpPr>
          <p:nvPr/>
        </p:nvSpPr>
        <p:spPr>
          <a:xfrm>
            <a:off x="6248400" y="3286125"/>
            <a:ext cx="23907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重要資料保留多份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7E2255-F72F-472E-82AC-CE163BE65C5C}"/>
              </a:ext>
            </a:extLst>
          </p:cNvPr>
          <p:cNvSpPr>
            <a:spLocks noGrp="1"/>
          </p:cNvSpPr>
          <p:nvPr/>
        </p:nvSpPr>
        <p:spPr>
          <a:xfrm>
            <a:off x="8896350" y="176212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E7EF1B-7B3A-49B9-BA73-04C8AB69A3FF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2486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讀取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BE59AC-734B-434E-9ED9-9DB67B87EEDB}"/>
              </a:ext>
            </a:extLst>
          </p:cNvPr>
          <p:cNvSpPr>
            <a:spLocks noGrp="1"/>
          </p:cNvSpPr>
          <p:nvPr/>
        </p:nvSpPr>
        <p:spPr>
          <a:xfrm>
            <a:off x="9067800" y="3048000"/>
            <a:ext cx="2143125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E0FF96-A177-41F7-A89E-CF477CC9264B}"/>
              </a:ext>
            </a:extLst>
          </p:cNvPr>
          <p:cNvSpPr>
            <a:spLocks noGrp="1"/>
          </p:cNvSpPr>
          <p:nvPr/>
        </p:nvSpPr>
        <p:spPr>
          <a:xfrm>
            <a:off x="8943975" y="3286125"/>
            <a:ext cx="23907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系統協調並組回需要內容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A34979-EDC5-40A7-B0B1-D6E06E6AFAC8}"/>
              </a:ext>
            </a:extLst>
          </p:cNvPr>
          <p:cNvSpPr>
            <a:spLocks noGrp="1"/>
          </p:cNvSpPr>
          <p:nvPr/>
        </p:nvSpPr>
        <p:spPr>
          <a:xfrm>
            <a:off x="2286000" y="52863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重點：容量可擴充，也能降低單點故障風險</a:t>
            </a:r>
          </a:p>
        </p:txBody>
      </p:sp>
    </p:spTree>
    <p:extLst>
      <p:ext uri="{BB962C8B-B14F-4D97-AF65-F5344CB8AC3E}">
        <p14:creationId xmlns:p14="http://schemas.microsoft.com/office/powerpoint/2010/main" val="795114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D438B2C-7FE1-47FB-B718-8B74619A94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B3A4CC-173C-4F5D-81F6-C86C662B14F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分散式處理</a:t>
            </a:r>
            <a:r>
              <a:rPr lang="en-US" altLang="zh-TW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MapReduce 的</a:t>
            </a:r>
            <a:r>
              <a:rPr lang="zh-TW" altLang="en-US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概念</a:t>
            </a:r>
            <a:endParaRPr sz="2850" b="1" dirty="0">
              <a:solidFill>
                <a:srgbClr val="17383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A82BD7-9691-43F6-B5FE-0A0901E303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031D35-4622-407C-B5E0-C91B63E0C0AE}"/>
              </a:ext>
            </a:extLst>
          </p:cNvPr>
          <p:cNvSpPr>
            <a:spLocks noGrp="1"/>
          </p:cNvSpPr>
          <p:nvPr/>
        </p:nvSpPr>
        <p:spPr>
          <a:xfrm>
            <a:off x="809625" y="1128712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E74553-8B40-49A2-958C-751945187ECC}"/>
              </a:ext>
            </a:extLst>
          </p:cNvPr>
          <p:cNvSpPr>
            <a:spLocks noGrp="1"/>
          </p:cNvSpPr>
          <p:nvPr/>
        </p:nvSpPr>
        <p:spPr>
          <a:xfrm>
            <a:off x="809625" y="1652587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Map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A859B4-7B3C-4F77-B8F1-6532F7D92031}"/>
              </a:ext>
            </a:extLst>
          </p:cNvPr>
          <p:cNvSpPr>
            <a:spLocks noGrp="1"/>
          </p:cNvSpPr>
          <p:nvPr/>
        </p:nvSpPr>
        <p:spPr>
          <a:xfrm>
            <a:off x="981075" y="2414587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3EE1A3-0A3E-46B3-9F8D-931F3D0B0674}"/>
              </a:ext>
            </a:extLst>
          </p:cNvPr>
          <p:cNvSpPr>
            <a:spLocks noGrp="1"/>
          </p:cNvSpPr>
          <p:nvPr/>
        </p:nvSpPr>
        <p:spPr>
          <a:xfrm>
            <a:off x="857250" y="2652712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把工作拆成多份並行計算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66BF1-D0B6-4C5E-AECE-9CEA36D51D43}"/>
              </a:ext>
            </a:extLst>
          </p:cNvPr>
          <p:cNvSpPr>
            <a:spLocks noGrp="1"/>
          </p:cNvSpPr>
          <p:nvPr/>
        </p:nvSpPr>
        <p:spPr>
          <a:xfrm>
            <a:off x="4403725" y="1128712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681666-8799-465D-A1E5-C2B4183A398C}"/>
              </a:ext>
            </a:extLst>
          </p:cNvPr>
          <p:cNvSpPr>
            <a:spLocks noGrp="1"/>
          </p:cNvSpPr>
          <p:nvPr/>
        </p:nvSpPr>
        <p:spPr>
          <a:xfrm>
            <a:off x="4403725" y="1652587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Shuffle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18E9C1-0A69-421C-B454-20537DED8765}"/>
              </a:ext>
            </a:extLst>
          </p:cNvPr>
          <p:cNvSpPr>
            <a:spLocks noGrp="1"/>
          </p:cNvSpPr>
          <p:nvPr/>
        </p:nvSpPr>
        <p:spPr>
          <a:xfrm>
            <a:off x="4575175" y="2414587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7DB98B-91F1-4413-AF0F-7540D9755F02}"/>
              </a:ext>
            </a:extLst>
          </p:cNvPr>
          <p:cNvSpPr>
            <a:spLocks noGrp="1"/>
          </p:cNvSpPr>
          <p:nvPr/>
        </p:nvSpPr>
        <p:spPr>
          <a:xfrm>
            <a:off x="4451350" y="2652712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把相同類型結果整理到一起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F80BA0-9CED-42B1-A611-75443854D391}"/>
              </a:ext>
            </a:extLst>
          </p:cNvPr>
          <p:cNvSpPr>
            <a:spLocks noGrp="1"/>
          </p:cNvSpPr>
          <p:nvPr/>
        </p:nvSpPr>
        <p:spPr>
          <a:xfrm>
            <a:off x="7997825" y="1128712"/>
            <a:ext cx="338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7D1A86-2741-4667-A5F7-F19C6A211CD6}"/>
              </a:ext>
            </a:extLst>
          </p:cNvPr>
          <p:cNvSpPr>
            <a:spLocks noGrp="1"/>
          </p:cNvSpPr>
          <p:nvPr/>
        </p:nvSpPr>
        <p:spPr>
          <a:xfrm>
            <a:off x="7997825" y="1652587"/>
            <a:ext cx="33845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Reduce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7B8F29-9062-4C31-94F0-AFEE38349451}"/>
              </a:ext>
            </a:extLst>
          </p:cNvPr>
          <p:cNvSpPr>
            <a:spLocks noGrp="1"/>
          </p:cNvSpPr>
          <p:nvPr/>
        </p:nvSpPr>
        <p:spPr>
          <a:xfrm>
            <a:off x="8169275" y="2414587"/>
            <a:ext cx="3041650" cy="19050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77F782-5766-4041-BFA3-43523004DD49}"/>
              </a:ext>
            </a:extLst>
          </p:cNvPr>
          <p:cNvSpPr>
            <a:spLocks noGrp="1"/>
          </p:cNvSpPr>
          <p:nvPr/>
        </p:nvSpPr>
        <p:spPr>
          <a:xfrm>
            <a:off x="8045450" y="2652712"/>
            <a:ext cx="32893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彙整成最後結果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D09E11-0393-4804-91E0-19510E294B6E}"/>
              </a:ext>
            </a:extLst>
          </p:cNvPr>
          <p:cNvSpPr>
            <a:spLocks noGrp="1"/>
          </p:cNvSpPr>
          <p:nvPr/>
        </p:nvSpPr>
        <p:spPr>
          <a:xfrm>
            <a:off x="1920586" y="5781675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2175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例：不同電腦先統計各分店交易，再彙總全行結果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AB9A8D1-3216-4898-BA0C-D4728DE81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19418"/>
              </p:ext>
            </p:extLst>
          </p:nvPr>
        </p:nvGraphicFramePr>
        <p:xfrm>
          <a:off x="981075" y="3452813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247506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62154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49188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名詞</a:t>
                      </a:r>
                      <a:endParaRPr 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常見學術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用語</a:t>
                      </a:r>
                      <a:endParaRPr 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應用端</a:t>
                      </a: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用語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1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MapReduce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映射歸約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分散式映射與彙總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44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映射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拆解與平行計算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13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Shuffle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洗牌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依鍵值分組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96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Reduce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歸約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彙總計算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40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88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FF45384-0AA7-5D68-A9D1-0760FF77E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5470"/>
            <a:ext cx="12192000" cy="536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88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564B7D4-2C2C-4FF2-B631-F3959C368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C32355-658A-4F9F-98A1-F01B680D2FB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雲端運算的角色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A9A4A7-C0ED-4D11-A6BF-9914E1C4254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3ACFF6-96EC-46EA-9D75-91F199CDB700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資源取得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9DAE7A-7757-47E2-84E7-EE68B5C021C2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依需求使用運算、儲存與平台服務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FEB1F-C4A1-43DC-BFDC-0C1E9CD17379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5C2E52-00A2-44EB-8EC7-2DA3D584CF32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彈性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1A113-7E07-4AFC-A179-933FDB7545B6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工作量增加時可調整資源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05FB79-B568-45F5-B800-C38241A9F57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B88430-4DEF-45DB-AF32-B1093208185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管理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59B8BF-6FD5-4057-A5E1-5809FE4845D7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由服務提供者處理部分基礎設施工作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9B6516-0F39-4512-ACC6-1129FCBF04B2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26FD83-6D65-4FE3-8B6F-13CA389299DF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0B76DC-FD4F-4FFD-9289-9D209E57826C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組織仍需管理權限、資料安全與成本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F50704-4533-4EAF-B94D-FEB8BA5D17F0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732270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DE09CF0-BAF9-FF35-8F0E-1B3527023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23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E8DC463-2079-452C-84F1-58B0F02BE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A36B5C-167A-4374-97F7-2968A95CAEB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批次架構與即時架構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1CFA35-34D7-4701-9BF9-D2658D23F93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BB14BF-0DA4-4D2D-BAF7-3D8F007312B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批次分析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4D245F-6A2C-405D-AAE8-13CA210D87C7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即時分析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31147A-4B2E-4030-83B9-6B773021EF04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6F2506-8027-4639-81AD-571FB3EB8614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日終或月底集中處理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適合完整報表與歷史趨勢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允許較長處理時間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A1821A-BC63-435A-B1EA-AFE3E3DD1184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事件進入後立即處理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適合交易監測與系統告警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要求低延遲與穩定運作</a:t>
            </a:r>
          </a:p>
        </p:txBody>
      </p:sp>
    </p:spTree>
    <p:extLst>
      <p:ext uri="{BB962C8B-B14F-4D97-AF65-F5344CB8AC3E}">
        <p14:creationId xmlns:p14="http://schemas.microsoft.com/office/powerpoint/2010/main" val="1146353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8DFF458-6165-44BF-A3BB-97741D2F5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AE1633-2DFA-42D1-B55A-64D597655808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分析層的工作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6F1B42-9A0F-44D1-8795-6571A7615EB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FD50CF-2882-434B-AA60-E9D69DBA583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查詢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092E2E-F536-439E-98A6-7BC47C313FB3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依條件找出資料與彙總結果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7C28A2-6B5D-4C47-B335-AD6C7A298E49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995B1-DBFD-40DB-BAB3-3970F6AF5F1B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商業智慧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6EF028-96C7-417D-9AEF-B4393BD9A992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以報表與儀表板掌握營運狀況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CB3015-2DB5-4F6F-9D06-18F86553A925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F97E17-4E6A-40CE-AD17-4F7753599044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資料探勘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FCFCA5-F1E0-4CEB-B8F5-64A43A35AC13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找出分群、關聯、分類與預測模式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B54F2C-149C-4AE7-A32D-32901C78A6C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89568-6333-4EF8-BD4F-E3066B368A37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模型服務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37B8F1-03E5-4595-9156-60EE9E77C4EF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把分析結果接回實際作業流程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DB7262-BC7C-4136-85FD-DEEC1D256753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77389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57E3A9-2686-0D95-EF94-7C48F06A1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61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CAFF59E-60FC-4F3D-A51B-00104A809A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DB55A5-D3DF-4E4C-B277-9D886B8E3768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2850" b="1" dirty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視覺化呈現讓結果可理解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E6D63E-BE6D-4E99-933C-53630CCBD69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482E9A-0BF1-4A63-ABF7-F65B2F883D31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比較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AA21E2-FB05-405F-9800-2E6B92D2DA32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長條圖呈現類別差異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3B57C5-DFCB-4BE1-B23F-2A18F58DA4BD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6DCF1A-BBC9-48C8-8818-3D93A0A6858B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趨勢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2595A9-C8DC-4F4E-A40C-123E96704F5F}"/>
              </a:ext>
            </a:extLst>
          </p:cNvPr>
          <p:cNvSpPr>
            <a:spLocks noGrp="1"/>
          </p:cNvSpPr>
          <p:nvPr/>
        </p:nvSpPr>
        <p:spPr>
          <a:xfrm>
            <a:off x="3286125" y="24479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折線圖呈現時間變化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55A8B6-E400-4301-AE60-11E8313A258C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C35A5C-EF89-4903-A793-AF34E370E83D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關係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05006-B83B-4AF6-964D-A1965F3636A2}"/>
              </a:ext>
            </a:extLst>
          </p:cNvPr>
          <p:cNvSpPr>
            <a:spLocks noGrp="1"/>
          </p:cNvSpPr>
          <p:nvPr/>
        </p:nvSpPr>
        <p:spPr>
          <a:xfrm>
            <a:off x="3286125" y="341947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散佈圖呈現兩個數值的關係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5E2FE4-65B0-4B9F-8930-B87FCD978078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AE1A38-7D04-4E2B-821A-19673A6E2572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3837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原則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0824E6-DEB7-478F-B923-E122B06D6A28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7905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先確認讀者與問題，再選圖表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C1A276-1F43-4DFC-899F-22DCBEEA57B4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12F19C-0983-4FF9-9A54-F10309F22C0D}"/>
              </a:ext>
            </a:extLst>
          </p:cNvPr>
          <p:cNvSpPr>
            <a:spLocks noGrp="1"/>
          </p:cNvSpPr>
          <p:nvPr/>
        </p:nvSpPr>
        <p:spPr>
          <a:xfrm>
            <a:off x="2428875" y="5476875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圖表的工作是縮短理解時間，不是增加裝飾</a:t>
            </a:r>
          </a:p>
        </p:txBody>
      </p:sp>
    </p:spTree>
    <p:extLst>
      <p:ext uri="{BB962C8B-B14F-4D97-AF65-F5344CB8AC3E}">
        <p14:creationId xmlns:p14="http://schemas.microsoft.com/office/powerpoint/2010/main" val="999037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175F910-0C2F-4C07-A1FB-A1C0EE8EA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A3295D-9E9C-4CDB-8D6F-D8B4EFBC9CA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03 全週小結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956CE-4CA8-4A8F-AEE9-9D0A4924A2D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4A8B66-AA31-4EE8-BA08-B06ADDF7B5DA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資料型態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77E2DF-A2F8-45B1-8272-42D6FD0FDFF8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決定儲存與處理方式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C2FF45-0A29-4B51-915F-AC83D4532EC9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EF44B6-3FD4-4E8B-8B01-71671EB4CEA3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儲存整合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0B8D11-605C-4565-953A-7816435A26F8}"/>
              </a:ext>
            </a:extLst>
          </p:cNvPr>
          <p:cNvSpPr>
            <a:spLocks noGrp="1"/>
          </p:cNvSpPr>
          <p:nvPr/>
        </p:nvSpPr>
        <p:spPr>
          <a:xfrm>
            <a:off x="3286125" y="2343150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讓分散資料形成共同版本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5527C9-8155-4DC9-ADC0-8F6AEE9E1AF9}"/>
              </a:ext>
            </a:extLst>
          </p:cNvPr>
          <p:cNvSpPr>
            <a:spLocks noGrp="1"/>
          </p:cNvSpPr>
          <p:nvPr/>
        </p:nvSpPr>
        <p:spPr>
          <a:xfrm>
            <a:off x="809625" y="3171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368F2F-A76B-43A6-9B5E-4F5BB2B10173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分散與雲端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86F14B-366C-4F89-8B92-4DECE4FAE0B8}"/>
              </a:ext>
            </a:extLst>
          </p:cNvPr>
          <p:cNvSpPr>
            <a:spLocks noGrp="1"/>
          </p:cNvSpPr>
          <p:nvPr/>
        </p:nvSpPr>
        <p:spPr>
          <a:xfrm>
            <a:off x="3286125" y="320992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支援更大規模與彈性資源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86E902-D33C-4BDA-A4F0-B37416E37214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049662-F6C3-4A7F-90F4-02A99D46CD53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分析呈現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41F7AB-3642-41AD-ADC3-83355A353BD0}"/>
              </a:ext>
            </a:extLst>
          </p:cNvPr>
          <p:cNvSpPr>
            <a:spLocks noGrp="1"/>
          </p:cNvSpPr>
          <p:nvPr/>
        </p:nvSpPr>
        <p:spPr>
          <a:xfrm>
            <a:off x="3286125" y="4076700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把資料轉成可理解、可使用的結果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EF4502-35F7-449C-B80A-2E52AA68788F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E30039-829A-47D7-A82A-F65BF987827C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23837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選擇原則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FE51C4-EA39-4792-967B-BC3DABE31646}"/>
              </a:ext>
            </a:extLst>
          </p:cNvPr>
          <p:cNvSpPr>
            <a:spLocks noGrp="1"/>
          </p:cNvSpPr>
          <p:nvPr/>
        </p:nvSpPr>
        <p:spPr>
          <a:xfrm>
            <a:off x="3286125" y="4943475"/>
            <a:ext cx="7905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配合問題、時限、安全與成本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30B787-53D5-4917-B3E2-ABD5DBE2AA90}"/>
              </a:ext>
            </a:extLst>
          </p:cNvPr>
          <p:cNvSpPr>
            <a:spLocks noGrp="1"/>
          </p:cNvSpPr>
          <p:nvPr/>
        </p:nvSpPr>
        <p:spPr>
          <a:xfrm>
            <a:off x="809625" y="57721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8974717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FA3B54C-85FC-4E85-A120-0314AD7DD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66086D-0644-4244-B6FA-E85C8282574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20CB4E-74BC-4041-84D7-E9FB30C4FC5B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667666-730F-4BA2-82A9-87DC10ACE85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193545-3AAC-424C-8E42-0DC36E6EE891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HDFS 的核心概念較接近？（A 分散儲存　B 圖表美化）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B1B47A-4018-4825-A434-1B381D49CB61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MapReduce 的 Map 主要做什麼？（A 拆分並行工作　B 最後彙整）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01A96A-4AA2-43C9-A63E-EFAC9468EAB9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使用雲端後，組織是否仍需管理權限與安全？（A 需要　B 不需要）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A7E660-AE6C-4D58-BDE9-DC6F19BF0EC9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呈現時間趨勢通常適合什麼圖？（A 折線圖　B 圓餅圖）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3B6421-A650-4985-96E9-1C836D7794C6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選擇技術時最重要的是？（A 配合問題與時限　B 名稱最新）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5427D75-14E3-4550-8CFA-9D66C70D52DF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F6E6D7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B04CC9-623D-4F5F-A5B9-F6B5E0A3BF85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9228765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1412</Words>
  <Application>Microsoft Office PowerPoint</Application>
  <DocSecurity>0</DocSecurity>
  <PresentationFormat>寬螢幕</PresentationFormat>
  <Paragraphs>424</Paragraphs>
  <Slides>46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49" baseType="lpstr">
      <vt:lpstr>微軟正黑體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桂珍 邱</cp:lastModifiedBy>
  <cp:revision>9</cp:revision>
  <dcterms:created xsi:type="dcterms:W3CDTF">2026-09-04T06:56:57Z</dcterms:created>
  <dcterms:modified xsi:type="dcterms:W3CDTF">2026-09-28T11:50:33Z</dcterms:modified>
</cp:coreProperties>
</file>