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0d1b3f08ac441e" /><Relationship Type="http://schemas.openxmlformats.org/officeDocument/2006/relationships/extended-properties" Target="/docProps/app.xml" Id="Rb425c4ddf07446c1" /><Relationship Type="http://schemas.openxmlformats.org/officeDocument/2006/relationships/officeDocument" Target="/ppt/presentation.xml" Id="R64737ea8f17145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5faf59b29433e"/>
  </p:sldMasterIdLst>
  <p:notesMasterIdLst>
    <p:notesMasterId xmlns:r="http://schemas.openxmlformats.org/officeDocument/2006/relationships" r:id="Re7d524ea83dd443f"/>
  </p:notesMasterIdLst>
  <p:sldIdLst>
    <p:sldId xmlns:r="http://schemas.openxmlformats.org/officeDocument/2006/relationships" id="256" r:id="Rb0d3010915f345ef"/>
    <p:sldId xmlns:r="http://schemas.openxmlformats.org/officeDocument/2006/relationships" id="257" r:id="Rf2da1ece15344e4a"/>
    <p:sldId xmlns:r="http://schemas.openxmlformats.org/officeDocument/2006/relationships" id="258" r:id="R28e55b3db0e443bc"/>
    <p:sldId xmlns:r="http://schemas.openxmlformats.org/officeDocument/2006/relationships" id="259" r:id="R8737fd70a2c34044"/>
    <p:sldId xmlns:r="http://schemas.openxmlformats.org/officeDocument/2006/relationships" id="260" r:id="R8844ee4b6ff642e7"/>
    <p:sldId xmlns:r="http://schemas.openxmlformats.org/officeDocument/2006/relationships" id="261" r:id="R2a59b9fafa17411c"/>
    <p:sldId xmlns:r="http://schemas.openxmlformats.org/officeDocument/2006/relationships" id="262" r:id="R3ead8bac9d5b4af5"/>
    <p:sldId xmlns:r="http://schemas.openxmlformats.org/officeDocument/2006/relationships" id="263" r:id="Rfd13d094cade4f53"/>
    <p:sldId xmlns:r="http://schemas.openxmlformats.org/officeDocument/2006/relationships" id="264" r:id="R8f30a1e70fcf4d7f"/>
    <p:sldId xmlns:r="http://schemas.openxmlformats.org/officeDocument/2006/relationships" id="265" r:id="R9555499d3cf544ce"/>
    <p:sldId xmlns:r="http://schemas.openxmlformats.org/officeDocument/2006/relationships" id="266" r:id="Rb3a7dea179044d9f"/>
    <p:sldId xmlns:r="http://schemas.openxmlformats.org/officeDocument/2006/relationships" id="267" r:id="Ra86c83c5a98c4eb4"/>
    <p:sldId xmlns:r="http://schemas.openxmlformats.org/officeDocument/2006/relationships" id="268" r:id="R0ca98f1480c043fc"/>
    <p:sldId xmlns:r="http://schemas.openxmlformats.org/officeDocument/2006/relationships" id="269" r:id="Raaeadbe9ec8f47eb"/>
    <p:sldId xmlns:r="http://schemas.openxmlformats.org/officeDocument/2006/relationships" id="270" r:id="R321db97369ee4916"/>
    <p:sldId xmlns:r="http://schemas.openxmlformats.org/officeDocument/2006/relationships" id="271" r:id="Rcbada6bb24504707"/>
    <p:sldId xmlns:r="http://schemas.openxmlformats.org/officeDocument/2006/relationships" id="272" r:id="Ra17b0c54593a4142"/>
    <p:sldId xmlns:r="http://schemas.openxmlformats.org/officeDocument/2006/relationships" id="273" r:id="R5c989cb3a73d4515"/>
    <p:sldId xmlns:r="http://schemas.openxmlformats.org/officeDocument/2006/relationships" id="274" r:id="R23b1d57208424234"/>
    <p:sldId xmlns:r="http://schemas.openxmlformats.org/officeDocument/2006/relationships" id="275" r:id="Ra5ad0e81f9184790"/>
    <p:sldId xmlns:r="http://schemas.openxmlformats.org/officeDocument/2006/relationships" id="276" r:id="R64d5b3082c9547a0"/>
    <p:sldId xmlns:r="http://schemas.openxmlformats.org/officeDocument/2006/relationships" id="277" r:id="R8b08e3e34f744aca"/>
    <p:sldId xmlns:r="http://schemas.openxmlformats.org/officeDocument/2006/relationships" id="278" r:id="R04a49bf9adb041f6"/>
    <p:sldId xmlns:r="http://schemas.openxmlformats.org/officeDocument/2006/relationships" id="279" r:id="R530706880a1c4240"/>
    <p:sldId xmlns:r="http://schemas.openxmlformats.org/officeDocument/2006/relationships" id="280" r:id="Rf273683cd67e41d7"/>
    <p:sldId xmlns:r="http://schemas.openxmlformats.org/officeDocument/2006/relationships" id="281" r:id="R03a7691fa93543ce"/>
    <p:sldId xmlns:r="http://schemas.openxmlformats.org/officeDocument/2006/relationships" id="282" r:id="R104742e6a1f34909"/>
    <p:sldId xmlns:r="http://schemas.openxmlformats.org/officeDocument/2006/relationships" id="283" r:id="Rbbd1a460804940eb"/>
    <p:sldId xmlns:r="http://schemas.openxmlformats.org/officeDocument/2006/relationships" id="284" r:id="R8dc37b86f2184c0c"/>
    <p:sldId xmlns:r="http://schemas.openxmlformats.org/officeDocument/2006/relationships" id="285" r:id="R13b2e01800554291"/>
    <p:sldId xmlns:r="http://schemas.openxmlformats.org/officeDocument/2006/relationships" id="286" r:id="R72e46925ab374c8a"/>
    <p:sldId xmlns:r="http://schemas.openxmlformats.org/officeDocument/2006/relationships" id="287" r:id="R01aacbb5ff9f4669"/>
    <p:sldId xmlns:r="http://schemas.openxmlformats.org/officeDocument/2006/relationships" id="288" r:id="R62d8c3b8062b49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b818bf426f46de" /><Relationship Type="http://schemas.openxmlformats.org/officeDocument/2006/relationships/slideMaster" Target="/ppt/slideMasters/slideMaster1.xml" Id="Rc1e5faf59b29433e" /><Relationship Type="http://schemas.openxmlformats.org/officeDocument/2006/relationships/notesMaster" Target="/ppt/notesMasters/notesMaster1.xml" Id="Re7d524ea83dd443f" /><Relationship Type="http://schemas.openxmlformats.org/officeDocument/2006/relationships/presProps" Target="/ppt/presProps.xml" Id="Re82b28a1594a4346" /><Relationship Type="http://schemas.openxmlformats.org/officeDocument/2006/relationships/tableStyles" Target="/ppt/tableStyles.xml" Id="R90680747be954f9e" /><Relationship Type="http://schemas.openxmlformats.org/officeDocument/2006/relationships/slide" Target="/ppt/slides/slide1.xml" Id="Rb0d3010915f345ef" /><Relationship Type="http://schemas.openxmlformats.org/officeDocument/2006/relationships/slide" Target="/ppt/slides/slide2.xml" Id="Rf2da1ece15344e4a" /><Relationship Type="http://schemas.openxmlformats.org/officeDocument/2006/relationships/slide" Target="/ppt/slides/slide3.xml" Id="R28e55b3db0e443bc" /><Relationship Type="http://schemas.openxmlformats.org/officeDocument/2006/relationships/slide" Target="/ppt/slides/slide4.xml" Id="R8737fd70a2c34044" /><Relationship Type="http://schemas.openxmlformats.org/officeDocument/2006/relationships/slide" Target="/ppt/slides/slide5.xml" Id="R8844ee4b6ff642e7" /><Relationship Type="http://schemas.openxmlformats.org/officeDocument/2006/relationships/slide" Target="/ppt/slides/slide6.xml" Id="R2a59b9fafa17411c" /><Relationship Type="http://schemas.openxmlformats.org/officeDocument/2006/relationships/slide" Target="/ppt/slides/slide7.xml" Id="R3ead8bac9d5b4af5" /><Relationship Type="http://schemas.openxmlformats.org/officeDocument/2006/relationships/slide" Target="/ppt/slides/slide8.xml" Id="Rfd13d094cade4f53" /><Relationship Type="http://schemas.openxmlformats.org/officeDocument/2006/relationships/slide" Target="/ppt/slides/slide9.xml" Id="R8f30a1e70fcf4d7f" /><Relationship Type="http://schemas.openxmlformats.org/officeDocument/2006/relationships/slide" Target="/ppt/slides/slide10.xml" Id="R9555499d3cf544ce" /><Relationship Type="http://schemas.openxmlformats.org/officeDocument/2006/relationships/slide" Target="/ppt/slides/slide11.xml" Id="Rb3a7dea179044d9f" /><Relationship Type="http://schemas.openxmlformats.org/officeDocument/2006/relationships/slide" Target="/ppt/slides/slide12.xml" Id="Ra86c83c5a98c4eb4" /><Relationship Type="http://schemas.openxmlformats.org/officeDocument/2006/relationships/slide" Target="/ppt/slides/slide13.xml" Id="R0ca98f1480c043fc" /><Relationship Type="http://schemas.openxmlformats.org/officeDocument/2006/relationships/slide" Target="/ppt/slides/slide14.xml" Id="Raaeadbe9ec8f47eb" /><Relationship Type="http://schemas.openxmlformats.org/officeDocument/2006/relationships/slide" Target="/ppt/slides/slide15.xml" Id="R321db97369ee4916" /><Relationship Type="http://schemas.openxmlformats.org/officeDocument/2006/relationships/slide" Target="/ppt/slides/slide16.xml" Id="Rcbada6bb24504707" /><Relationship Type="http://schemas.openxmlformats.org/officeDocument/2006/relationships/slide" Target="/ppt/slides/slide17.xml" Id="Ra17b0c54593a4142" /><Relationship Type="http://schemas.openxmlformats.org/officeDocument/2006/relationships/slide" Target="/ppt/slides/slide18.xml" Id="R5c989cb3a73d4515" /><Relationship Type="http://schemas.openxmlformats.org/officeDocument/2006/relationships/slide" Target="/ppt/slides/slide19.xml" Id="R23b1d57208424234" /><Relationship Type="http://schemas.openxmlformats.org/officeDocument/2006/relationships/slide" Target="/ppt/slides/slide20.xml" Id="Ra5ad0e81f9184790" /><Relationship Type="http://schemas.openxmlformats.org/officeDocument/2006/relationships/slide" Target="/ppt/slides/slide21.xml" Id="R64d5b3082c9547a0" /><Relationship Type="http://schemas.openxmlformats.org/officeDocument/2006/relationships/slide" Target="/ppt/slides/slide22.xml" Id="R8b08e3e34f744aca" /><Relationship Type="http://schemas.openxmlformats.org/officeDocument/2006/relationships/slide" Target="/ppt/slides/slide23.xml" Id="R04a49bf9adb041f6" /><Relationship Type="http://schemas.openxmlformats.org/officeDocument/2006/relationships/slide" Target="/ppt/slides/slide24.xml" Id="R530706880a1c4240" /><Relationship Type="http://schemas.openxmlformats.org/officeDocument/2006/relationships/slide" Target="/ppt/slides/slide25.xml" Id="Rf273683cd67e41d7" /><Relationship Type="http://schemas.openxmlformats.org/officeDocument/2006/relationships/slide" Target="/ppt/slides/slide26.xml" Id="R03a7691fa93543ce" /><Relationship Type="http://schemas.openxmlformats.org/officeDocument/2006/relationships/slide" Target="/ppt/slides/slide27.xml" Id="R104742e6a1f34909" /><Relationship Type="http://schemas.openxmlformats.org/officeDocument/2006/relationships/slide" Target="/ppt/slides/slide28.xml" Id="Rbbd1a460804940eb" /><Relationship Type="http://schemas.openxmlformats.org/officeDocument/2006/relationships/slide" Target="/ppt/slides/slide29.xml" Id="R8dc37b86f2184c0c" /><Relationship Type="http://schemas.openxmlformats.org/officeDocument/2006/relationships/slide" Target="/ppt/slides/slide30.xml" Id="R13b2e01800554291" /><Relationship Type="http://schemas.openxmlformats.org/officeDocument/2006/relationships/slide" Target="/ppt/slides/slide31.xml" Id="R72e46925ab374c8a" /><Relationship Type="http://schemas.openxmlformats.org/officeDocument/2006/relationships/slide" Target="/ppt/slides/slide32.xml" Id="R01aacbb5ff9f4669" /><Relationship Type="http://schemas.openxmlformats.org/officeDocument/2006/relationships/slide" Target="/ppt/slides/slide33.xml" Id="R62d8c3b8062b49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b3d67b5e6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b1edc2fbd4cd2" /><Relationship Type="http://schemas.openxmlformats.org/officeDocument/2006/relationships/notesMaster" Target="/ppt/notesMasters/notesMaster1.xml" Id="R0d4188c6783145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3ba2f164b4b68" /><Relationship Type="http://schemas.openxmlformats.org/officeDocument/2006/relationships/notesMaster" Target="/ppt/notesMasters/notesMaster1.xml" Id="R9308ed439b0f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4ba22b31334855" /><Relationship Type="http://schemas.openxmlformats.org/officeDocument/2006/relationships/notesMaster" Target="/ppt/notesMasters/notesMaster1.xml" Id="Ra6922a9af9a84f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a7901de6f74b9b" /><Relationship Type="http://schemas.openxmlformats.org/officeDocument/2006/relationships/notesMaster" Target="/ppt/notesMasters/notesMaster1.xml" Id="R7ae2159c3d0c49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c81dcca52b4ed3" /><Relationship Type="http://schemas.openxmlformats.org/officeDocument/2006/relationships/notesMaster" Target="/ppt/notesMasters/notesMaster1.xml" Id="Rb797c11a405a41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33990c852746e6" /><Relationship Type="http://schemas.openxmlformats.org/officeDocument/2006/relationships/notesMaster" Target="/ppt/notesMasters/notesMaster1.xml" Id="Raee3ab491e6847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3965edfbed4c45" /><Relationship Type="http://schemas.openxmlformats.org/officeDocument/2006/relationships/notesMaster" Target="/ppt/notesMasters/notesMaster1.xml" Id="Rcf837ee44781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ecf00f56a9481c" /><Relationship Type="http://schemas.openxmlformats.org/officeDocument/2006/relationships/notesMaster" Target="/ppt/notesMasters/notesMaster1.xml" Id="R9b70635f7f2448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a5a5ea49de4829" /><Relationship Type="http://schemas.openxmlformats.org/officeDocument/2006/relationships/notesMaster" Target="/ppt/notesMasters/notesMaster1.xml" Id="R4bab365cc7c242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a353441bde471d" /><Relationship Type="http://schemas.openxmlformats.org/officeDocument/2006/relationships/notesMaster" Target="/ppt/notesMasters/notesMaster1.xml" Id="R1c651982327844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e974f8a20d4db0" /><Relationship Type="http://schemas.openxmlformats.org/officeDocument/2006/relationships/notesMaster" Target="/ppt/notesMasters/notesMaster1.xml" Id="Re81d88b16b744d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1598dbe79942c7" /><Relationship Type="http://schemas.openxmlformats.org/officeDocument/2006/relationships/notesMaster" Target="/ppt/notesMasters/notesMaster1.xml" Id="Rbdb610c8b6ea48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545ef88bfc4b00" /><Relationship Type="http://schemas.openxmlformats.org/officeDocument/2006/relationships/notesMaster" Target="/ppt/notesMasters/notesMaster1.xml" Id="R1d1ff06abdf749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0f83e38eec43e3" /><Relationship Type="http://schemas.openxmlformats.org/officeDocument/2006/relationships/notesMaster" Target="/ppt/notesMasters/notesMaster1.xml" Id="R0ad8530a9c464f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b329b5e1334714" /><Relationship Type="http://schemas.openxmlformats.org/officeDocument/2006/relationships/notesMaster" Target="/ppt/notesMasters/notesMaster1.xml" Id="R1792613a72884c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b15e056eb44124" /><Relationship Type="http://schemas.openxmlformats.org/officeDocument/2006/relationships/notesMaster" Target="/ppt/notesMasters/notesMaster1.xml" Id="R2099cc93a0cc45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d9f5c025f94996" /><Relationship Type="http://schemas.openxmlformats.org/officeDocument/2006/relationships/notesMaster" Target="/ppt/notesMasters/notesMaster1.xml" Id="Re1e76659c56f4c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fb3e2763f4545a9" /><Relationship Type="http://schemas.openxmlformats.org/officeDocument/2006/relationships/notesMaster" Target="/ppt/notesMasters/notesMaster1.xml" Id="R01e71f5d10e145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5e8ddb580d404a" /><Relationship Type="http://schemas.openxmlformats.org/officeDocument/2006/relationships/notesMaster" Target="/ppt/notesMasters/notesMaster1.xml" Id="Rb00fdc0680744e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bc078a1c6441dd" /><Relationship Type="http://schemas.openxmlformats.org/officeDocument/2006/relationships/notesMaster" Target="/ppt/notesMasters/notesMaster1.xml" Id="R77f9a6e991bf46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d6f84a720a4c2f" /><Relationship Type="http://schemas.openxmlformats.org/officeDocument/2006/relationships/notesMaster" Target="/ppt/notesMasters/notesMaster1.xml" Id="R9c0d7e3b6d2e4d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ad1e8cd4584e82" /><Relationship Type="http://schemas.openxmlformats.org/officeDocument/2006/relationships/notesMaster" Target="/ppt/notesMasters/notesMaster1.xml" Id="Re14b66641ed1424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e35478590894fd3" /><Relationship Type="http://schemas.openxmlformats.org/officeDocument/2006/relationships/notesMaster" Target="/ppt/notesMasters/notesMaster1.xml" Id="Rf0310e34b53e49e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a2d3151734140dc" /><Relationship Type="http://schemas.openxmlformats.org/officeDocument/2006/relationships/notesMaster" Target="/ppt/notesMasters/notesMaster1.xml" Id="R4ee3e5c69a724ea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513673b97914a5a" /><Relationship Type="http://schemas.openxmlformats.org/officeDocument/2006/relationships/notesMaster" Target="/ppt/notesMasters/notesMaster1.xml" Id="Rfdfd419814ac41f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b0d2e6bc28c4cbc" /><Relationship Type="http://schemas.openxmlformats.org/officeDocument/2006/relationships/notesMaster" Target="/ppt/notesMasters/notesMaster1.xml" Id="Rf4c2f435c8844d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d3f8c7c7de4d71" /><Relationship Type="http://schemas.openxmlformats.org/officeDocument/2006/relationships/notesMaster" Target="/ppt/notesMasters/notesMaster1.xml" Id="R10892a5aa4bc41f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2cb052877f4aad" /><Relationship Type="http://schemas.openxmlformats.org/officeDocument/2006/relationships/notesMaster" Target="/ppt/notesMasters/notesMaster1.xml" Id="R18a2232867294c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c56fffd4d144423" /><Relationship Type="http://schemas.openxmlformats.org/officeDocument/2006/relationships/notesMaster" Target="/ppt/notesMasters/notesMaster1.xml" Id="R519a6f09a2f145a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3928894eac64df7" /><Relationship Type="http://schemas.openxmlformats.org/officeDocument/2006/relationships/notesMaster" Target="/ppt/notesMasters/notesMaster1.xml" Id="R000fc7c7d2774d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7d32b22caba4868" /><Relationship Type="http://schemas.openxmlformats.org/officeDocument/2006/relationships/notesMaster" Target="/ppt/notesMasters/notesMaster1.xml" Id="R7e7f446254fb49c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aa923a86db4233" /><Relationship Type="http://schemas.openxmlformats.org/officeDocument/2006/relationships/notesMaster" Target="/ppt/notesMasters/notesMaster1.xml" Id="Refd4d064133d448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74a760375744d3" /><Relationship Type="http://schemas.openxmlformats.org/officeDocument/2006/relationships/notesMaster" Target="/ppt/notesMasters/notesMaster1.xml" Id="R01249a22f77b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教學提示：建立 RFM 與金融特徵。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教學提示：以教學情境走完客戶分群流程。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教學提示：把群組輪廓連到服務策略與責任。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來源：舊教材 PDF A 第 268、318 頁及 PDF B 第 257–259 頁的 RFM 脈絡，金融客戶案例依新版規劃新增。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b0e8e55404c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1fbbc7df94720" /><Relationship Type="http://schemas.openxmlformats.org/officeDocument/2006/relationships/slideLayout" Target="/ppt/slideLayouts/slideLayout1.xml" Id="Rb47079cb8d954f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079cb8d954f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3dfe7955c40cf" /><Relationship Type="http://schemas.openxmlformats.org/officeDocument/2006/relationships/notesSlide" Target="/ppt/notesSlides/notesSlide1.xml" Id="R61f372a23bfe46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5f48ccd4448b9" /><Relationship Type="http://schemas.openxmlformats.org/officeDocument/2006/relationships/notesSlide" Target="/ppt/notesSlides/notesSlide2.xml" Id="R0990812835c649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d7522df8448e9" /><Relationship Type="http://schemas.openxmlformats.org/officeDocument/2006/relationships/notesSlide" Target="/ppt/notesSlides/notesSlide3.xml" Id="R0ad9c2925634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761f817504d40" /><Relationship Type="http://schemas.openxmlformats.org/officeDocument/2006/relationships/notesSlide" Target="/ppt/notesSlides/notesSlide4.xml" Id="R9170976342bb43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5091abf914d20" /><Relationship Type="http://schemas.openxmlformats.org/officeDocument/2006/relationships/notesSlide" Target="/ppt/notesSlides/notesSlide5.xml" Id="R6b3f72c2aca240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f0150a370460f" /><Relationship Type="http://schemas.openxmlformats.org/officeDocument/2006/relationships/notesSlide" Target="/ppt/notesSlides/notesSlide6.xml" Id="Rcfa78a45fde24d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d7cdf973e400d" /><Relationship Type="http://schemas.openxmlformats.org/officeDocument/2006/relationships/notesSlide" Target="/ppt/notesSlides/notesSlide7.xml" Id="R3d605edf2a1041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e29abbcf94087" /><Relationship Type="http://schemas.openxmlformats.org/officeDocument/2006/relationships/notesSlide" Target="/ppt/notesSlides/notesSlide8.xml" Id="R95f5cbe30de14f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cf67634be4971" /><Relationship Type="http://schemas.openxmlformats.org/officeDocument/2006/relationships/notesSlide" Target="/ppt/notesSlides/notesSlide9.xml" Id="Rb6bee524047547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1015b97c4286" /><Relationship Type="http://schemas.openxmlformats.org/officeDocument/2006/relationships/notesSlide" Target="/ppt/notesSlides/notesSlide10.xml" Id="R24f728e5cbd24a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8b99203eb45ee" /><Relationship Type="http://schemas.openxmlformats.org/officeDocument/2006/relationships/notesSlide" Target="/ppt/notesSlides/notesSlide11.xml" Id="R5f43b7ac5d0649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037ca711d4af8" /><Relationship Type="http://schemas.openxmlformats.org/officeDocument/2006/relationships/notesSlide" Target="/ppt/notesSlides/notesSlide12.xml" Id="Re429a6ad52724b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885ff76344831" /><Relationship Type="http://schemas.openxmlformats.org/officeDocument/2006/relationships/notesSlide" Target="/ppt/notesSlides/notesSlide13.xml" Id="Rb886d90a7e9048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c47978ae84fd0" /><Relationship Type="http://schemas.openxmlformats.org/officeDocument/2006/relationships/notesSlide" Target="/ppt/notesSlides/notesSlide14.xml" Id="Rbed74c43fdc446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83fab9d7a4c22" /><Relationship Type="http://schemas.openxmlformats.org/officeDocument/2006/relationships/notesSlide" Target="/ppt/notesSlides/notesSlide15.xml" Id="R095f0f4f022c45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d66b3a40d4609" /><Relationship Type="http://schemas.openxmlformats.org/officeDocument/2006/relationships/notesSlide" Target="/ppt/notesSlides/notesSlide16.xml" Id="Re3ff34c1927845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4aa92b074402b" /><Relationship Type="http://schemas.openxmlformats.org/officeDocument/2006/relationships/notesSlide" Target="/ppt/notesSlides/notesSlide17.xml" Id="R0867428a69984d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30780d5314926" /><Relationship Type="http://schemas.openxmlformats.org/officeDocument/2006/relationships/notesSlide" Target="/ppt/notesSlides/notesSlide18.xml" Id="R6b1e1e73949348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70e9a28824293" /><Relationship Type="http://schemas.openxmlformats.org/officeDocument/2006/relationships/notesSlide" Target="/ppt/notesSlides/notesSlide19.xml" Id="R99fb788a9ba64f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1c0df1bf140be" /><Relationship Type="http://schemas.openxmlformats.org/officeDocument/2006/relationships/notesSlide" Target="/ppt/notesSlides/notesSlide20.xml" Id="Ra5424c246b8c41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ce6cde3a64c1c" /><Relationship Type="http://schemas.openxmlformats.org/officeDocument/2006/relationships/notesSlide" Target="/ppt/notesSlides/notesSlide21.xml" Id="Ra8089fda59a046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99d908da14f57" /><Relationship Type="http://schemas.openxmlformats.org/officeDocument/2006/relationships/notesSlide" Target="/ppt/notesSlides/notesSlide22.xml" Id="R4a63aa54d80e45f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6e2659d06455e" /><Relationship Type="http://schemas.openxmlformats.org/officeDocument/2006/relationships/notesSlide" Target="/ppt/notesSlides/notesSlide23.xml" Id="Rb6719537c51245e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4c1c6d4c74ef3" /><Relationship Type="http://schemas.openxmlformats.org/officeDocument/2006/relationships/notesSlide" Target="/ppt/notesSlides/notesSlide24.xml" Id="R50cb64dfdffc490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6663617b84194" /><Relationship Type="http://schemas.openxmlformats.org/officeDocument/2006/relationships/notesSlide" Target="/ppt/notesSlides/notesSlide25.xml" Id="R407973b1b2e644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25b91a86149cb" /><Relationship Type="http://schemas.openxmlformats.org/officeDocument/2006/relationships/notesSlide" Target="/ppt/notesSlides/notesSlide26.xml" Id="Ref0982df9ee1477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a319dae8c483f" /><Relationship Type="http://schemas.openxmlformats.org/officeDocument/2006/relationships/notesSlide" Target="/ppt/notesSlides/notesSlide27.xml" Id="Rd05e44a2b64e478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018450fe84b6d" /><Relationship Type="http://schemas.openxmlformats.org/officeDocument/2006/relationships/notesSlide" Target="/ppt/notesSlides/notesSlide28.xml" Id="R82597e4cbb3441a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052d4227e49d1" /><Relationship Type="http://schemas.openxmlformats.org/officeDocument/2006/relationships/notesSlide" Target="/ppt/notesSlides/notesSlide29.xml" Id="R69b6e4ad622543f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af66d75d9450a" /><Relationship Type="http://schemas.openxmlformats.org/officeDocument/2006/relationships/notesSlide" Target="/ppt/notesSlides/notesSlide30.xml" Id="Rd16a4a35ed184e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843baac60453a" /><Relationship Type="http://schemas.openxmlformats.org/officeDocument/2006/relationships/notesSlide" Target="/ppt/notesSlides/notesSlide31.xml" Id="Rc8d5b80383ab415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4a70d71574042" /><Relationship Type="http://schemas.openxmlformats.org/officeDocument/2006/relationships/notesSlide" Target="/ppt/notesSlides/notesSlide32.xml" Id="R4699e276b0884a1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bbe8fa80841db" /><Relationship Type="http://schemas.openxmlformats.org/officeDocument/2006/relationships/notesSlide" Target="/ppt/notesSlides/notesSlide33.xml" Id="R5bb95416f0e7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D0EEE-D18B-4012-8E0B-45F7736D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67DE1-3092-4BA6-9E5B-736A1A31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07｜客戶分群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2318E-9636-4485-A2BD-00BEE6D4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A73C8-9745-4179-BB5B-0AA100B4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012C1-255C-4134-84E1-4343BCB7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E5D11-A5F2-4801-9922-4E8CBEB8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本週路線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C354B-DC1D-4BF5-9FB6-8958726A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RFM 與金融特徵、客群輪廓、服務策略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3C2AB-ED4E-4486-AE37-69EE0E1C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BAC86-8F98-47A1-ADAF-8C337B8C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學習目標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7E99B-C1E2-4663-9D08-599E69FA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能解讀分群結果並提出合理行動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56874-3603-4FD1-9209-ABD6CB8C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711AE-DEC0-497D-9AB3-7A5D81B4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銜接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BB456-1CD0-4658-8443-04EB394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 Week 06 的 K-means 用在客戶經營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64361-E97A-4147-BC12-E42F7C43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93871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D992B-5F7A-44EB-B27C-0D6CE0F8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0EE23-9274-4F5E-93DC-0AE9AD16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客戶分群的目的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395D4-79E0-47B3-A151-463D282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692B7-21FE-45D4-8539-6EC3141F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E45A3-938E-45CA-97B9-28AB768C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AF231-4887-4A8B-9EF4-985B304D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核心問題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F1F36-9D95-4C0A-B9BF-0C12975B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哪些客戶具有相似的往來行為？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4FF6F-52BB-4B6B-8A21-B74566D8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69702-B026-44CE-BD51-387D4A9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分析價值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F308F-8698-4B55-A555-204CA2B7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用有限資源服務不同需求的客群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E8C90-F403-41C5-9BF8-B62B947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D0DC2-9F7B-46E0-A7E2-EBD2A3E1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E9373-1BFF-4A7D-83D2-4549DA3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以特徵衡量相似，再形成群組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F93E2-6149-426D-AC0F-3CCB50FB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7D5B7-5D80-48C0-B07F-446965D3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使用原則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2524C-64D0-43C7-A662-E96730E7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群組提供線索，不替客戶貼永久標籤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CE074-6EC9-4BD4-B89F-90EB09C0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64057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171A1-FA3B-4154-AAFC-AB3B1CCD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762A9-C089-4298-B68E-44A7FE7A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RFM 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49406-9F00-45B4-A96B-734FA00D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86DE6-31DD-4AEA-B6BC-FE248379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C396F-C5DA-4132-844C-417A0B3F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FB4F3-C03B-48C3-9C14-0D24AF95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Recency 最近性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AD5C2-29BF-48FF-89ED-B9E64D35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距離最近一次往來有多久？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A1A94-00CF-4DB8-9242-35CAB68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1A827-0BF4-4DE4-A3D1-0D20B53E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Frequency 頻率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1C485-846E-41A2-A5C4-C788D4D5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一段期間內往來多少次？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98E79-AFE0-47AA-9A54-19754C6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6939-5384-428F-96B4-3D85CBB3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Monetary 金額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A1EE4-990F-4E11-A817-51F616D4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一段期間內的往來金額多少？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F41C1-B11A-410B-B1FC-5EEE56C2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6161C-9585-47BA-B971-22F55F2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用途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729CC-2843-4AEE-9938-B74D7D0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用三種行為面向描述客戶關係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77772-EE67-4813-8C83-FAD7491C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9491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E6AE2-DF00-45DD-AF78-A25F8864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0D132-F202-4E2E-A03C-5261B725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Recency 最近性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939E9-BA85-4ABA-9739-9AE6E0E2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8B771-DBBC-468D-A8B5-12E0A93B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2C8DC-3EEA-46DF-A15C-DF39B8E4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8F70A-444A-4C22-8F69-6D254CFC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觀察內容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670F4-922D-4A3E-BF0B-30BBE88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客戶最近一次交易或使用服務的日期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35BF9-07D6-453D-BAA8-A8748AB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E1660-376C-43FF-BBA7-A35A9DC9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常見表示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7FCDE-05B7-4B74-9B28-DBC205CC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距離基準日相隔的天數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85C1E-4C4F-4EBC-93DC-1842434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DE4BF-9690-426F-87DB-3F7F9628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解讀方向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9489B-F71D-42BA-B61E-9C1AB8AD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相隔天數愈短，代表近期仍有往來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2C507-C45F-40E4-9006-C38CB194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563B4-B2BC-46EC-BAFE-58CB6DF8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先說清楚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676B1-5DDF-4DDF-8854-E31066A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交易、登入或諮詢的定義可能不同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E1EFC-D044-4C6C-8A07-28212FB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64189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38DDB-1D2D-4EBC-9412-8537E6D9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47B12-8E61-49A0-8325-01531B1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Frequency 頻率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92B04-2284-4E88-804C-8DFAF3FA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68F0D-B67C-4155-B0CF-DED28722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F966C-729B-4D31-8EAF-E451544B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15ED8-0A3B-4D25-9DA9-493E5387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觀察內容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179A9-24FD-41EB-B86D-65B9CAB0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客戶在期間內的往來次數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FA008-5CEF-4122-87CC-821AD16E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445C0-CE10-4793-AD1A-B905F1B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分析期間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E23A1-A5D4-427D-915F-28561626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例如最近三個月或十二個月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C93A1-8DB5-4198-8484-511DFEF7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35435-422A-431F-A18D-88E5F884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避免誤算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82325-1F4B-499F-B63B-1DB43DC7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同日多筆交易是否算多次要先定義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70EE0-D556-46E1-845F-5CF572E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4C934-50DD-4838-88C8-5E92D559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金融例子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C2BC6-316E-43BF-9FBE-42EAA07A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刷卡次數、登入次數或交易月份數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0666E-F1A5-40AA-8572-6C0969E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72290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594C69-B5FB-48A9-9A33-566B30C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5CF55-B78D-47CB-8339-C12F97CA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Monetary 金額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FD67C-3732-4A3B-A495-C5AFAF93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F2504-3374-46B7-B130-794E42E0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B6814-133F-42AA-8035-328176FB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541F7-4C2A-4A4B-BE39-7925BDFD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觀察內容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F26BB-015B-4D88-B306-66EE4F2C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客戶在期間內的金額表現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BDC02-EA41-4CA7-9B2B-02D703F0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F9EB8-45AE-4B65-A675-B084AD43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可能定義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EC89C-6D3A-420C-8D61-F1D1D5AB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交易金額、資產餘額或保費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765E8-C598-4E53-8303-BAF6AEB5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3FD10-92D3-4860-B908-720043C4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比較前提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F575EC-CA17-431E-8AA1-9920CCC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幣別、期間與正負方向要一致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78A6B-B765-40FE-96E3-E847715D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A921A-5FDE-43C7-BDBF-8DC64AF4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B6B6F-92DF-418D-8C48-3F5251D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金額高不代表一定有較高服務價值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51EFE-D6D6-4251-8E34-2C513A63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68065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99F7D-F66E-4089-A7AE-6BE5A827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AF8D7-1876-44FC-AD09-E86DCD54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RFM 的計算基準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3E651-3FEE-4A49-B53D-2AA561F3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841A9-369C-4510-AE19-3DC42DAF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2295-830F-48E1-AB8B-0AB74BAC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A82C9-1537-40B9-8375-F840B39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基準日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E13EE-10A1-4546-8158-44B43F3A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所有客戶使用同一個觀察截止日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12A94-A753-4ADB-BB59-61A84269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27F83-E715-40C2-8659-AC281A9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觀察窗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223F1-895F-46B3-A89D-E3FF62A2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R、F、M 盡量採一致期間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996A1-35E5-4961-A814-1C873D3C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C8297-5E87-4131-ABB8-0EBF7D86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分析單位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D4EC9-1AE2-401B-9295-5A0D1D5E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一列代表一位客戶或一個帳戶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BAB88-7D88-4350-A8A8-B399D839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FB79D-AC45-478F-A03B-D1C8E3A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資料範圍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25F77-94CE-49E0-B511-F152FC22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排除測試帳號、無效交易與重複紀錄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29A4F-CC92-4B4C-BF0E-E338148B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2748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C618D-AC46-4E47-A330-2357C6A8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65899-06AD-41B8-B5D8-49F47AC3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金融服務的其他特徵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E083F-5E2E-4347-A9DA-4EEDFBC7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19BE7-5CB1-44A7-846B-369A6270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5F1F0-C296-4D2F-AF35-8EA60D9B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1ACF7-A38C-4A09-9E32-FB3CCD24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通路偏好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F14F9-E72F-42CC-8A61-73D33A58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分行、網銀或行動銀行使用比例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F32FB-9B4D-49B3-9515-F2BB0078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42412-E4A8-41E0-9ECF-1E306497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產品關係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F9151-9F34-4DE0-94A7-8A5B9D5E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存款、信用卡、基金或保險的使用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38C34-B5D1-46D4-92A3-A3B21AB5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D029B-724B-4F0E-AC25-23CFF302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服務互動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FF0F6-25CE-4C6B-8953-7D22FAD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客服、申訴與問題處理紀錄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77E96-315A-476C-AE41-531BF6FF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F9E1E-0CB6-45A3-8E87-82BEB4BD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風險資料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2D695-C67E-4AA2-8F36-DA64CB0D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只有符合目的、權限與規範才使用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2CC2F-2C4C-467F-B0D2-07DE81D0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050481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6655C-E3F4-448E-9C10-20B550E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5F9F4-17F8-4DCE-9E00-B4A8B62C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特徵選擇的取捨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F6C18-013F-4E9D-91DD-2A63F186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A8CB2-F98B-4F6B-8ACC-31FCADD7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E3037-1BFE-4641-B93C-43557920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DA7DD-BDEA-4577-B927-6C4EA362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太少欄位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7BD48-0F72-4B73-9578-C3530EB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可能看不到重要差異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1BEC3-346C-492B-806B-A5654ABB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1A2DC-A649-4BB7-B4A2-17EC2054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太多欄位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5558A-5815-43E0-81F7-CBCAECB3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距離難以解讀，也可能加入雜訊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C46FC-B908-4AA2-BFC0-74BBD917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EDC32-95C1-4666-B062-28956658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重複欄位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41A86-5F8D-43E4-9ED6-D623ED6B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相近概念可能被重複計算影響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38789-06F7-4A04-8B39-C4DC59B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6E2A2-40C6-41F6-BD07-132A20E5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選擇原則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C2C39-C743-40A5-8770-B2267CC3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以問題、品質與可行動性決定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24A17-7B60-42D4-896C-6B9B2741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72287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36906-C111-4A8F-816C-E21F13DE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4D07F-2E8D-4BDA-81AA-0E3A2F6C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EB931-8E7B-4860-AEC2-F60590FD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A21D6-2FAA-40E6-AAB7-AB8632A6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8F51-298D-44E6-B0C8-8119F23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B4ED4-56B6-432B-8781-CBC7DDD9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RFM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254CB-222A-4C3C-B67E-7EDD2197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最近性、頻率與金額描述往來行為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06E48-EF6D-42CB-89DE-D9DD81F3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52A90-F331-4EE5-A30D-CCEB9DFC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金融特徵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44E32-2D76-4333-BC0B-85AE66B3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可加入通路、產品與服務互動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AF60E-4B3B-4F14-A01C-9F28940D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803D4-45D2-407D-B94F-60F149DA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定義一致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FFA43-AB98-45BC-AA45-E8347A58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基準日、期間與分析單位要清楚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92BA0-9EB8-4AC9-9CB6-9091BEA4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E1D78-AB44-49BB-9F55-8008E768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資料責任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68596-2A02-4EC9-8FA0-3D084A61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只使用完成目的所需的資料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4A148-69C2-42F2-9D5E-1ECAF444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632213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26D0E-FA07-4AE1-BEC9-E06C6890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BEE3F-4F11-4E9A-A3A4-A4E52526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35FDF-AE0A-4729-BF69-B3C27C18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1D8C0-1C93-4EBD-9561-B1BF9B44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D4E55-4F4E-47B4-9544-4ECD69AC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7E905-76DA-48FA-AB61-29125A7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5AE54-B020-454A-8403-8BE39E9C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R 代表？（A 最近性　B 風險）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5955B-AEC8-40DB-81D7-B66B1CE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F 代表？（A 頻率　B 金額）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C4192-96EB-4BB2-B467-1FEE1A51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M 代表？（A 金額　B 月份）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ADB60-3505-475E-955D-23298361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R 天數愈小通常表示？（A 最近有往來　B 很久未往來）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1D8F5-13E5-43B9-A83C-3A7D211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特徵是否要符合分析目的？（A 要　B 不用）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BAAFC-9D8D-49AA-9FF0-84868252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8B101-9FDC-49E3-AC98-F6149EF7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6889199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E1938-48D3-4F00-9F43-8918E47A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35613-FC53-4411-9436-57F02AB5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第二節｜從資料到客群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EAEE8-01A8-4EF8-963C-3AE77FE2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08D18-2519-4944-8212-AABC3EF2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6774B-78E1-4470-945C-1FC4D092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7CE22-FA1F-40DF-B3AF-C87F9705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案例目標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F4A79-AE18-4BFD-AA8A-E66DC8D4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了解客戶往來型態，改善服務安排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7B406-0784-48F1-B702-3AD8E17C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D85F6-93AB-450F-B0FA-2DC4541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E541A-DE8E-4046-A2BA-F451E0B9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整理資料、標準化、分群、描述輪廓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09564-8212-44B7-A452-92A98C52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1AB96-33D9-4F5F-B92D-72124157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課堂重點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00ED8-0096-482B-A94F-FAF21C33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解讀結果，不進行大量手算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005FE-DBD2-43A3-B433-B5FB20F4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676816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5B5C0-1D97-4A3E-8AC3-274BB457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BB556-22D6-401E-AA87-D9E412DF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案例資料表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68D4B-B219-45BA-9EFB-64A3C367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5619C-0BEA-49F2-B4A5-1089C1E4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B515D-41A4-4FAB-B15D-0D57C600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862BF-91FF-497B-B83F-5B77B018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一列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2B603-FE53-47E7-AC4A-0BCA58A3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代表一位個人客戶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CFDC3-4B28-4514-BA49-D8FF0267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BE889-376E-4A6A-B3DA-FFCF1EDE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84C1C-BF96-4476-9FA9-E87BA210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距離最近交易的天數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3BF89-C99F-4264-802A-6391F181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8EC0C-B4C8-4DE2-842A-D29372F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C8102-E7AF-43A3-82CE-66096D3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最近十二個月有交易的月份數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5B300-A323-4F52-B41D-4B38FBC5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1308B-01FD-4CB7-98BC-7C417D7D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65C86-D863-45AD-8130-3E6E4D6F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76700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最近十二個月平均月交易金額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8B9EB-CA8B-4D41-9B73-9745D092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29F42-5D46-4B97-90A7-72873171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2476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補充欄位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A83E1-1768-458C-952C-759AAC89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43475"/>
            <a:ext cx="76676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數位通路使用比例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DB21F-8975-456A-ABBA-D703405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72150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678550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E23EB-BEDD-49B0-A17F-BC39EBD5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5236C-0672-4CA5-BAD7-98BE57C9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資料品質檢查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A46B1-5320-488A-82F5-80693A0F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9D462-F61E-493C-844C-27EE9DE0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E9FD2-6E12-42BD-97B5-D2A324A9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3C0D0-75AF-4EAD-8F65-AFA812EC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客戶識別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D6E8A-927B-493B-97E6-623EA170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同一客戶是否有重複資料？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BBB1B-C699-42BB-A9DB-D9ED9BDB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F227A-0DB8-4C61-B093-FAE4E899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CF7463-2CC7-4073-91BA-3C2FB074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是否超出觀察期間或出現未來日期？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2EF52-59CC-4284-AC38-C83D412F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A087D-39D1-479E-A416-9408BA44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金額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21378-41F4-4CB7-9ED0-FA9ED255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退款、沖銷與幣別是否處理一致？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7AF63-1C2A-428E-885A-90C1EFD6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008AF-0F68-4A0C-BA45-65E067FF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缺漏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D4331-4763-4272-BAB7-9B7827E0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缺值代表沒有往來，還是資料未取得？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96E2D-00E1-4774-B04F-BF844E72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913103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2DBF2-D5BF-4797-A863-1DD6D6E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26011-AE19-4211-B9B8-28C54C2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特徵方向的統一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45959-C9EF-4A31-8165-C61D1151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42726-7EAA-474A-B780-D8AC304E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421D9-19D9-45FB-9C00-10B1E159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9E485-CB0A-446E-AF93-E83E2FA9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R 的原始方向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208CB-2038-46E1-B2AD-C5832A36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天數愈大，代表愈久沒有往來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7E015-3423-4DEC-9752-C9E9468A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BA901-2FAA-42D2-8356-9BC5B4A9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F 與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BAB92-EFF2-4BE9-B910-149E6920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數值愈大，通常代表往來較多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C0925-5E18-49AC-A082-B27B4B59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384FF-EE18-45ED-AA80-72F97CFC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解讀做法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B978F-B266-43B9-A5E8-526961C8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先記住方向，或轉換成一致分數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625CC-85D9-4E61-98F1-20416A63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21AEB-55C8-485F-8A0E-ACDAC6EA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重要原則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911AE-D8FC-4E90-95C1-C5AA8BBC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報告中說明轉換方式，避免誤讀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12765-DB18-47C7-B0D8-CD6B5AA9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95714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E6ED7-6033-47CA-AFA7-11045AAE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BACAA-C989-4B19-94E3-5389913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標準化的必要性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44CEA-5080-4459-9D5B-E3FDEE6F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2817B-54C8-4F99-ABA9-7CB548C6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8A5E6-88CD-445C-8105-792C3E3A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42622-0387-45A2-91C2-EDCEFA3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原始尺度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C4637-D592-4B95-9408-4F7CE23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天數、次數、金額的範圍差很大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BEB36-054B-46D5-9205-191B1785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78053-8FBF-44ED-B0B8-B2DA6C1B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未經處理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E44C7-0C11-4CCD-A2C9-5BCAC9FE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金額可能主導 K-means 的距離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2DFBC-EFB7-43C9-B7AD-325A23E2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142EE-07B9-4535-8CC6-6AFBA42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標準化後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39103-DF92-4FE5-BD79-7DD7B4B2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不同欄位對距離的影響較可比較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C01BA-71B5-48CA-9B14-A9AD61C8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17576-A49D-47E0-A00E-DFFAB183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仍需判斷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0A184-AB1C-4F5B-BC52-2E8EA4C0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標準化不會自動修正錯誤資料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D4BAD-DAA8-41B6-A9F4-C327820C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52436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37DE80-69CB-4839-8966-048D33F3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720FC-473C-4FC9-9AED-7830B18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設定候選 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633C7-EA20-4305-893B-93B0CA92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47236-E8B2-407A-97E7-E40ADEB5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C60AB-95B1-43C8-8498-320373D3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310EB-39BC-4943-BD00-7E664F33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初步方案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EDC1A-D306-44A9-9A74-EB7AD8A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比較三群、四群與五群等方案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F6F10-67E8-4884-9C52-23DFD31C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7E1F1-AF39-46B0-9DAC-9FB5C5EC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統計檢查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8FD8AA-0732-4A86-B8DA-70410C99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 SSE、穩定性與群組大小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B31C7-77BA-4EA1-879B-C9AEF48F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89E2B-8D2A-4D64-9431-2366B09C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業務檢查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3E7E7-F258-4D74-8B5F-049033E9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客群差異是否清楚並可支援服務？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ADE31-EF9F-4083-985A-47423A6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2615E-6D4A-47EB-AC67-0CBC9F34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最後選擇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A0D47-32FB-4563-973B-CC29B7B0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兼顧分析品質與組織可執行性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953FA-75D7-4639-BF4C-DE451669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694086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69A7C-F7C4-45AB-A77B-FE5146C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E6F76-0F4B-4AE5-8224-FCC38CEF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分群結果範例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70EDE-9681-4D28-8548-A265ED82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F9E96-BF8B-4367-8FE5-D71F8388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B65B3-A732-4800-880C-5AC3C0EA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43E04-E817-4967-A800-3523A9BB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客群甲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A8989-8305-4DBA-B286-ADF53A6F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近期往來、高頻、金額較高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B7EA2-C47E-4B89-8077-77C2A45D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64F1E-D901-4451-92D8-50ADDD45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客群乙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F7A03-6648-4E42-9FC5-54F07DF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近期往來、頻率中等、偏好數位通路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44955-4D8C-43EA-A251-4CDDF3B7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9DC9F-9CBD-4795-A1E0-AAA168D9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客群丙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569F8-A44C-457D-8FA9-88541AEF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久未往來、頻率與金額較低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FEE7E-28E9-468F-8B80-4A315F38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29D8D-E812-4CAA-8340-750C005F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說明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4219C-5D7A-4E61-98AD-478EE202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此為教學情境，不代表真實銀行數據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6B712-EFAD-465B-B5D0-9D8F640C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969095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4F5D5-9015-4871-88B1-07A48D0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B0CD6-3496-45B3-BCCE-ECD693A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群組輪廓表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18A15-7337-48DE-8A95-05993E7C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EB0FC-CB92-4C7D-BA9A-CB2E853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F0A1D-5897-4B97-9053-D8DF58A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36B39-FA0B-4E00-A878-D6C7E46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規模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2F318-CC58-4428-A794-E522326C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各群客戶數與占比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D0828-EA0D-47A7-8185-9E612F4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4B678-273E-4362-87F7-0D76DB3F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中心特徵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BE6AB-F9C0-49F0-88DD-3583325F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R、F、M 與通路使用的平均或中位數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E9C01-EE2F-481A-BF85-336799FD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F30B9-0FAF-4D69-8215-10FDE7E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群間差異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BE31D-199F-4EDE-964C-A5098679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找出最能區分群組的特徵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CC768-DF36-42BD-AA8C-BB3025B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3FB79-9AF5-4457-A70D-2FB941E3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群內差異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62D37-6518-4FE5-8705-B34D842C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避免只看平均而忽略分散情形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D3C8C-1DB6-48F8-B4EF-CA113F68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697559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BDB44-073E-4D08-AD34-E61E838C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3EFA1-FC39-47C1-A4C1-62933E02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群組命名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B7F3E-52B0-4B65-9BB8-709A8FD8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F7A80-1F27-4D2B-A8B5-230417FA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7E5B-9BE2-43AF-941B-D257A9BE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88C1F-2325-474D-9E2F-86F387D6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描述型名稱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FA000-C76D-4521-9E12-979C1A45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近期高頻往來群、數位活躍群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261AB-0537-49F0-9E61-295FF4F1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D89DD-1ED0-4E59-8499-86EAF38B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名稱依據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040C6-C555-4C21-9862-8706C3FA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直接對應可核對的特徵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6730F-42C5-4749-97E4-B404B3B5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48284-2871-46A1-BC94-25CE269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避免價值判斷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36D6B-2DF7-4E8C-A0B2-192C2079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不用好客戶、差客戶等標籤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57B9B-D45B-47E2-B6F1-40971972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73E20-7AB3-4837-A2D5-F554B81D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保留彈性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B30EB-A223-4767-AD28-474DD60A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客戶行為改變後，群別可能改變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E5264-5604-4F0B-A479-459F1156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298741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166DA-FDA3-4C63-A2D4-ED1F8B64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B87B8-D742-4FF5-8D84-8F875FA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754A8-F70E-4DFA-93EB-327B7B91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B5151-8E39-42C7-8165-8E8C75EE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BECB8-421C-402C-A83E-D770882A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9F12E-28AC-4813-B8A2-0154F139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4F026-59A1-438A-A8BA-6F6B215D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先處理識別、日期、金額與缺漏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9F5DD-442F-4529-BF33-D817D78B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5D31E-54CC-4776-89F6-D4A052A0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尺度處理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67FE4-ADDE-4071-BF73-0B063334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RFM 與其他欄位需要可比較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99CE9-7450-4E6F-8503-EF931AF1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C24AA-5C69-4EEA-95A8-3E2DA4A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選 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56BC0-108E-46F0-83BA-1BB37A13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結合統計品質與業務可用性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3625B-526D-48BE-A371-EA6707C6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64CF4-62FE-45E3-B2E9-5733302A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結果解讀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98A56-783A-4B44-AA1E-B68FD913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同時看規模、中心與群內差異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14C3D-111E-4A20-918D-5588F2A0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785859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A4FC0-67A8-41B3-A9A4-65DA749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D1B24-7C23-4653-A85C-8582BC5A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2A0AC-E75D-4361-82B9-612825DE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0E4FA-44AB-49C1-A840-B10B51C0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BAE6D-7668-40A3-A11E-94ADA6B0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45569-A559-4501-AE6C-722F14A6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AE9E6-511B-48DB-B068-AFC171D2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RFM 尺度差很大時可先？（A 標準化　B 忽略）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A929D-042F-4661-8875-6B170FB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分群前是否要檢查退款與沖銷？（A 要　B 不用）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F7F09-402B-4422-BA20-4FC7C753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選 K 是否只看 SSE？（A 是　B 否）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BACBA-D738-4150-9334-C8CD50DD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群名最好依據？（A 可核對特徵　B 個人好惡）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6B24A-3EBC-498D-B2FC-0902B406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群內成員是否完全相同？（A 是　B 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3C0F3-3978-4930-9C7D-15535ECE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E0F4E-495A-45FC-9577-CA00226D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3-B　4-A　5-B</a:t>
            </a:r>
          </a:p>
        </p:txBody>
      </p:sp>
    </p:spTree>
    <p:extLst>
      <p:ext uri="{BB962C8B-B14F-4D97-AF65-F5344CB8AC3E}">
        <p14:creationId xmlns:p14="http://schemas.microsoft.com/office/powerpoint/2010/main" val="20140212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713EC4-EBEC-4C91-B11D-559E733A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EE235-FC70-48AD-84DD-23183F69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第三節｜客群策略與責任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426D1-DA13-4953-A5FB-968D0612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8E8E0-FAF3-4951-93D8-0E448F48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E321C-564C-4077-897D-EBD8A7B4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D7247-A4F8-4214-AE23-8BA10D66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策略起點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8C8F6-DF10-40CA-B21F-39043A5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根據客群需求改善服務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1AA93-0AF2-4905-B630-AD7015BE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B44E6-4F73-4201-8F28-33574757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使用界線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7EFAB-7047-4B34-BF1E-A6931191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群別不能取代個別客戶資訊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EB6C3-191E-4A67-9377-DC9CA41A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70297-8D6B-4A30-A7A7-F21403BD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成效追蹤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5C0B2-AB9E-4808-A7A1-AC923EEA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觀察行動是否真正改善結果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7FEE5-6F58-42F9-A48D-E28C584D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8783862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16006-DFC6-4DD2-86AB-7D75D749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5D467-B41F-4986-9E8A-AEADA8EC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客群甲：近期高頻往來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FC15A-CF55-4E91-A3CF-F567B85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4EC56-A3D6-4DEE-B46E-56017787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33304-B438-4954-AE75-D3F1A711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2A385-D9A9-4966-8CC5-2D4C697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輪廓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F221C-251D-4B32-AF63-3A12A417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近期仍活躍，交易頻率與金額較高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2D932-3E94-40EF-B13E-9AEF75BC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427A8-8F8E-4DF0-84B4-ACD4D10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E1D42-C9A5-48F4-BC5B-0BC8A067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穩定服務、效率與安全性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ED98A-51FB-4F99-ACEF-476677B8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A81A7-7774-4D23-8B39-258F9382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服務方向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46251-1705-4A8F-A49A-4F9ACBC0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優先維持體驗並處理異常摩擦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DB58F-01C8-43CC-AB9D-FD218B9B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D2560-78D8-498B-B62C-D6409D94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避免誤用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F2231-7B76-4E31-BFF4-F2100A4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不因高價值推送不合適的高風險商品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78418-64DE-4E86-9A8E-AD2F2171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822413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A424D-CE80-47FC-9E29-08CD2F9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11CD8-9187-4DB5-A405-AAD34E6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客群乙：數位活躍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536A0-A8D6-4359-A628-F438FCBC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F3B7F-E387-41A2-8519-77E7E9AA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31FFA-8CD5-41D8-A2FE-1C654572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52B1B-2EF4-4FEC-A85F-4E68D20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輪廓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AB76-2ADA-41E4-BE44-4EA28E51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近期往來，常使用行動或網路服務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67D02-B8AB-46F0-A43B-27358222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D822A-D077-4E3B-BFD1-6BD16998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可能需求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B2D11-BAB5-4E21-AA75-D2D9B40C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快速、自助且清楚的數位流程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B6130-0D67-4B09-80B9-F23E987E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4222D-CB97-4B9E-A932-1C11C772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服務方向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2607E-8D05-4A63-A2F0-EF2ACAE6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改善介面、通知與線上支援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4BA96-7AB3-4717-AC7E-884044D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53862-2F7B-41AB-BCE3-66B5FC7B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保留選擇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99661-ECD8-4DF5-B589-ECF8C60E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不能假設所有成員都拒絕人工服務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4D578-CD9C-4DC3-A53E-BBAF15CE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306300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2CD8D-8A02-4B23-A227-C3DBDEB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5EFEE-BBBC-461B-8279-F5C10D76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客群丙：久未往來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826CA-4E2D-464F-B0C9-B9805F08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5E8E8-A03E-4036-A151-8149155C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159CA-FA4A-4EC9-9C10-045C36DD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084B9-244D-469D-8370-B1406BFD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輪廓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85FEE-ED1B-4CFF-B3E8-AE09397D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最近性較低，交易頻率與金額較少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6DDD2-E6D0-4F79-9750-DEB90248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2C89B-D748-44B5-85CC-D58D9D51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先求理解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B9576-B87D-40A7-A5AF-699DA07B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可能是需求改變，也可能是資料不完整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1ED40-AC4E-4346-97AD-9C0D8B16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2C820-8CE9-4886-9235-202E2D6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服務方向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A6EF5-DFAE-4365-A5F5-48CE6283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溫和確認需求，提供退出聯繫的選項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73868-1A78-44C0-9257-95C1BFB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979E2-AFAE-4824-AC30-6FE1756D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避免誤擾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F9D9B-2AAB-4E10-8CB1-E9CE6651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不以大量訊息持續施壓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6C0B4-F8AC-4A93-B750-3FDF199C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214088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D4669-B22D-454C-9C6B-030214D2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CEEAC-28B1-4917-8CAE-6BC1B30F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從客群到行動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E502B-6C76-4B7F-A20A-0B09428D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05B44-55E7-46E9-9922-53D0E47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EB57E-7FF6-42CE-9BC9-1DFFE8A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32B9F-B916-48E8-88D8-9AACD6CE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確認目的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1CF71-02E7-48BA-B42F-0B899068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本次行動要改善哪一項服務結果？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A093D-94E2-4756-8B03-3E360E8C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C473A-545F-4BD6-980D-F6606A4F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設計方案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17B85-2AF4-4BC6-B3EF-2FC15D44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不同客群採用不同溝通或流程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ED5E3-D140-4C67-BBB5-285D467C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0FC2E-E34D-4EE3-9095-7946D8E8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小規模測試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97228-5676-4828-BBB6-1F32D47F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先觀察效果與不良影響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8CA3D-876E-49E4-BCAA-E8AEF55B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E6D9B-4241-44C8-8645-DEA4E1C8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再作調整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72BCB-7F4D-4697-B62F-58CEEB74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依留存、申訴與回饋修正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46747-8C9B-4F62-9E17-1DB1EB71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877112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63598-22C9-416A-AA3F-7FD72B2B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49EAA-56D1-496D-80BD-911E53F0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成效衡量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F2ADB-6C89-4F32-B1C6-52A72B3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C199F-7412-42DE-9120-A42D27BB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EBFFB-D5B6-4268-9F65-256628EA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9DFAF-5769-4B1A-80AB-370FC900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業務指標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A44B-B04A-41A9-B026-1E7A0C2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留存、使用率或服務完成率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662DA-611C-4A0E-9271-7E0A486F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BB829-72D3-475B-8624-27507EE2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客戶指標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44B79-F860-4A22-9158-20100EBA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滿意度、申訴與拒絕聯繫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B93B5-14FE-419A-9381-6CCE6A1A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03E74-C5A9-4471-8B14-C6AEB1DC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風險指標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36003-3DC0-41B4-8B5A-DE11924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誤擾、錯誤推薦與差異影響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FE2B1-A085-407C-87E5-408462D8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E86AB-5714-45BB-8557-FEDFFE9A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比較方式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F4800-62F3-4CB2-8545-D08725BE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與合理對照組或行動前基準比較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20AFF-19F5-4657-9929-338619A0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89542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ABECC-CBD0-4C35-8E35-AB18A648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81318-5B60-4628-B8CA-D0E205EF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避免客群標籤化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7FFC8-0E11-475D-BE8B-F9101EA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8276F-5C3C-4162-B218-BD69D9A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9FA87-D109-4414-AF85-BED9CDCA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B0380-5BF1-4DE1-8F4F-FB9C19F5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群別來源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BD72C-0805-46F7-B96A-F290EC74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只反映特定期間與選定特徵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03182-38D6-47D2-A7BA-7AD0D17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AFBB3-05FE-4251-81A5-C56DEF64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個別差異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B386D-86FA-45AE-A493-A0C11D3A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同一群內仍有不同需求與條件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061D4-3F40-4A2D-B213-7A2FDA1B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B270B-23B5-47FC-AAF2-E9D97B8C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時間變化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F7573-9663-44B7-B448-1914459A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客戶可能在不同期間移到其他群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6C70E-B208-4F01-994E-3EEDFC1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29E83-072B-457C-8DA6-B7038DA8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使用方式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7345D-149A-4D78-8A3F-4ACD21F4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群別用來提供線索，不能定義一個人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5625C-9DA9-4D23-A4A1-42D64440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1862457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17FC8-EA3E-4BB0-9C03-60369F50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2417B-B740-42EE-B207-4017CFAE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公平與差異影響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1909B-1F73-4F9A-9AC0-27352A88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BC3E7-5A3C-42A9-8B31-9998B63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92393-F900-48D6-8662-6AD26429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D0FE8-214D-46E3-93FD-F2DAA6F5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檢查問題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66DD7-9458-45EB-8ACB-624E393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哪些群得到較少服務或較差條件？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6CFEEE-77DB-44A6-99BB-95DC4E67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84C13-24D9-4079-8BF8-0D352E4B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代理變數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E98D1-659F-45A9-BDCC-C0E8AAD4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通路、地區可能間接反映敏感特徵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06101-00AF-4B3D-9AA8-F35DB14E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5C1D6-EC67-462C-8A30-C8FB5B0B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高影響用途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408E3-694B-4AA7-841C-5DE89F4E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授信、保險或投資服務需更嚴格審查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F8184-7B29-45A9-9D5D-20F72E95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98FDB-4E52-4179-A22C-612F267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人工覆核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C020B-A4DD-4AB7-9DF9-3BFAF9C9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重大決定要保留說明與申訴管道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ABE6D-12A6-4F22-98EC-DDD1696E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339572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1EA81-9A9C-4890-BDD4-557ABB54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7B84-96CB-447E-8020-12EA7842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隱私與資料最小化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6C8E7-4201-43AD-A5C6-32DD0FE3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F8BB4-F6C9-4F25-8795-1609A2B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2C55C-4CBE-452B-9AF2-93463508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8D9FA-206C-452C-816B-AE53E21D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目的限定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F1E93-55F0-43CE-BBEE-C412E37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先說明資料用於哪一項分析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64AA6-03CA-4684-B81A-6FD6149F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AEFB5-BA74-4D66-9B19-AF62EE14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最少資料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42FC7-3DBF-4A27-A59D-56FE392A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只使用完成目的所需的欄位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37106-45EC-4952-900E-D843B214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D4482-0C7F-40D0-AE18-4D7A1566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權限控管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C02C2-C64E-4577-8BF6-73EC565A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限制誰能查看個別資料與群別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5546C-884B-4A3B-B411-7E5BD71F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6B802-6DD1-4F3E-8E5D-2AF965A0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保存期限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93B86-9AA6-42FE-8B6F-B5EDE4B5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任務完成後依規定保存或刪除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592E6-6FFB-4B2E-B0FD-6E315299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691998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BB2B3-06DF-497D-AC20-0A007B6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E6EAA-B76D-4714-ACE4-716F06E8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07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B03EE-4B42-4EF4-B16F-C43F89D0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19D05-685D-4C22-93CC-5BC9D46F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01BE9-BB4D-4768-B2D5-5F1201B2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1E32A-D734-42A3-82E8-4D5065C1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RFM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2BEA1-0606-4B89-9A69-28881AFC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用最近性、頻率與金額描述客戶往來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B94AF-047D-4485-894B-E4B089F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F512C-97A1-45F6-BB73-3569AEA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分群流程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35FB9-CBE3-4A16-9B0F-57FDB5B3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整理、標準化、選 K 並建立輪廓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964E1-10A0-4F29-9761-C14C549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A99A5F-FDBD-44D1-A2BC-C7C2EFE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策略使用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272F5-3825-4630-AF6E-E0BF82E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根據需求設計服務並追蹤成效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DF9E7-2BBA-4A69-AC25-8AD1A691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7A00B-EEF2-47E0-8CB1-6A7E5B5C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責任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F63C4-9228-442E-A400-F66B7ED8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避免標籤化，檢查公平與隱私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BE543-67FA-4FDD-96D7-8671CDCB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020303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59B66-4D13-434B-A0C1-AA665D6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43EC7-8E61-45A2-BBE5-06DA7649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本節搶答題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CFD3A-3608-4173-9FFC-8EC8930D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55B67-66D4-49E1-A1B3-4C5BFC2F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35140-3208-4DCC-A75D-17A9839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953B6-B0AB-41C3-95D6-D0DC7817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8C3EB-F994-4B63-9FD0-83A135D9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客群策略應先回到？（A 服務目的　B 群名）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600AB-D6F1-4665-B724-752148A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久未往來是否只有一種原因？（A 是　B 否）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DA88E-2F69-4600-8FF1-936EF6A6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群別能否永久定義客戶？（A 能　B 不能）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733E5-B82C-48DF-A7B8-D186265D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高影響決定是否需人工覆核？（A 要　B 不用）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11158-4BBA-429A-B5FA-8636A2D9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資料使用是否遵守最小化？（A 要　B 不用）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ED9C3-3737-419D-863D-CEDD9810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99FEC-0407-4458-9A8C-9A0CA3A0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3-B　4-A　5-A</a:t>
            </a:r>
          </a:p>
        </p:txBody>
      </p:sp>
    </p:spTree>
    <p:extLst>
      <p:ext uri="{BB962C8B-B14F-4D97-AF65-F5344CB8AC3E}">
        <p14:creationId xmlns:p14="http://schemas.microsoft.com/office/powerpoint/2010/main" val="890872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2026-09-04T07:36:02.6660000Z</dcterms:created>
  <dcterms:modified xsi:type="dcterms:W3CDTF">2026-09-04T07:36:02.6660000Z</dcterms:modified>
</coreProperties>
</file>