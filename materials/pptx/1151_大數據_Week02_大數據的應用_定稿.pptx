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69344a72a08479b" /><Relationship Type="http://schemas.openxmlformats.org/officeDocument/2006/relationships/extended-properties" Target="/docProps/app.xml" Id="Rd1993c195d994ed5" /><Relationship Type="http://schemas.openxmlformats.org/officeDocument/2006/relationships/officeDocument" Target="/ppt/presentation.xml" Id="Ra999707625194be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520de926f154c52"/>
  </p:sldMasterIdLst>
  <p:notesMasterIdLst>
    <p:notesMasterId xmlns:r="http://schemas.openxmlformats.org/officeDocument/2006/relationships" r:id="R6e9510c55d224c49"/>
  </p:notesMasterIdLst>
  <p:sldIdLst>
    <p:sldId xmlns:r="http://schemas.openxmlformats.org/officeDocument/2006/relationships" id="256" r:id="R9aaeb1529ee24d36"/>
    <p:sldId xmlns:r="http://schemas.openxmlformats.org/officeDocument/2006/relationships" id="257" r:id="Rd4b567f22e15495a"/>
    <p:sldId xmlns:r="http://schemas.openxmlformats.org/officeDocument/2006/relationships" id="258" r:id="Rc4e2b72a073d4cc6"/>
    <p:sldId xmlns:r="http://schemas.openxmlformats.org/officeDocument/2006/relationships" id="259" r:id="R372e24b0c26d4df5"/>
    <p:sldId xmlns:r="http://schemas.openxmlformats.org/officeDocument/2006/relationships" id="260" r:id="R2e70ab540b8c436d"/>
    <p:sldId xmlns:r="http://schemas.openxmlformats.org/officeDocument/2006/relationships" id="261" r:id="R6b9677b4faf544bb"/>
    <p:sldId xmlns:r="http://schemas.openxmlformats.org/officeDocument/2006/relationships" id="262" r:id="R8797525438b84bda"/>
    <p:sldId xmlns:r="http://schemas.openxmlformats.org/officeDocument/2006/relationships" id="263" r:id="R54f5e94d89a740fc"/>
    <p:sldId xmlns:r="http://schemas.openxmlformats.org/officeDocument/2006/relationships" id="264" r:id="R4bf8b72e3c8b44b6"/>
    <p:sldId xmlns:r="http://schemas.openxmlformats.org/officeDocument/2006/relationships" id="265" r:id="R797e2959f4c7450d"/>
    <p:sldId xmlns:r="http://schemas.openxmlformats.org/officeDocument/2006/relationships" id="266" r:id="Ref88db9d60264a2a"/>
    <p:sldId xmlns:r="http://schemas.openxmlformats.org/officeDocument/2006/relationships" id="267" r:id="Rbf73894abe0542e8"/>
    <p:sldId xmlns:r="http://schemas.openxmlformats.org/officeDocument/2006/relationships" id="268" r:id="R8ca2171eab5642a9"/>
    <p:sldId xmlns:r="http://schemas.openxmlformats.org/officeDocument/2006/relationships" id="269" r:id="R6a419e1e52b7479f"/>
    <p:sldId xmlns:r="http://schemas.openxmlformats.org/officeDocument/2006/relationships" id="270" r:id="R6cae92544fa44175"/>
    <p:sldId xmlns:r="http://schemas.openxmlformats.org/officeDocument/2006/relationships" id="271" r:id="Rfe8d30738b11432b"/>
    <p:sldId xmlns:r="http://schemas.openxmlformats.org/officeDocument/2006/relationships" id="272" r:id="R50cfcc16eda24f89"/>
    <p:sldId xmlns:r="http://schemas.openxmlformats.org/officeDocument/2006/relationships" id="273" r:id="Rb7bf579fee374cb7"/>
    <p:sldId xmlns:r="http://schemas.openxmlformats.org/officeDocument/2006/relationships" id="274" r:id="R567e693ddb3a4e8e"/>
    <p:sldId xmlns:r="http://schemas.openxmlformats.org/officeDocument/2006/relationships" id="275" r:id="R682ae410c2844ef5"/>
    <p:sldId xmlns:r="http://schemas.openxmlformats.org/officeDocument/2006/relationships" id="276" r:id="R414a7fb18e1445d8"/>
    <p:sldId xmlns:r="http://schemas.openxmlformats.org/officeDocument/2006/relationships" id="277" r:id="Rb92465afb8394b11"/>
    <p:sldId xmlns:r="http://schemas.openxmlformats.org/officeDocument/2006/relationships" id="278" r:id="R34e458c481dc4de8"/>
    <p:sldId xmlns:r="http://schemas.openxmlformats.org/officeDocument/2006/relationships" id="279" r:id="R5bd19da49a4643cf"/>
    <p:sldId xmlns:r="http://schemas.openxmlformats.org/officeDocument/2006/relationships" id="280" r:id="Ra68e85a2f74a4319"/>
    <p:sldId xmlns:r="http://schemas.openxmlformats.org/officeDocument/2006/relationships" id="281" r:id="R0f1e788eff524d84"/>
    <p:sldId xmlns:r="http://schemas.openxmlformats.org/officeDocument/2006/relationships" id="282" r:id="R8e8df0667f894543"/>
    <p:sldId xmlns:r="http://schemas.openxmlformats.org/officeDocument/2006/relationships" id="283" r:id="R326c927aaa3b47b4"/>
    <p:sldId xmlns:r="http://schemas.openxmlformats.org/officeDocument/2006/relationships" id="284" r:id="R372f5a0d67cc47a3"/>
    <p:sldId xmlns:r="http://schemas.openxmlformats.org/officeDocument/2006/relationships" id="285" r:id="R9de496d92e0543c3"/>
    <p:sldId xmlns:r="http://schemas.openxmlformats.org/officeDocument/2006/relationships" id="286" r:id="R46027c7c193e45fc"/>
    <p:sldId xmlns:r="http://schemas.openxmlformats.org/officeDocument/2006/relationships" id="287" r:id="Rc8ce9bab38a545f6"/>
    <p:sldId xmlns:r="http://schemas.openxmlformats.org/officeDocument/2006/relationships" id="288" r:id="R6c1c7569487443a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435b15947584f34" /><Relationship Type="http://schemas.openxmlformats.org/officeDocument/2006/relationships/slideMaster" Target="/ppt/slideMasters/slideMaster1.xml" Id="R1520de926f154c52" /><Relationship Type="http://schemas.openxmlformats.org/officeDocument/2006/relationships/notesMaster" Target="/ppt/notesMasters/notesMaster1.xml" Id="R6e9510c55d224c49" /><Relationship Type="http://schemas.openxmlformats.org/officeDocument/2006/relationships/presProps" Target="/ppt/presProps.xml" Id="Rea67d45bd8bd41cd" /><Relationship Type="http://schemas.openxmlformats.org/officeDocument/2006/relationships/tableStyles" Target="/ppt/tableStyles.xml" Id="Ra7f9a581a2a44e8d" /><Relationship Type="http://schemas.openxmlformats.org/officeDocument/2006/relationships/slide" Target="/ppt/slides/slide1.xml" Id="R9aaeb1529ee24d36" /><Relationship Type="http://schemas.openxmlformats.org/officeDocument/2006/relationships/slide" Target="/ppt/slides/slide2.xml" Id="Rd4b567f22e15495a" /><Relationship Type="http://schemas.openxmlformats.org/officeDocument/2006/relationships/slide" Target="/ppt/slides/slide3.xml" Id="Rc4e2b72a073d4cc6" /><Relationship Type="http://schemas.openxmlformats.org/officeDocument/2006/relationships/slide" Target="/ppt/slides/slide4.xml" Id="R372e24b0c26d4df5" /><Relationship Type="http://schemas.openxmlformats.org/officeDocument/2006/relationships/slide" Target="/ppt/slides/slide5.xml" Id="R2e70ab540b8c436d" /><Relationship Type="http://schemas.openxmlformats.org/officeDocument/2006/relationships/slide" Target="/ppt/slides/slide6.xml" Id="R6b9677b4faf544bb" /><Relationship Type="http://schemas.openxmlformats.org/officeDocument/2006/relationships/slide" Target="/ppt/slides/slide7.xml" Id="R8797525438b84bda" /><Relationship Type="http://schemas.openxmlformats.org/officeDocument/2006/relationships/slide" Target="/ppt/slides/slide8.xml" Id="R54f5e94d89a740fc" /><Relationship Type="http://schemas.openxmlformats.org/officeDocument/2006/relationships/slide" Target="/ppt/slides/slide9.xml" Id="R4bf8b72e3c8b44b6" /><Relationship Type="http://schemas.openxmlformats.org/officeDocument/2006/relationships/slide" Target="/ppt/slides/slide10.xml" Id="R797e2959f4c7450d" /><Relationship Type="http://schemas.openxmlformats.org/officeDocument/2006/relationships/slide" Target="/ppt/slides/slide11.xml" Id="Ref88db9d60264a2a" /><Relationship Type="http://schemas.openxmlformats.org/officeDocument/2006/relationships/slide" Target="/ppt/slides/slide12.xml" Id="Rbf73894abe0542e8" /><Relationship Type="http://schemas.openxmlformats.org/officeDocument/2006/relationships/slide" Target="/ppt/slides/slide13.xml" Id="R8ca2171eab5642a9" /><Relationship Type="http://schemas.openxmlformats.org/officeDocument/2006/relationships/slide" Target="/ppt/slides/slide14.xml" Id="R6a419e1e52b7479f" /><Relationship Type="http://schemas.openxmlformats.org/officeDocument/2006/relationships/slide" Target="/ppt/slides/slide15.xml" Id="R6cae92544fa44175" /><Relationship Type="http://schemas.openxmlformats.org/officeDocument/2006/relationships/slide" Target="/ppt/slides/slide16.xml" Id="Rfe8d30738b11432b" /><Relationship Type="http://schemas.openxmlformats.org/officeDocument/2006/relationships/slide" Target="/ppt/slides/slide17.xml" Id="R50cfcc16eda24f89" /><Relationship Type="http://schemas.openxmlformats.org/officeDocument/2006/relationships/slide" Target="/ppt/slides/slide18.xml" Id="Rb7bf579fee374cb7" /><Relationship Type="http://schemas.openxmlformats.org/officeDocument/2006/relationships/slide" Target="/ppt/slides/slide19.xml" Id="R567e693ddb3a4e8e" /><Relationship Type="http://schemas.openxmlformats.org/officeDocument/2006/relationships/slide" Target="/ppt/slides/slide20.xml" Id="R682ae410c2844ef5" /><Relationship Type="http://schemas.openxmlformats.org/officeDocument/2006/relationships/slide" Target="/ppt/slides/slide21.xml" Id="R414a7fb18e1445d8" /><Relationship Type="http://schemas.openxmlformats.org/officeDocument/2006/relationships/slide" Target="/ppt/slides/slide22.xml" Id="Rb92465afb8394b11" /><Relationship Type="http://schemas.openxmlformats.org/officeDocument/2006/relationships/slide" Target="/ppt/slides/slide23.xml" Id="R34e458c481dc4de8" /><Relationship Type="http://schemas.openxmlformats.org/officeDocument/2006/relationships/slide" Target="/ppt/slides/slide24.xml" Id="R5bd19da49a4643cf" /><Relationship Type="http://schemas.openxmlformats.org/officeDocument/2006/relationships/slide" Target="/ppt/slides/slide25.xml" Id="Ra68e85a2f74a4319" /><Relationship Type="http://schemas.openxmlformats.org/officeDocument/2006/relationships/slide" Target="/ppt/slides/slide26.xml" Id="R0f1e788eff524d84" /><Relationship Type="http://schemas.openxmlformats.org/officeDocument/2006/relationships/slide" Target="/ppt/slides/slide27.xml" Id="R8e8df0667f894543" /><Relationship Type="http://schemas.openxmlformats.org/officeDocument/2006/relationships/slide" Target="/ppt/slides/slide28.xml" Id="R326c927aaa3b47b4" /><Relationship Type="http://schemas.openxmlformats.org/officeDocument/2006/relationships/slide" Target="/ppt/slides/slide29.xml" Id="R372f5a0d67cc47a3" /><Relationship Type="http://schemas.openxmlformats.org/officeDocument/2006/relationships/slide" Target="/ppt/slides/slide30.xml" Id="R9de496d92e0543c3" /><Relationship Type="http://schemas.openxmlformats.org/officeDocument/2006/relationships/slide" Target="/ppt/slides/slide31.xml" Id="R46027c7c193e45fc" /><Relationship Type="http://schemas.openxmlformats.org/officeDocument/2006/relationships/slide" Target="/ppt/slides/slide32.xml" Id="Rc8ce9bab38a545f6" /><Relationship Type="http://schemas.openxmlformats.org/officeDocument/2006/relationships/slide" Target="/ppt/slides/slide33.xml" Id="R6c1c7569487443a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e576fb97e2440a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3ed418730e94d82" /><Relationship Type="http://schemas.openxmlformats.org/officeDocument/2006/relationships/notesMaster" Target="/ppt/notesMasters/notesMaster1.xml" Id="R361f6edece67404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b5afb71544e4fc1" /><Relationship Type="http://schemas.openxmlformats.org/officeDocument/2006/relationships/notesMaster" Target="/ppt/notesMasters/notesMaster1.xml" Id="R7e842c2827ce44f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834fc629e794a9a" /><Relationship Type="http://schemas.openxmlformats.org/officeDocument/2006/relationships/notesMaster" Target="/ppt/notesMasters/notesMaster1.xml" Id="Rb1093d6fbc0648f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ab4c8a5fb7f46ab" /><Relationship Type="http://schemas.openxmlformats.org/officeDocument/2006/relationships/notesMaster" Target="/ppt/notesMasters/notesMaster1.xml" Id="Rb1f008f0776f44c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6a01d97272c48c0" /><Relationship Type="http://schemas.openxmlformats.org/officeDocument/2006/relationships/notesMaster" Target="/ppt/notesMasters/notesMaster1.xml" Id="R4e5e75da66bb414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61502c0ac00463a" /><Relationship Type="http://schemas.openxmlformats.org/officeDocument/2006/relationships/notesMaster" Target="/ppt/notesMasters/notesMaster1.xml" Id="R04b6d95ecbd74b0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15f21556f564e55" /><Relationship Type="http://schemas.openxmlformats.org/officeDocument/2006/relationships/notesMaster" Target="/ppt/notesMasters/notesMaster1.xml" Id="Re86592d2b37d436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70cf70aa1654e39" /><Relationship Type="http://schemas.openxmlformats.org/officeDocument/2006/relationships/notesMaster" Target="/ppt/notesMasters/notesMaster1.xml" Id="R7ab399a941c249b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63a594114b04444" /><Relationship Type="http://schemas.openxmlformats.org/officeDocument/2006/relationships/notesMaster" Target="/ppt/notesMasters/notesMaster1.xml" Id="Rbcf13e9aa29d484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6b36701c3c64b21" /><Relationship Type="http://schemas.openxmlformats.org/officeDocument/2006/relationships/notesMaster" Target="/ppt/notesMasters/notesMaster1.xml" Id="Rad030a8c647e439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419285b74be49c2" /><Relationship Type="http://schemas.openxmlformats.org/officeDocument/2006/relationships/notesMaster" Target="/ppt/notesMasters/notesMaster1.xml" Id="Rc62df82d7997454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d43da713f4b439a" /><Relationship Type="http://schemas.openxmlformats.org/officeDocument/2006/relationships/notesMaster" Target="/ppt/notesMasters/notesMaster1.xml" Id="R29dffbe4bf294cb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74a9751fdfb46c9" /><Relationship Type="http://schemas.openxmlformats.org/officeDocument/2006/relationships/notesMaster" Target="/ppt/notesMasters/notesMaster1.xml" Id="R335f7b9b6684429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a90722d968047a7" /><Relationship Type="http://schemas.openxmlformats.org/officeDocument/2006/relationships/notesMaster" Target="/ppt/notesMasters/notesMaster1.xml" Id="Ra33d85d96b9940c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37b1a3683a94b25" /><Relationship Type="http://schemas.openxmlformats.org/officeDocument/2006/relationships/notesMaster" Target="/ppt/notesMasters/notesMaster1.xml" Id="R207cac571ce2458e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c43573523664ac6" /><Relationship Type="http://schemas.openxmlformats.org/officeDocument/2006/relationships/notesMaster" Target="/ppt/notesMasters/notesMaster1.xml" Id="R4669287e9e7e4770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7070b3c225464531" /><Relationship Type="http://schemas.openxmlformats.org/officeDocument/2006/relationships/notesMaster" Target="/ppt/notesMasters/notesMaster1.xml" Id="Rccad51d70c9e4e53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8226840e1ad94d88" /><Relationship Type="http://schemas.openxmlformats.org/officeDocument/2006/relationships/notesMaster" Target="/ppt/notesMasters/notesMaster1.xml" Id="R706b9b4ae55244e9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fc03a6a908824ff1" /><Relationship Type="http://schemas.openxmlformats.org/officeDocument/2006/relationships/notesMaster" Target="/ppt/notesMasters/notesMaster1.xml" Id="Re550d5aeabe0416a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ac12b52089494b2c" /><Relationship Type="http://schemas.openxmlformats.org/officeDocument/2006/relationships/notesMaster" Target="/ppt/notesMasters/notesMaster1.xml" Id="Rf1c4f06fb0664cbc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8a04da52d28f4dcd" /><Relationship Type="http://schemas.openxmlformats.org/officeDocument/2006/relationships/notesMaster" Target="/ppt/notesMasters/notesMaster1.xml" Id="R4b3b8309ebfb4824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026ac23dd78645ea" /><Relationship Type="http://schemas.openxmlformats.org/officeDocument/2006/relationships/notesMaster" Target="/ppt/notesMasters/notesMaster1.xml" Id="R64151f17dc344070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e54687616680461c" /><Relationship Type="http://schemas.openxmlformats.org/officeDocument/2006/relationships/notesMaster" Target="/ppt/notesMasters/notesMaster1.xml" Id="R02821939cff148d1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c2b03d1c4e814d08" /><Relationship Type="http://schemas.openxmlformats.org/officeDocument/2006/relationships/notesMaster" Target="/ppt/notesMasters/notesMaster1.xml" Id="Re85a2bd3d2494c98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1d9d7ee9cb7c41c0" /><Relationship Type="http://schemas.openxmlformats.org/officeDocument/2006/relationships/notesMaster" Target="/ppt/notesMasters/notesMaster1.xml" Id="Rcdc5c4a055e540b5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fab2e026d0cb4423" /><Relationship Type="http://schemas.openxmlformats.org/officeDocument/2006/relationships/notesMaster" Target="/ppt/notesMasters/notesMaster1.xml" Id="Rb6d040755480424c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67dbc1c6ca7748bf" /><Relationship Type="http://schemas.openxmlformats.org/officeDocument/2006/relationships/notesMaster" Target="/ppt/notesMasters/notesMaster1.xml" Id="Ree27a06b610b4cd3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ce7ffde23fe54b2c" /><Relationship Type="http://schemas.openxmlformats.org/officeDocument/2006/relationships/notesMaster" Target="/ppt/notesMasters/notesMaster1.xml" Id="R4067998e983644d1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4e746ab576684397" /><Relationship Type="http://schemas.openxmlformats.org/officeDocument/2006/relationships/notesMaster" Target="/ppt/notesMasters/notesMaster1.xml" Id="R05e22caedb1048c4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504f577144a4426f" /><Relationship Type="http://schemas.openxmlformats.org/officeDocument/2006/relationships/notesMaster" Target="/ppt/notesMasters/notesMaster1.xml" Id="Rb1890d18a05e4105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53bdea0b1db24732" /><Relationship Type="http://schemas.openxmlformats.org/officeDocument/2006/relationships/notesMaster" Target="/ppt/notesMasters/notesMaster1.xml" Id="R0f2ee5705cfa49a9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8a13d1a6324e48ec" /><Relationship Type="http://schemas.openxmlformats.org/officeDocument/2006/relationships/notesMaster" Target="/ppt/notesMasters/notesMaster1.xml" Id="R54fdf4e6a79c46d0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69c704d0a3e54fec" /><Relationship Type="http://schemas.openxmlformats.org/officeDocument/2006/relationships/notesMaster" Target="/ppt/notesMasters/notesMaster1.xml" Id="Rf4ec330d98804b0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 PDF A 第 25–86 頁。</a:t>
            </a:r>
          </a:p>
          <a:p xmlns:a="http://schemas.openxmlformats.org/drawingml/2006/main">
            <a:r>
              <a:t>教學提示：先請學生分享一個曾使用的金融 App 功能。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來源：依舊教材應用流程重新整理。</a:t>
            </a:r>
          </a:p>
          <a:p xmlns:a="http://schemas.openxmlformats.org/drawingml/2006/main">
            <a:r>
              <a:t>教學提示：比較模糊目標與具體問題。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 PDF A 第 27–32 頁。</a:t>
            </a:r>
          </a:p>
          <a:p xmlns:a="http://schemas.openxmlformats.org/drawingml/2006/main">
            <a:r>
              <a:t>教學提示：舊教材的『導入、預處理』改成學生較易理解的整理。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 PDF A 第 28–29 頁；金融例子為本次新增。</a:t>
            </a:r>
          </a:p>
          <a:p xmlns:a="http://schemas.openxmlformats.org/drawingml/2006/main">
            <a:r>
              <a:t>教學提示：追問每一種資料能回答什麼問題。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 PDF A 第 30、203–205 頁。</a:t>
            </a:r>
          </a:p>
          <a:p xmlns:a="http://schemas.openxmlformats.org/drawingml/2006/main">
            <a:r>
              <a:t>教學提示：用日期格式不一致示範清理問題。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 PDF A 第 31–32、111–120 頁。</a:t>
            </a:r>
          </a:p>
          <a:p xmlns:a="http://schemas.openxmlformats.org/drawingml/2006/main">
            <a:r>
              <a:t>教學提示：只建立方法地圖，不提前講演算法。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 PDF A 第 61、74–78 頁；評估循環為本次補充。</a:t>
            </a:r>
          </a:p>
          <a:p xmlns:a="http://schemas.openxmlformats.org/drawingml/2006/main">
            <a:r>
              <a:t>教學提示：強調模型輸出不是流程終點。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來源：金融案例為本次新增。</a:t>
            </a:r>
          </a:p>
          <a:p xmlns:a="http://schemas.openxmlformats.org/drawingml/2006/main">
            <a:r>
              <a:t>教學提示：逐列請學生說明資料與行動的關係。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來源：依舊教材資料品質與管理意涵重新整理。</a:t>
            </a:r>
          </a:p>
          <a:p xmlns:a="http://schemas.openxmlformats.org/drawingml/2006/main">
            <a:r>
              <a:t>教學提示：請學生判斷哪個斷點最常發生。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來源：本節內容統整。</a:t>
            </a:r>
          </a:p>
          <a:p xmlns:a="http://schemas.openxmlformats.org/drawingml/2006/main">
            <a:r>
              <a:t>教學提示：以 60 秒快速重述四階段。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來源：依本節投影片編製。</a:t>
            </a:r>
          </a:p>
          <a:p xmlns:a="http://schemas.openxmlformats.org/drawingml/2006/main">
            <a:r>
              <a:t>教學提示：先讓學生作答，再核對答案。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 PDF A 第 40–46 頁。</a:t>
            </a:r>
          </a:p>
          <a:p xmlns:a="http://schemas.openxmlformats.org/drawingml/2006/main">
            <a:r>
              <a:t>教學提示：以銀行為主軸，再延伸證券與保險。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 PDF A 第 41 頁。</a:t>
            </a:r>
          </a:p>
          <a:p xmlns:a="http://schemas.openxmlformats.org/drawingml/2006/main">
            <a:r>
              <a:t>教學提示：避免把客戶分析直接等同推銷。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來源：舊教材客戶行為分析延伸；具體流程為本次新增。</a:t>
            </a:r>
          </a:p>
          <a:p xmlns:a="http://schemas.openxmlformats.org/drawingml/2006/main">
            <a:r>
              <a:t>教學提示：提醒訊號不代表原因，仍需查證。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 PDF A 第 42 頁；情境重新整理。</a:t>
            </a:r>
          </a:p>
          <a:p xmlns:a="http://schemas.openxmlformats.org/drawingml/2006/main">
            <a:r>
              <a:t>教學提示：討論偽陽性對客戶的影響。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 PDF A 第 45–46 頁；治理內容為本次新增。</a:t>
            </a:r>
          </a:p>
          <a:p xmlns:a="http://schemas.openxmlformats.org/drawingml/2006/main">
            <a:r>
              <a:t>教學提示：避免把信用判斷簡化為單一分數。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 PDF A 第 42–44 頁。</a:t>
            </a:r>
          </a:p>
          <a:p xmlns:a="http://schemas.openxmlformats.org/drawingml/2006/main">
            <a:r>
              <a:t>教學提示：舊 IPCC 數字不直接沿用，保留流程概念。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來源：金融場域延伸案例為本次新增。</a:t>
            </a:r>
          </a:p>
          <a:p xmlns:a="http://schemas.openxmlformats.org/drawingml/2006/main">
            <a:r>
              <a:t>教學提示：警示代表需要查證，不代表已確定違規。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來源：金融場域案例為本次新增。</a:t>
            </a:r>
          </a:p>
          <a:p xmlns:a="http://schemas.openxmlformats.org/drawingml/2006/main">
            <a:r>
              <a:t>教學提示：連接 W15 文字探勘，但不提前深入技術。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來源：依舊教材管理意涵重新整理。</a:t>
            </a:r>
          </a:p>
          <a:p xmlns:a="http://schemas.openxmlformats.org/drawingml/2006/main">
            <a:r>
              <a:t>教學提示：讓學生辨識代理指標與真正目標。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來源：本節內容統整。</a:t>
            </a:r>
          </a:p>
          <a:p xmlns:a="http://schemas.openxmlformats.org/drawingml/2006/main">
            <a:r>
              <a:t>教學提示：快速請學生為四種場域各說一項資料。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來源：依本節投影片編製。</a:t>
            </a:r>
          </a:p>
          <a:p xmlns:a="http://schemas.openxmlformats.org/drawingml/2006/main">
            <a:r>
              <a:t>教學提示：先讓學生作答，再核對答案。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 PDF A 第 33–86 頁。</a:t>
            </a:r>
          </a:p>
          <a:p xmlns:a="http://schemas.openxmlformats.org/drawingml/2006/main">
            <a:r>
              <a:t>教學提示：保留跨業比較，不逐一鋪陳大量舊案例。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 PDF A 第 35–39 頁。</a:t>
            </a:r>
          </a:p>
          <a:p xmlns:a="http://schemas.openxmlformats.org/drawingml/2006/main">
            <a:r>
              <a:t>教學提示：尿布與啤酒只作歷史引例，重點放在關聯解讀。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 PDF A 第 55、62–63 頁。</a:t>
            </a:r>
          </a:p>
          <a:p xmlns:a="http://schemas.openxmlformats.org/drawingml/2006/main">
            <a:r>
              <a:t>教學提示：與金融風控比較：兩者都需要提前辨識風險。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 PDF A 第 47–53、84 頁。</a:t>
            </a:r>
          </a:p>
          <a:p xmlns:a="http://schemas.openxmlformats.org/drawingml/2006/main">
            <a:r>
              <a:t>教學提示：不沿用未核實的成效數字。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 PDF A 第 64–72、85–86 頁。</a:t>
            </a:r>
          </a:p>
          <a:p xmlns:a="http://schemas.openxmlformats.org/drawingml/2006/main">
            <a:r>
              <a:t>教學提示：連回資料責任，不把智慧城市只說成技術升級。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 PDF A 第 74–78 頁。</a:t>
            </a:r>
          </a:p>
          <a:p xmlns:a="http://schemas.openxmlformats.org/drawingml/2006/main">
            <a:r>
              <a:t>教學提示：使用同一案例貫穿四層次。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來源：依四層次新增金融案例。</a:t>
            </a:r>
          </a:p>
          <a:p xmlns:a="http://schemas.openxmlformats.org/drawingml/2006/main">
            <a:r>
              <a:t>教學提示：請學生指出每一層需要哪些資料。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來源：舊教材應用深度重新整理。</a:t>
            </a:r>
          </a:p>
          <a:p xmlns:a="http://schemas.openxmlformats.org/drawingml/2006/main">
            <a:r>
              <a:t>教學提示：避免把成熟度理解為工具越複雜越好。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來源：依跨業案例統整。</a:t>
            </a:r>
          </a:p>
          <a:p xmlns:a="http://schemas.openxmlformats.org/drawingml/2006/main">
            <a:r>
              <a:t>教學提示：用零售推薦與銀行授信比較風險差異。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來源：全週內容統整。</a:t>
            </a:r>
          </a:p>
          <a:p xmlns:a="http://schemas.openxmlformats.org/drawingml/2006/main">
            <a:r>
              <a:t>教學提示：預告 W03 將進入支撐這些應用的技術。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來源：依本節投影片編製。</a:t>
            </a:r>
          </a:p>
          <a:p xmlns:a="http://schemas.openxmlformats.org/drawingml/2006/main">
            <a:r>
              <a:t>教學提示：先讓學生作答，再核對答案。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0a7a3c18ada42f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e37e0538c4e46f0" /><Relationship Type="http://schemas.openxmlformats.org/officeDocument/2006/relationships/slideLayout" Target="/ppt/slideLayouts/slideLayout1.xml" Id="Rf89e1b4e49d84e4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89e1b4e49d84e4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b0418729dd47b8" /><Relationship Type="http://schemas.openxmlformats.org/officeDocument/2006/relationships/notesSlide" Target="/ppt/notesSlides/notesSlide1.xml" Id="R5a45172791e8463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b59d2b957e425a" /><Relationship Type="http://schemas.openxmlformats.org/officeDocument/2006/relationships/notesSlide" Target="/ppt/notesSlides/notesSlide2.xml" Id="R552f156ea8a549a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4762b1ca3f46d2" /><Relationship Type="http://schemas.openxmlformats.org/officeDocument/2006/relationships/notesSlide" Target="/ppt/notesSlides/notesSlide3.xml" Id="R5634beea77334d5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b9b663dcbd4cc2" /><Relationship Type="http://schemas.openxmlformats.org/officeDocument/2006/relationships/notesSlide" Target="/ppt/notesSlides/notesSlide4.xml" Id="Rafd6977ac53e479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985296a0754b68" /><Relationship Type="http://schemas.openxmlformats.org/officeDocument/2006/relationships/notesSlide" Target="/ppt/notesSlides/notesSlide5.xml" Id="R073fa4f19cf346e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ef0e323c944f8a" /><Relationship Type="http://schemas.openxmlformats.org/officeDocument/2006/relationships/notesSlide" Target="/ppt/notesSlides/notesSlide6.xml" Id="R0bc1ceb7649d422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70ef2cd2004986" /><Relationship Type="http://schemas.openxmlformats.org/officeDocument/2006/relationships/notesSlide" Target="/ppt/notesSlides/notesSlide7.xml" Id="Rb72ad12680e4405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6a01ded4214547" /><Relationship Type="http://schemas.openxmlformats.org/officeDocument/2006/relationships/notesSlide" Target="/ppt/notesSlides/notesSlide8.xml" Id="Rab190f76f7b4483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c4d6255e7b4937" /><Relationship Type="http://schemas.openxmlformats.org/officeDocument/2006/relationships/notesSlide" Target="/ppt/notesSlides/notesSlide9.xml" Id="R072ad97ec12e4ea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ce1ff312434c49" /><Relationship Type="http://schemas.openxmlformats.org/officeDocument/2006/relationships/notesSlide" Target="/ppt/notesSlides/notesSlide10.xml" Id="R104789413cbd4eb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5922d5a4a941c6" /><Relationship Type="http://schemas.openxmlformats.org/officeDocument/2006/relationships/notesSlide" Target="/ppt/notesSlides/notesSlide11.xml" Id="R4fb8716acba3415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eef24942e0426b" /><Relationship Type="http://schemas.openxmlformats.org/officeDocument/2006/relationships/notesSlide" Target="/ppt/notesSlides/notesSlide12.xml" Id="R95e2aac22d70433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9199ba4d464a75" /><Relationship Type="http://schemas.openxmlformats.org/officeDocument/2006/relationships/notesSlide" Target="/ppt/notesSlides/notesSlide13.xml" Id="Racaf9e77ae54441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3ea374839c4015" /><Relationship Type="http://schemas.openxmlformats.org/officeDocument/2006/relationships/notesSlide" Target="/ppt/notesSlides/notesSlide14.xml" Id="Rab093aeeebf1447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26ee63ac7e4d56" /><Relationship Type="http://schemas.openxmlformats.org/officeDocument/2006/relationships/notesSlide" Target="/ppt/notesSlides/notesSlide15.xml" Id="R28c6468cc15d457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8d9de370c14f12" /><Relationship Type="http://schemas.openxmlformats.org/officeDocument/2006/relationships/notesSlide" Target="/ppt/notesSlides/notesSlide16.xml" Id="R8a5712f2d4f74e4b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5ab7d3066a4238" /><Relationship Type="http://schemas.openxmlformats.org/officeDocument/2006/relationships/notesSlide" Target="/ppt/notesSlides/notesSlide17.xml" Id="R445aae54dc8e4040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90d4ebe72b401e" /><Relationship Type="http://schemas.openxmlformats.org/officeDocument/2006/relationships/notesSlide" Target="/ppt/notesSlides/notesSlide18.xml" Id="R89dd2803c1804ce3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72a2de08fe4f46" /><Relationship Type="http://schemas.openxmlformats.org/officeDocument/2006/relationships/notesSlide" Target="/ppt/notesSlides/notesSlide19.xml" Id="Re5700950a9014f0e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d4cf316370439f" /><Relationship Type="http://schemas.openxmlformats.org/officeDocument/2006/relationships/notesSlide" Target="/ppt/notesSlides/notesSlide20.xml" Id="R2cf957d0692047c7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27cdb82079468d" /><Relationship Type="http://schemas.openxmlformats.org/officeDocument/2006/relationships/notesSlide" Target="/ppt/notesSlides/notesSlide21.xml" Id="Ra8bc369eda3a40d8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0e64c1334740b9" /><Relationship Type="http://schemas.openxmlformats.org/officeDocument/2006/relationships/notesSlide" Target="/ppt/notesSlides/notesSlide22.xml" Id="R9952c993f1984106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4431b78c63499a" /><Relationship Type="http://schemas.openxmlformats.org/officeDocument/2006/relationships/notesSlide" Target="/ppt/notesSlides/notesSlide23.xml" Id="R13a874b7e2f249cb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172d4bc6344032" /><Relationship Type="http://schemas.openxmlformats.org/officeDocument/2006/relationships/notesSlide" Target="/ppt/notesSlides/notesSlide24.xml" Id="R8216be3f13c24e0c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009f760f5a4789" /><Relationship Type="http://schemas.openxmlformats.org/officeDocument/2006/relationships/notesSlide" Target="/ppt/notesSlides/notesSlide25.xml" Id="Raec5671aef274f72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a77066ca9f4c53" /><Relationship Type="http://schemas.openxmlformats.org/officeDocument/2006/relationships/notesSlide" Target="/ppt/notesSlides/notesSlide26.xml" Id="R7b45ed42a19948a7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c0e7a2edd34f4b" /><Relationship Type="http://schemas.openxmlformats.org/officeDocument/2006/relationships/notesSlide" Target="/ppt/notesSlides/notesSlide27.xml" Id="R7c4eb555c4ed4aae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fbc57fe2154c02" /><Relationship Type="http://schemas.openxmlformats.org/officeDocument/2006/relationships/notesSlide" Target="/ppt/notesSlides/notesSlide28.xml" Id="Rfd2e2fe7299942d4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f08534d7bc4d82" /><Relationship Type="http://schemas.openxmlformats.org/officeDocument/2006/relationships/notesSlide" Target="/ppt/notesSlides/notesSlide29.xml" Id="Ra8c8445cdb25472f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088519f06047fa" /><Relationship Type="http://schemas.openxmlformats.org/officeDocument/2006/relationships/notesSlide" Target="/ppt/notesSlides/notesSlide30.xml" Id="R46358fabdc4048a1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6f3c472f0a450b" /><Relationship Type="http://schemas.openxmlformats.org/officeDocument/2006/relationships/notesSlide" Target="/ppt/notesSlides/notesSlide31.xml" Id="R6cee31bb671c476d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ee516a6f064022" /><Relationship Type="http://schemas.openxmlformats.org/officeDocument/2006/relationships/notesSlide" Target="/ppt/notesSlides/notesSlide32.xml" Id="R5b25023729844614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7c3692d2e64a0b" /><Relationship Type="http://schemas.openxmlformats.org/officeDocument/2006/relationships/notesSlide" Target="/ppt/notesSlides/notesSlide33.xml" Id="R88fbe8b1bf304c1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86DE80-D10D-47F0-8713-A25F1C9D4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9F7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F73D72-D369-4267-A8F0-A93EF88FA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14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Week 02｜大數據的應用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9295BA-A8C7-4794-8B4C-E058007F8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981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三節路線：應用流程、金融場域、跨業比較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634844-A930-493B-B7A5-89A398FC5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57200"/>
            <a:ext cx="142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第一節  01/11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C2ACC3-8964-43B2-9FF3-D93A4953A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FB1BB6-DE96-438F-9D08-07AF31B74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521765-68D7-494E-8B42-1E50F59BB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62125"/>
            <a:ext cx="1028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36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從資料出發，也要回到決策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05C02E-9735-48FF-9377-0964410DC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3337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第一節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A97620-5FB3-4E71-B300-3CE97D19B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57625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75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資料如何形成應用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031430-9F28-45EB-8E15-266B04BCD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3337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第二節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7B60AD-249A-40EF-A61E-686DCBE77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857625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75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金融業如何運用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0BCBA5-1612-4902-A5AC-A07751F1C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3337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第三節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0152A2-31DA-4AF0-9407-ABD90FA6C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857625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75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跨業案例與成熟度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858348-B1CA-4E6B-84E9-9D8C27DDB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429250"/>
            <a:ext cx="1000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75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本週目標：看懂一項資料應用的完整流程，並能指出它改善哪個決策</a:t>
            </a:r>
          </a:p>
        </p:txBody>
      </p:sp>
    </p:spTree>
    <p:extLst>
      <p:ext uri="{BB962C8B-B14F-4D97-AF65-F5344CB8AC3E}">
        <p14:creationId xmlns:p14="http://schemas.microsoft.com/office/powerpoint/2010/main" val="74402716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C65F0A-FE22-4342-9BDD-302DA4C61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9F7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A7D078-D541-4D6A-9BDE-3B58ACE90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14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應用從問題開始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5644BC-E2E1-4893-95D7-33D16289A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57200"/>
            <a:ext cx="142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第一節  02/11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A9B446-4F37-4340-9BBA-2BD60BE33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849AAE-FE40-450A-8081-1E26C470F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76BA4B-7591-4991-81AE-E00120DF5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14500"/>
            <a:ext cx="10287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45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345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先說清楚要改善哪個決策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06D901-4784-4C7F-BCD4-EC1DDE1F0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476625"/>
            <a:ext cx="7810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9F72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FE1A41-EAB9-47C0-9111-B5B3955A9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857625"/>
            <a:ext cx="8858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25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資料量再大，如果沒有明確問題，分析結果也很難轉成行動。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0F9417-7B30-47DE-B57A-B97EB9177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381625"/>
            <a:ext cx="981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025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例：『提升服務』太廣；『降低轉帳失敗後的客服等待時間』較具體</a:t>
            </a:r>
          </a:p>
        </p:txBody>
      </p:sp>
    </p:spTree>
    <p:extLst>
      <p:ext uri="{BB962C8B-B14F-4D97-AF65-F5344CB8AC3E}">
        <p14:creationId xmlns:p14="http://schemas.microsoft.com/office/powerpoint/2010/main" val="165662419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2FB0E50-9E76-4B57-A8E0-4944735E5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9F7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FE0A9F-A1D2-49EB-BC93-5FC693B65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14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大數據應用的四個階段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0F8239-0055-4750-90E4-217D7E517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57200"/>
            <a:ext cx="142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第一節  03/11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709818-3A27-4CA8-B343-1B0DC1062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AD9338-9311-4AD9-8093-0684C21F3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2EE0AA-9F89-4E6C-8636-55B9CB926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762125"/>
            <a:ext cx="24860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0BA4DF-1BB7-493E-B8C6-6F4E782A8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286000"/>
            <a:ext cx="24860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蒐集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BEA815-9359-4AF6-A65C-EF2AD27E9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3048000"/>
            <a:ext cx="2143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AEC39A-9E78-4681-A54B-FC8713FD5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86125"/>
            <a:ext cx="23907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取得與問題相關的資料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B39821-2C84-45A8-8EED-1E507CFE8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762125"/>
            <a:ext cx="24860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FF887F-C972-43C8-9890-BAD2E0195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286000"/>
            <a:ext cx="24860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整理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019A0A-D3E4-4EB2-B0E5-1C17542D4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048000"/>
            <a:ext cx="2143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F289DE-4B58-4235-91D6-3959C347A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3286125"/>
            <a:ext cx="23907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整合、清理並統一格式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7CC602-5B0B-439F-A03A-596F57697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1762125"/>
            <a:ext cx="24860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4D966F-9806-4505-984D-0A42483C8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2286000"/>
            <a:ext cx="24860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分析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0E1F66-DFD1-4A8A-A94F-9337E6AE7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3048000"/>
            <a:ext cx="2143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7104C9-07BD-41CC-9E09-C57EB1C39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286125"/>
            <a:ext cx="23907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找出規律、差異或風險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6120EB-FAEB-4C61-8DC1-015036AD7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762125"/>
            <a:ext cx="24860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082A6A-EE45-45EF-93C1-D4CD197A2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286000"/>
            <a:ext cx="24860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行動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6045431-53BE-446C-8E9A-DF42BAA20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048000"/>
            <a:ext cx="2143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63A5267-2C5E-4578-90DF-9AC7866B5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3286125"/>
            <a:ext cx="23907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調整服務並追蹤成效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837481B-796B-4062-8713-D1960862E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5286375"/>
            <a:ext cx="7715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四個階段形成循環，行動結果會產生新的資料</a:t>
            </a:r>
          </a:p>
        </p:txBody>
      </p:sp>
    </p:spTree>
    <p:extLst>
      <p:ext uri="{BB962C8B-B14F-4D97-AF65-F5344CB8AC3E}">
        <p14:creationId xmlns:p14="http://schemas.microsoft.com/office/powerpoint/2010/main" val="192742898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28ED45-BCE2-40F7-9962-F6F8F7FB5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9F7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BA20CD-3EC4-45E0-BB0D-06BBD885B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14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第一階段｜蒐集資料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6E4E70-735A-4334-8F26-26A622897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57200"/>
            <a:ext cx="142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第一節  04/11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7AB3CE-203C-4BD2-8106-D93AFB690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D6FE8B-594B-49FF-9917-336319025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A55D0E-045B-4C5B-9FF4-769743FD3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238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內部資料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F205E2-568D-4771-AF60-1B6ACD356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1476375"/>
            <a:ext cx="7905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交易、帳戶、客服、申請與作業紀錄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136E89-F1AC-4A53-932D-48DA0B5F2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E5A55B-1CC7-4072-BB3A-217FF82E9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238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外部資料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551711-2A72-438B-9325-65D97B769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447925"/>
            <a:ext cx="7905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市場行情、公開資料、新聞與法規資訊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8C2C79-DB80-46BF-B75B-F7CA617D5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9AEF8F-E40D-4572-91B1-F51AF0DE3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2238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行為資料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271BF2-CAD1-41A3-81BC-088ADBD48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419475"/>
            <a:ext cx="7905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App 點擊、登入裝置、使用時間與流程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484FAF-2E1B-48BC-A6A4-272D0D962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529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D38EF7-4368-4204-8FAA-3560715C7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91025"/>
            <a:ext cx="2238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基本原則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1BEBD6-6834-439E-98CB-952A30446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391025"/>
            <a:ext cx="7905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只蒐集完成目的所需、且有權使用的資料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C529C9-A9F9-433E-8B87-EC4DB7BB0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244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08711081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E543164-60D8-44E9-86A1-954C7907B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9F7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FED09E-FFE1-40A1-A8F6-998A625DD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14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第二階段｜整理與準備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242FFF-5208-453F-8353-1F4B3C53A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57200"/>
            <a:ext cx="142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第一節  05/11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5EF44A-A02A-498A-9121-818F9DE23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A32014-0739-4BCF-9759-5DCBBEFDC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D2C27F-C19B-4B1D-9688-D1D107815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238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整合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267521-D482-4289-AEA7-6A95523D5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1476375"/>
            <a:ext cx="7905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把不同系統的資料接到共同識別與時間軸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A3B136-E6D9-40B3-9A3F-BE16BEF21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D35150-10A2-4CFF-8740-86183228C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238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清理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D9FFED-FB70-414F-8B47-5A573380F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447925"/>
            <a:ext cx="7905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處理缺值、錯誤、重複與異常格式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BB6D93-A9D5-4C6B-B4ED-048BB3379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73EA1F-0938-4B8D-ADEA-BC9E86E6A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2238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轉換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7E7591-4F68-49B6-9147-018A7E1DE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419475"/>
            <a:ext cx="7905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把日期、文字或類別整理成可分析形式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60E1EE-F5C7-4120-8416-4451328B2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529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0025D4-0639-4838-8A2E-54F8D67A4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91025"/>
            <a:ext cx="2238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檢查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D0880B-B12A-4924-8861-B0336B9E3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391025"/>
            <a:ext cx="7905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確認定義一致，避免把資料錯誤當成現象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BA8D63-0A90-400B-8CA0-527AC061A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244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206884494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C55AA5-3A63-4D6C-8EAB-ACC922CF4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9F7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6F8555-F6BD-4988-B8E1-F1499B168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14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第三階段｜分析資料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E9CD45-7940-4B65-81CD-45011A06D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57200"/>
            <a:ext cx="142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第一節  06/11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0A9741-D3B7-46BD-979C-6AF24A607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88625B-914B-4798-9B63-7AC1B5588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648285-0E05-4C6A-B0E5-AB232F408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71625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75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分析想回答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68C8C8-A3A9-4C7A-85C7-8F529A496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571625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75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方法必須配合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D0F601-8A59-4AE3-8A43-ED10D74B2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619250"/>
            <a:ext cx="19050" cy="385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BF7CA0-1C0F-441E-8461-CF8F9C000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38375"/>
            <a:ext cx="476250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2175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75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哪些情況最常發生？</a:t>
            </a:r>
          </a:p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2175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75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哪些客戶或交易較相似？</a:t>
            </a:r>
          </a:p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2175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75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哪些因素與結果有關？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272931-8CAC-4C07-B70F-360615E60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38375"/>
            <a:ext cx="476250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2175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75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業務問題與目標</a:t>
            </a:r>
          </a:p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2175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75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資料型態與品質</a:t>
            </a:r>
          </a:p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2175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75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決策時限與可解釋需求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6E943D-0CC7-4DB1-976F-1E589DB50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572125"/>
            <a:ext cx="914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025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後續課程會學習分群、關聯、決策樹、類神經與文字探勘</a:t>
            </a:r>
          </a:p>
        </p:txBody>
      </p:sp>
    </p:spTree>
    <p:extLst>
      <p:ext uri="{BB962C8B-B14F-4D97-AF65-F5344CB8AC3E}">
        <p14:creationId xmlns:p14="http://schemas.microsoft.com/office/powerpoint/2010/main" val="101096551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6ACA33-710B-4B7D-B019-2D4E112A7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9F7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2CA49F-4516-428A-ADB8-4B1C8F529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14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第四階段｜行動與評估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0F21D4-79F6-4F0B-8A13-132ECDCB1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57200"/>
            <a:ext cx="142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第一節  07/11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A39FD5-EF45-431A-B04F-8961E0B92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79E55C-0824-4C1A-A91C-AB7221B64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AC0C38-4F5C-48B6-9862-4E75B9E3A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238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採取行動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832AFA-E904-41C0-BEB7-C4099A8A3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1476375"/>
            <a:ext cx="7905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調整流程、溝通、驗證或人工覆核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021C36-36EE-4248-B2E4-99CA67936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05D18C-4060-4C26-95D7-265166D37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238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衡量結果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B0645B-7455-4ADC-9978-30046A9CC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447925"/>
            <a:ext cx="7905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觀察時間、成本、風險與客戶體驗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AF1879-7F76-46D1-B8F3-CE7E3B64C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05ED06-8008-4BB5-BDDA-5B98F25FA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2238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比較差異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A56D85-F562-4EEB-B72F-4B3FD67F5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419475"/>
            <a:ext cx="7905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與原來流程、對照組或目標值比較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B1EAD9-91EF-4451-8B75-A9DDF6ED0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529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7F5A30-8FD1-46E4-9E36-61ACADA0E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91025"/>
            <a:ext cx="2238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重新改善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6F2639-0C43-469A-BB9F-4854AE051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391025"/>
            <a:ext cx="7905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結果不如預期時，回頭檢查問題與資料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2A8533-B6E8-4438-9310-6CBA8799A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244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84873444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F66C7F0-EE1A-457C-8C4C-25398F482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9F7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73EE8B-1F94-4773-B632-E91BA8DD4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14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銀行案例｜轉帳失敗後的服務改善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B11F6A-BDB2-4020-9392-28E393882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57200"/>
            <a:ext cx="142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第一節  08/11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8A6389-7182-45F3-9346-383CB97CB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6DECF0-4822-44CE-827E-67D5FAB6B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9F8CFE-EB72-4FA2-9F4E-D14BDE9D2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238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問題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999705-7304-41B6-BA7C-40F11019D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1476375"/>
            <a:ext cx="7905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客戶轉帳失敗後，客服等待時間過長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7BDA36-291A-4A8B-A2AE-3EE969045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4E0BFA-0A6C-421A-BE96-248773211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238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資料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EFBA1F-7B7C-459C-8284-0B3B0B66E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447925"/>
            <a:ext cx="7905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錯誤代碼、操作步驟、客服文字與處理時間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BDE93F-C0A9-4479-9F9C-C778EEAEF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F5545A-C3F8-4ABB-AC45-4E7FF34F4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2238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分析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DA88A1-5D2F-4E91-93F5-0955B4250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419475"/>
            <a:ext cx="7905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找出常見失敗原因與容易卡住的步驟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625EC3-48EB-4D9C-8E50-1A2FD0CF5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529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59B375-FBC7-43C4-ACB5-61D9CF854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91025"/>
            <a:ext cx="2238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行動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D76208-B37E-487E-A035-4FC13603B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391025"/>
            <a:ext cx="7905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改善提示、分流客服並追蹤再次來電率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B7AED3-5243-4A18-A0A9-6F71C74AD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244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C8AE3C6-8974-41ED-81B8-479D2F719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476875"/>
            <a:ext cx="7429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衡量：等待時間是否下降？問題是否真正解決？</a:t>
            </a:r>
          </a:p>
        </p:txBody>
      </p:sp>
    </p:spTree>
    <p:extLst>
      <p:ext uri="{BB962C8B-B14F-4D97-AF65-F5344CB8AC3E}">
        <p14:creationId xmlns:p14="http://schemas.microsoft.com/office/powerpoint/2010/main" val="10211688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3A6413-E921-4773-99F6-B9F404C52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9F7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F0E94B-8ADD-41CC-90C2-2616898AD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14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應用流程的常見斷點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8A88B4-9C14-4BBA-86E9-DDBAB7FD8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57200"/>
            <a:ext cx="142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第一節  09/11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2420F2-FAD0-468C-9027-DD13B82DC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553EA8-247A-4BBE-890F-23C1DBEF4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473D10-A2AC-49E6-AE9D-0C71E1C52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71625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75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容易失敗的情況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9E42D0-22EF-4C8B-8DF9-6DA171FE7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571625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75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改善方式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7D5E7F-3CB2-48AA-ACA5-CD86B7F7A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619250"/>
            <a:ext cx="19050" cy="385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63B2D9-97B6-4938-8CE0-C212614D1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38375"/>
            <a:ext cx="476250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2175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75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先蒐集資料，後來才找問題</a:t>
            </a:r>
          </a:p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2175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75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資料定義在不同部門不一致</a:t>
            </a:r>
          </a:p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2175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75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只有模型分數，沒有後續流程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64D2EF-96EE-43CA-91DF-0FC66486E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38375"/>
            <a:ext cx="476250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2175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75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先定義決策與衡量指標</a:t>
            </a:r>
          </a:p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2175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75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建立共同欄位與品質檢查</a:t>
            </a:r>
          </a:p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2175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75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指定負責人與人工處置規則</a:t>
            </a:r>
          </a:p>
        </p:txBody>
      </p:sp>
    </p:spTree>
    <p:extLst>
      <p:ext uri="{BB962C8B-B14F-4D97-AF65-F5344CB8AC3E}">
        <p14:creationId xmlns:p14="http://schemas.microsoft.com/office/powerpoint/2010/main" val="135905607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12A0935-7DC5-42A3-9D25-7874066D9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9F7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AC921F-4CCF-4CE7-8D6F-725C91769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14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第一節小結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D4A8A4-ADD9-49CC-AEFC-BEFD110F3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57200"/>
            <a:ext cx="142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第一節  10/11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A415C3-3D73-40DA-83B0-4BA3663CF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123E91-6BBE-4920-AC40-ED58C7702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F38E40-A323-43F7-B9AE-E4814907F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238375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問題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2DFD94-67F9-4AB6-8F06-49C62D6FA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1476375"/>
            <a:ext cx="79057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先說清楚要改善的決策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B3F563-CD37-48E1-90CA-5AA6FC598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305050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970899-4FCB-4449-BD78-404E73A87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43150"/>
            <a:ext cx="2238375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蒐集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95A406-7B47-4017-8AE3-FE162BE3E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343150"/>
            <a:ext cx="79057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取得必要且可合法使用的資料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BD7A15-2328-40DC-A213-7A1E5B1FE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1718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2D06E8-0294-4810-9EED-606EEA8E6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09925"/>
            <a:ext cx="2238375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整理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047A79-CCA1-46BE-8750-D5496BF69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209925"/>
            <a:ext cx="79057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確保資料能被正確理解與分析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1651FD-6B1A-44E8-ABDA-43140B58F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038600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E998FA-2B28-4D8D-9A85-C03B7116C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76700"/>
            <a:ext cx="2238375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分析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737202-8DEA-447D-9877-836D53D78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076700"/>
            <a:ext cx="79057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選擇符合問題與資料的方法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972844-8385-43F5-82BF-92F8688CF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9053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CBB49B-76F4-45C9-8954-D7861D179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43475"/>
            <a:ext cx="2238375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行動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CB8BEBF-8E7C-4E6D-82C7-1B7059E08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943475"/>
            <a:ext cx="79057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衡量成效，再回頭調整流程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A033A3C-2D5A-4EB7-BA53-5DB4F6CF0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772150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75519449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B85B40-36AE-420A-B651-C7B0822AD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9F7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2A01AC-3A1B-45BA-AA6E-CA1A47D10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14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本節搶答題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5E6C6B-B062-427D-9B8D-1B0DB84BD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981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5 分鐘｜先作答，再核對答案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FB185A-2FD9-4D38-960D-46F402B24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57200"/>
            <a:ext cx="142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第一節  11/11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4471D8-8338-4204-BEF2-D004A5781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D5969E-4F33-4E7B-9679-E36B9C420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F195A5-8FC6-4F68-B477-2E2851B40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428750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1. 大數據應用最先要釐清什麼？（A 工具　B 決策問題　C 圖表顏色）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8202C2-EC2E-4742-B24F-A3BD15AB4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200275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2. 處理缺值與重複資料屬於哪個階段？（A 整理　B 行動　C 蒐集）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6A665D-F028-48B3-956D-94E11C486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971800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3. 模型產生分數後，下一步是？（A 結束　B 連到處置與評估　C 增加資料量）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8BF4CE-A077-44CE-BC72-C800FA9FB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743325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4. 哪個問題較具體？（A 提升服務　B 降低轉帳失敗後的等待時間）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551798-F8C1-42FF-9327-091F20417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14850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5. 資料定義不一致最可能造成什麼？（A 分析誤解　B 儲存空間增加）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7EFA9F-489B-4796-AA66-8B28D5BDB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67350"/>
            <a:ext cx="108585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CEBDD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CE3E4A-655B-4493-B139-CC319C961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6260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答案：1-B　2-A　3-B　4-B　5-A</a:t>
            </a:r>
          </a:p>
        </p:txBody>
      </p:sp>
    </p:spTree>
    <p:extLst>
      <p:ext uri="{BB962C8B-B14F-4D97-AF65-F5344CB8AC3E}">
        <p14:creationId xmlns:p14="http://schemas.microsoft.com/office/powerpoint/2010/main" val="144560687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4A19BC-BCD1-4AEA-AFED-48F7D53D7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18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D16201-671B-428B-BED3-6761AAA1C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14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第二節｜金融業的大數據應用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1D5B69-1606-49D0-85B3-94BC6BA0C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57200"/>
            <a:ext cx="142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第二節  01/11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D85519-20DD-4BFE-BE23-EF16A4AE4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03DD0B-F267-4D5F-BEF7-3ED55B3D5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0A387C-14AB-4C6F-9EB7-E2E6B0CBA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095500"/>
            <a:ext cx="2619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75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認識客戶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31C1FB-D3EE-43FE-80AD-B50AFCBB4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857500"/>
            <a:ext cx="2619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行為與需求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483D3C-A351-4071-8B3E-43C497C30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095500"/>
            <a:ext cx="2619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75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控制風險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0A442B-762A-4C10-B936-5FB281E59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857500"/>
            <a:ext cx="2619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詐欺與信用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631151-80D7-4022-9CD7-3D7FDB0D5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095500"/>
            <a:ext cx="2619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B9852D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75" b="1">
                <a:solidFill>
                  <a:srgbClr val="B9852D"/>
                </a:solidFill>
                <a:latin typeface="微軟正黑體"/>
                <a:ea typeface="微軟正黑體"/>
                <a:cs typeface="微軟正黑體"/>
              </a:rPr>
              <a:t>改善作業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C9A94F-4F7A-43A2-9CC4-2161A69BB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857500"/>
            <a:ext cx="2619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客服與理賠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D21611-4383-4009-B294-B49FDF7E6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095500"/>
            <a:ext cx="2619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75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支援投資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4AD6B0-F0F8-4488-BF49-9D3AAE784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857500"/>
            <a:ext cx="2619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市場與文字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22238E-E27C-4007-8119-1CB24BBFC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762500"/>
            <a:ext cx="828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2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相同資料可能服務不同目的，必須先確認使用情境</a:t>
            </a:r>
          </a:p>
        </p:txBody>
      </p:sp>
    </p:spTree>
    <p:extLst>
      <p:ext uri="{BB962C8B-B14F-4D97-AF65-F5344CB8AC3E}">
        <p14:creationId xmlns:p14="http://schemas.microsoft.com/office/powerpoint/2010/main" val="67579063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BE3598-9CC6-4DA3-910F-68710C4FE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18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D7E633-82EC-4247-AFC3-5A75EAFCB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14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客戶行為分析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8A827E-8AA5-41A9-9419-F7D5B9D61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57200"/>
            <a:ext cx="142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第二節  02/11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A7D9CA-A8AA-4385-A987-04A7E0296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9A73FE-ED8E-4D9D-9654-7BF4F6B7F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564E76-F568-471A-99B8-F4BDED132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238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觀察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19C6DF-8255-4C07-AAFA-18305C8C1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1476375"/>
            <a:ext cx="7905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使用通路、交易頻率、商品與服務紀錄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ED8A07-32F6-4734-8F62-7A0618498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A031EE-E515-496B-82FC-494B31688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238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理解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218287-240D-4AFD-93E0-B91B83803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447925"/>
            <a:ext cx="7905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辨識需求變化與服務障礙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6ACB0B-9019-4B7E-AD44-7946DB0B8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BFA8D2-C7F1-4249-A87E-6E5C3B696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2238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行動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9718C3-BD56-401F-8A53-99DF185A9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419475"/>
            <a:ext cx="7905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提供合適提醒、改善流程或安排服務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9D1372-D7EC-4D18-B84A-7D63255AF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529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77DB27-B79B-4F18-B0D5-29524B512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91025"/>
            <a:ext cx="2238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限制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82B607-0728-478A-9468-ED95EADA0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391025"/>
            <a:ext cx="7905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不能把相關性直接解讀為客戶真正意圖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054EC8-A20C-4EFF-B6BF-961670AF0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244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49020154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08EEDF-9F57-4C33-85D7-E2FF77921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18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B70B3A-50D4-4F81-A30A-6E4A30A6B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14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客戶流失與服務改善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AE70D7-DE5C-4CE1-A476-11D56F524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57200"/>
            <a:ext cx="142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第二節  03/11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2D3393-A9C1-4096-A98D-DC1D17123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3A617E-CE16-4B2F-B773-DDC7C472B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48E1DB-DAE3-4F19-A1AC-957D31F37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238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可能訊號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AE0861-EF69-4F80-B93B-6598C9011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1476375"/>
            <a:ext cx="7905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登入下降、問題未解決、服務中斷或申訴增加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C9D90C-CB63-4E18-93B5-C94663FDA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104014-3CB7-4F58-B24A-C1F916F96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238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分析目的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83CCBB-518A-431A-9708-C32C5B7E6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447925"/>
            <a:ext cx="7905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找出需要關懷或流程改善的客戶情境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F06DC4-70D3-40EA-B22A-90282F29A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80B33F-1C3B-4463-96E9-FD65AC1BC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2238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行動方式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6C9771-5366-428C-843D-9E8D1F911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419475"/>
            <a:ext cx="7905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優先處理問題，而非一律發送促銷訊息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95D83D-797A-49FB-97DC-B31CDA8CA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529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CC07A6-7E24-4C40-B4ED-84653F369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91025"/>
            <a:ext cx="2238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成效衡量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9EAF49-0545-43C6-90D1-11549DCF8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391025"/>
            <a:ext cx="7905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問題解決率、再次來電率與服務滿意度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182AA2-DE8D-467B-8B05-527005C01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244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64355498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DBB2AF-3D5B-4AC3-8BAD-E16240E01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18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22D662-9EF0-453A-AAD3-8FD4B09A1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14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詐欺偵測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1FF9E9-F6A3-4B28-A8DE-7EE6085D2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57200"/>
            <a:ext cx="142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第二節  04/11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FC9E14-7DA5-4BBF-B6F1-E5ADDB9A5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878559-7FC1-4DFB-9CC6-95CD472A7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09CD81-DC38-4813-9DAA-16FAF7A0E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238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資料訊號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31D93B-C079-49D5-9118-A7D7E9C81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1476375"/>
            <a:ext cx="7905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金額、時間、裝置、位置與交易序列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47B2F3-0F3A-4A1C-B351-8517FB0D6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CDEF67-8137-4E45-B7E5-EAA21B89F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238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分析輸出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472975-02DD-45C0-9A50-1154E54DD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447925"/>
            <a:ext cx="7905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交易風險分數與主要異常原因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61EA20-08A0-43F4-B7BF-A1DD87D73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3CC14B-7E69-42A3-A952-A64A90E04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2238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處置選項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58F77F-DDCC-4FD1-90B2-136F10630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419475"/>
            <a:ext cx="7905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放行、加強驗證或交由人員覆核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763C7F-D578-4D08-81B4-F965AF4B3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529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A30E7E-8516-4D90-B7FD-2B06F93E6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91025"/>
            <a:ext cx="2238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評估重點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5AD279-1F12-44D9-8D2B-C1EEAA62E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391025"/>
            <a:ext cx="7905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降低損失，也控制誤擋與客戶不便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170723-D69F-4577-BE11-7496258D4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244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75984618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09DB24-493E-44B7-B84D-E20FAE0BA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18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E6E965-0FD0-4C9E-8592-B6147D21F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14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信用風險分析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D8AF11-5EF0-4B39-A33B-BC031CF9D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57200"/>
            <a:ext cx="142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第二節  05/11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330DEE-6935-4E8F-ABC3-A1567D718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5FCA93-3FB9-4C23-B284-F44DB1612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74AAF8-B748-4D99-BE23-803E572E3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71625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75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可能使用的資料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685B3A-1338-4FF9-B2F2-BF68D2600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571625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75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分析時要注意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B2F7A0-368B-474A-8913-B42DD8A20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619250"/>
            <a:ext cx="19050" cy="385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D76404-4FE8-4B22-B63C-D30882F28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38375"/>
            <a:ext cx="476250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2175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75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收入與負債資料</a:t>
            </a:r>
          </a:p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2175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75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還款與授信紀錄</a:t>
            </a:r>
          </a:p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2175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75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申請資訊與既有往來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6EEF58-7313-4B84-83E8-B1F6EED5F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38375"/>
            <a:ext cx="476250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2175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75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資料是否最新且正確</a:t>
            </a:r>
          </a:p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2175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75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模型是否對族群產生偏差</a:t>
            </a:r>
          </a:p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2175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75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重要決定是否可解釋與覆核</a:t>
            </a:r>
          </a:p>
        </p:txBody>
      </p:sp>
    </p:spTree>
    <p:extLst>
      <p:ext uri="{BB962C8B-B14F-4D97-AF65-F5344CB8AC3E}">
        <p14:creationId xmlns:p14="http://schemas.microsoft.com/office/powerpoint/2010/main" val="1247671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C1493B-E258-4795-8082-DCF436F05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18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1B86AD-D3E3-4BE9-933A-203911E4A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14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保險核保與理賠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515A8B-48A8-45A3-BB96-F3E493514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57200"/>
            <a:ext cx="142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第二節  06/11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CF87AA-F816-4B40-8D40-79F65F9CC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54B891-7B96-4354-8AF0-F866F99A0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17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68CF32-FC26-47F6-9974-2DD5CD43E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238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核保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379C58-2520-4E31-BB7E-E4CC85AC0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1476375"/>
            <a:ext cx="7905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整理申請與風險資料，協助一致判斷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BE73E6-6E13-4EAF-BD74-63DD841CC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770A69-884E-498B-91BE-B810629A5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238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理賠分流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F1B7D0-9CEA-47EF-BD58-797D10458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447925"/>
            <a:ext cx="7905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依案件複雜度安排自動處理或人工審查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818BB8-1BAF-42E8-BA5A-DF3D08E0C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F3F1ED-C9D2-4D9D-A85E-E29D23545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2238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異常偵測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B98C8D-ED15-4D0F-BBDE-635AD38A4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419475"/>
            <a:ext cx="7905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找出需要進一步查證的理賠模式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D03679-94DF-4AD7-B657-13B998E92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529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1ED806-9225-4C7A-9D3C-08759D751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91025"/>
            <a:ext cx="2238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服務改善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75CF7E-2006-4B2E-B6BD-445AF7489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391025"/>
            <a:ext cx="7905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分析處理時間與客戶問題，縮短等待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00ECAD-BE68-446F-BD59-7B265C7CF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244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66190187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A2EB08-D9F1-403A-865D-7CCAAEA1E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18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589DA6-527E-4C44-AEDF-897AACB23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14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證券交易監測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A7B87D-3D50-4A8B-82F2-0571003D0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57200"/>
            <a:ext cx="142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第二節  07/11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21FB5A-2432-42FD-B51B-2A1DBEFD1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17FD0E-669D-442A-8078-E94F4B302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18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730CEE-D9E5-47BC-93FF-15B37D09F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238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即時資料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DEB64E-F04E-43F3-8E1F-75CAD5555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1476375"/>
            <a:ext cx="7905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委託、成交、價格、時間與帳戶行為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433721-E126-44E8-A8F2-343B7E254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70D3D5-5E8A-4AA9-A305-C11E1D386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238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監測目的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F6AAEB-2CE5-4086-BE45-83C9971BF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447925"/>
            <a:ext cx="7905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找出偏離常態、需要查證的交易模式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AACDEF-8D3E-4EE1-B0D0-779F4857A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38D0BD-60C0-420F-A0F5-790D8FE8B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2238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分析結果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E714C6-D490-4636-9468-D6EED5C5E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419475"/>
            <a:ext cx="7905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提供警示、關聯帳戶或異常時段線索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68C42B-B881-49AA-B50E-4A414AC68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529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B0E57D-BBF9-48AB-8170-C8C77A21A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91025"/>
            <a:ext cx="2238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必要程序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16814B-5D09-4E2D-BA20-5E4D479C2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391025"/>
            <a:ext cx="7905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依法規與內部制度進行人工查核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71AAE5-BA42-4E8E-ADEC-58E2FD228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244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87999594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4E6450F-F769-456E-BFAA-213B20C3D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18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720270-822B-490B-9795-1DE3D49A7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14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投信投顧的投資研究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181383-21A3-4089-B735-8F84DB798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57200"/>
            <a:ext cx="142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第二節  08/11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0089B8-1242-4752-ABFF-B8A717EEE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EEFA3D-3B66-441D-946E-A9E9FB0DC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19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D414FE-DD10-41FC-BD24-2A6A26918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238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資料來源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BFFC68-6596-4995-BA74-1BD52C555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1476375"/>
            <a:ext cx="7905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行情、持倉、財報、新聞與法說文字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58125C-7287-44E1-B8E7-B33ADC5C1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8CD2F7-F6B1-401D-840F-129AA4D7A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238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分析用途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F8EB99-CAA4-4683-AD29-AA6F62D53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447925"/>
            <a:ext cx="7905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整理市場變化、風險曝險與重要事件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8176E5-77AB-44D6-858F-0F2E7AAE5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FB05EC-BEBE-4378-B75D-D0DC175B5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2238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人員角色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31E628-604B-42DB-A98B-274B60FD4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419475"/>
            <a:ext cx="7905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研究人員判讀背景、假設與限制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F3F114-2A08-44B6-AD8F-A70C000C7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529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A95A96-9358-4D33-9D4D-8190F5949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91025"/>
            <a:ext cx="2238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溝通要求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EDFB05-9156-40AA-8C23-FB8A72C12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391025"/>
            <a:ext cx="7905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清楚區分資料事實、模型推估與專業判斷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E5DF36-1946-49D2-B266-8A1BA654F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244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675995254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C832CA-7AEB-4134-9E48-7DDDEB388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18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DFCB5C-573E-4DB4-AB05-383A9893A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14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分析結果與績效指標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72A2DB-CFF8-4457-A149-BD61A02EB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57200"/>
            <a:ext cx="142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第二節  09/11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32E079-B1CA-4341-9CE0-CE9624FC3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1401EA-4B8B-434D-A46F-34B74CBC9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20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999B04-F384-4C22-8869-ABD140397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14500"/>
            <a:ext cx="10287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450" b="1">
                <a:solidFill>
                  <a:srgbClr val="B9852D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3450" b="1">
                <a:solidFill>
                  <a:srgbClr val="B9852D"/>
                </a:solidFill>
                <a:latin typeface="微軟正黑體"/>
                <a:ea typeface="微軟正黑體"/>
                <a:cs typeface="微軟正黑體"/>
              </a:rPr>
              <a:t>指標必須對應真正目標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CF7C50-3107-4143-99C5-58F302E11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476625"/>
            <a:ext cx="7810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852D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C523A4-7802-447B-BC15-3E046A656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857625"/>
            <a:ext cx="8858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25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促銷點擊增加，不一定代表客戶獲得更好服務；詐欺攔截增加，也要檢查誤擋是否同步上升。</a:t>
            </a:r>
          </a:p>
        </p:txBody>
      </p:sp>
    </p:spTree>
    <p:extLst>
      <p:ext uri="{BB962C8B-B14F-4D97-AF65-F5344CB8AC3E}">
        <p14:creationId xmlns:p14="http://schemas.microsoft.com/office/powerpoint/2010/main" val="895633113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3769185-EA54-45A1-A638-5FA952441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18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CCFACA-0AA2-417C-AB56-4C39B9986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14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第二節小結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703032-63FA-4903-8D17-6746C7D92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57200"/>
            <a:ext cx="142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第二節  10/11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E6CEE6-BA24-45D1-BB7F-220C33401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27BF19-53EE-4D84-8F9F-E39CE39EF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21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7630C2-1E85-4414-876B-294B210C9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238375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客戶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5ED7B4-9191-4F4C-81F1-2AEA5976F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1476375"/>
            <a:ext cx="79057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理解需求並改善服務流程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7642A3-269C-4A5E-8EEF-271EEF5FC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305050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8A6DF7-E6A8-4DC8-B966-0DD9009DE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43150"/>
            <a:ext cx="2238375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風險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B4431A-5B1F-417E-9B4B-162518ECE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343150"/>
            <a:ext cx="79057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辨識詐欺、信用與異常交易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35D716-F1DB-4195-9723-3713FD176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1718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878CCA-0082-455F-BB18-2F564D452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09925"/>
            <a:ext cx="2238375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作業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823F14-9CE5-4149-9F0E-80632EFA0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209925"/>
            <a:ext cx="79057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支援客服、核保與理賠分流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750A70-2F3B-4823-AE53-FACB2D880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038600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12DC7F-AECB-4589-979D-2434F3A3A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76700"/>
            <a:ext cx="2238375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投資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5CDE37-D097-43A9-AE4B-1FD09F9CA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076700"/>
            <a:ext cx="79057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整合市場數據與文字資訊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A481D2-62EB-4743-A303-3F6C3ED7F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9053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87A58D7-FB5D-4AC0-BE4D-E8414781C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43475"/>
            <a:ext cx="2238375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共同要求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DBE49B8-5618-4D8F-A355-B7E60D143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943475"/>
            <a:ext cx="79057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結果可解釋、可衡量，也能接受覆核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75A2A92-0F39-4EC3-AB9E-8F5075F78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772150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2096565442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3D69CB-A69F-4931-8D34-EB858320D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18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E4AD28-6489-4255-A255-E58918D50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14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本節搶答題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0B5448-0801-4E73-B370-F12E97EBD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981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5 分鐘｜先作答，再核對答案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0DBE67-BF2C-40A8-A0AE-501142A49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57200"/>
            <a:ext cx="142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第二節  11/11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A1AC2B-3540-4C89-8159-158A25786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2CFA04-1F85-4D3D-99B2-AA0CDC339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22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ABCA4F-40C2-4857-88D8-57DFE4530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428750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1. 詐欺警示最合理的解讀是？（A 已確定犯罪　B 需要進一步查證）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550881-3FB5-4915-A63A-339CA329D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200275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2. 信用風險資料首先要確認什麼？（A 最新且正確　B 顏色一致）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494615-BCEF-4314-9F2D-8596205D6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971800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3. 理賠案件依複雜度安排處理，屬於哪種應用？（A 分流　B 備份）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AFA123-B328-4D81-8BD0-A88ACDD2D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743325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4. 投資研究人員仍需做什麼？（A 判讀假設與限制　B 完全接受模型）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8B1393-8CB7-4A3C-AE53-8C91E7369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14850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5. 只看攔截件數，可能忽略什麼？（A 誤擋與客戶不便　B 檔案大小）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2861DE-D4F4-4A14-A957-C5D24CCBF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67350"/>
            <a:ext cx="108585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CEDE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C083A8-9A32-42EA-B482-BE7FE55C7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6260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答案：1-B　2-A　3-A　4-A　5-A</a:t>
            </a:r>
          </a:p>
        </p:txBody>
      </p:sp>
    </p:spTree>
    <p:extLst>
      <p:ext uri="{BB962C8B-B14F-4D97-AF65-F5344CB8AC3E}">
        <p14:creationId xmlns:p14="http://schemas.microsoft.com/office/powerpoint/2010/main" val="1179681822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B2C892-878A-4C2C-B07A-F0906F12B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515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A8ABAF-1509-4D82-BA8C-9C727F9DD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14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第三節｜跨業案例與應用成熟度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D18482-61D9-4A33-8431-D90854567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57200"/>
            <a:ext cx="142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第三節  01/11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35C096-CDB0-4E09-868D-A4057E2CF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AFE19A-7CDC-43B4-8389-535026139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0545B5-EF86-440E-A3F6-0A4F8B6B0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952625"/>
            <a:ext cx="990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315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不同產業的資料不同，分析思路可以互相借鏡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4CA810-87F2-4717-B105-926C12379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24250"/>
            <a:ext cx="2571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零售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70ADDA-FF69-4D4F-AA28-EFB874865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48125"/>
            <a:ext cx="2571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02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交易組合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982EDC-9500-437D-9F73-E8BF12799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524250"/>
            <a:ext cx="2571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製造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3C950B-8E3C-4C90-AB25-45AA1C9F7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048125"/>
            <a:ext cx="2571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02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供應與品質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C7B072-75CF-49E8-A729-C248FD985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524250"/>
            <a:ext cx="2571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B9852D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B9852D"/>
                </a:solidFill>
                <a:latin typeface="微軟正黑體"/>
                <a:ea typeface="微軟正黑體"/>
                <a:cs typeface="微軟正黑體"/>
              </a:rPr>
              <a:t>醫療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FFBC6D-FC66-4EED-8846-B97FC3CB3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48125"/>
            <a:ext cx="2571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02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照護與研究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50CA64-2949-42DB-B3A4-0FF2E333E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0"/>
            <a:ext cx="2571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政府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83FE44-2450-4BDD-9D8C-EFA99E515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048125"/>
            <a:ext cx="2571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02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公共服務</a:t>
            </a:r>
          </a:p>
        </p:txBody>
      </p:sp>
    </p:spTree>
    <p:extLst>
      <p:ext uri="{BB962C8B-B14F-4D97-AF65-F5344CB8AC3E}">
        <p14:creationId xmlns:p14="http://schemas.microsoft.com/office/powerpoint/2010/main" val="1810412193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64238F-69E6-4E4F-8F72-9297F0EF3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515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953C86-E624-477A-A929-810DABD0F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14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零售｜交易組合與需求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AB99D1-0768-45F1-8A1C-81EFE44B7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57200"/>
            <a:ext cx="142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第三節  02/11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E03002-6D23-4702-9827-2EC86F65B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6A0ECA-53CE-4FB0-9843-F7C870056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24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89232D-517E-4459-BD4D-76D9833F1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238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資料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7B3A92-E839-4E5F-A60B-71326211A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1476375"/>
            <a:ext cx="7905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每筆購物籃的商品與時間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E78885-F5AA-4E22-A52F-45A0EF480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41501B-E089-4E3D-B4A2-288CCCD1A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238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問題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4AB997-ECC7-4DCC-B776-3BD7ED146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447925"/>
            <a:ext cx="7905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哪些商品常一起出現？需求何時改變？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B2591A-3A2C-431D-A5AC-3A427346D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EC350A-DB8F-46E3-BC12-3BAA3EAA4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2238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行動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C36019-8928-4FCB-801B-EEE76397B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419475"/>
            <a:ext cx="7905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調整商品組合、庫存與溝通方式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9DE688-011F-49C9-8DE8-6CF19AE1D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529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F8645C-17D5-46B2-ADD7-B0E550A2B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91025"/>
            <a:ext cx="2238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限制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74EA8E-452A-4768-867D-E6EF68CA9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391025"/>
            <a:ext cx="7905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關聯不等於原因，仍需情境驗證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65142F-B84F-4F44-961A-45180FF8B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244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840729918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1D0409-6CBB-4DEE-8CC9-52693A963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515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81DA1B-6AB0-4791-B13E-E25C0E672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14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製造｜供應鏈與品質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A5F5E2-A492-40AC-988F-3CC86086B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57200"/>
            <a:ext cx="142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第三節  03/11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1F15D9-3638-4218-B495-1DDA00A1F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F61935-4C97-4ED6-AC5B-1620E2D0A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25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A10505-952F-4194-AF79-FC3404BEC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238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資料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7F7043-4186-480C-8023-FE2AEA0AE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1476375"/>
            <a:ext cx="7905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採購、生產、庫存、交期與設備紀錄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454BFD-DFA6-47DD-A386-6B65A4B50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5BC422-47D9-477E-B18F-355C3BA27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238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問題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7DBD12-4605-4BE2-96B3-CBA751485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447925"/>
            <a:ext cx="7905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哪個環節可能延誤？品質異常何時出現？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9F7458-3376-4A67-BDAA-73EB8BC9E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191984-18CE-4128-AB21-80095EDD7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2238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行動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C8FFA2-AB0A-490D-8D8E-5BDDE8756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419475"/>
            <a:ext cx="7905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調整排程、備料與設備維護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647E24-737D-4B43-BAAA-FC6D84F55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529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01A474-F1A9-4AD2-B3D3-F56EA11EF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91025"/>
            <a:ext cx="2238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成效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D1C677-041B-4C5A-A412-6878EC0F2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391025"/>
            <a:ext cx="7905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降低等待、缺料與重工，但需衡量成本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3095A9-BDC8-4A0A-8A56-927728FE6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244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748833122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1B8B94-B5E1-412E-A2EE-779882BA3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515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DCDF82-DE8F-473B-86E6-62BF1C59D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14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醫療｜照護與研究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37C4A1-3F36-49F3-A047-94591E371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57200"/>
            <a:ext cx="142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第三節  04/11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838E3B-4592-4572-B2FC-19117577B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626DFD-4EE5-4684-9BB0-B483541CE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4CE512-5605-4371-9F78-9D53F04FC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238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資料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30E2F5-F473-4219-BC91-45C417D1D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1476375"/>
            <a:ext cx="7905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病歷、檢查、治療與監測資料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0452E6-40B8-49D9-AC36-B76686F39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DA6358-A7C8-4E36-A927-01965BA47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238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用途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4A3349-3DB2-4A2F-9214-47DB1604D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447925"/>
            <a:ext cx="7905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支援照護、資源安排與研究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146B98-2C9A-40F0-8D42-CC1B81892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8FE33C-436F-4A2C-8A1E-54C6FA42C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2238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要求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F066DC-B5B2-4329-8A9C-9AA8596C0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419475"/>
            <a:ext cx="7905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資料品質、隱私與專業判讀格外重要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3C5313-0C82-4F70-8035-0DFC3A595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529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DB7848-7D7A-444A-83C9-FC7A36AA0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91025"/>
            <a:ext cx="2238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界線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B61AAA-F163-4C29-A87D-1FCA063E7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391025"/>
            <a:ext cx="7905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分析支援醫療人員，不能取代完整診斷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A9C333-0BBF-4B22-92B3-4460CA18E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244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538329588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45E3354-8A0B-4865-9E76-2D330C465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515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50002B-0450-4E52-962B-A0C48EA61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14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政府與智慧城市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A5DFA9-B4CB-4F8F-9652-5820605AC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57200"/>
            <a:ext cx="142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第三節  05/11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FCC464-A0C5-4526-83D9-7FB230214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871D88-5F1E-48A3-BA12-4444176BB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27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3732BB-1C72-4172-BA6A-A4BD6801B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238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資料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6EA08F-3EAB-4F24-A4F7-EA3AB2AB6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1476375"/>
            <a:ext cx="7905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交通、環境、設施與公共服務紀錄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89755A-27D2-4E42-A398-B9C366432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73E8F9-0AA7-48F1-AD95-BA8095C09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238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用途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BD7215-AFA6-4118-9918-607CF5C5A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447925"/>
            <a:ext cx="7905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資源調度、設施維護與資訊公開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E6914B-85B6-4D7E-BE76-28DDB3E59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4F2C83-23F2-4D74-9333-762764272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2238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價值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28301F-26C0-4300-91A9-F63E45DD0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419475"/>
            <a:ext cx="7905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改善公共服務並協助政策評估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F60483-48E5-4A42-BE57-0E23D54D2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529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E9CE25-8B65-409B-B1F8-59EC7E0A6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91025"/>
            <a:ext cx="2238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風險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9327D1-30AC-41CC-B3AE-A32D3EC12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391025"/>
            <a:ext cx="7905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監控範圍、個人隱私與資料落差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7A61CF-22D5-424E-AAA9-A76DCA016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244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259976846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3B67E83-F038-4973-BB88-87E028273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515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B37F15-7D5E-4BF8-90AD-37C64A450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14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大數據應用的四個層次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4F9A4C-D18D-4CE5-A666-A8FD87AF7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57200"/>
            <a:ext cx="142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第三節  06/11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6E70D6-B8BA-4F88-B18E-3B5FC6109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358ED6-4D4D-4488-8865-79F14D027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28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8B3B09-8ED1-405A-B963-27844FE93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238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描述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98F901-E08E-4DBA-8CD7-9D8E21BC4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1476375"/>
            <a:ext cx="7905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發生了什麼？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AD8AD2-1EA9-4AFB-9974-CE3009668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2FC000-0048-4448-9362-5E824D19C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238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診斷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2328F8-3C5D-457D-984F-159FFEE7F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447925"/>
            <a:ext cx="7905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為什麼發生？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CEC0B3-F1FC-4535-A83A-D1F1FE3AD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7755AC-0C8F-4ADB-890E-A63C974DB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2238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預測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007F5E-ECF8-4BF7-9C5C-3891995EF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419475"/>
            <a:ext cx="7905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接下來可能如何？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E069F2-98E7-4D6C-A7AB-C0EACB283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529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FCB744-3D64-4733-BB70-88D48C41E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91025"/>
            <a:ext cx="2238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建議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5A76BA-1BBC-4B10-84B4-720768A68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391025"/>
            <a:ext cx="7905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可以採取哪些行動？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E266BA-20E9-4890-92AD-1AC6A3013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244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37A6BC-8218-4D80-B055-B17017D41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476875"/>
            <a:ext cx="8191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75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層次越往後，越需要驗證假設並承擔決策責任</a:t>
            </a:r>
          </a:p>
        </p:txBody>
      </p:sp>
    </p:spTree>
    <p:extLst>
      <p:ext uri="{BB962C8B-B14F-4D97-AF65-F5344CB8AC3E}">
        <p14:creationId xmlns:p14="http://schemas.microsoft.com/office/powerpoint/2010/main" val="1518712043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B30E84-6070-42A1-BC4E-1808EE91D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515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B641D6-3519-4DF2-A0CC-D13911394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14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例：行動銀行登入失敗率上升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44C7FC-9B0D-491E-87E1-8ED39BFAC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57200"/>
            <a:ext cx="142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第三節  07/11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483BDF-CAE1-412E-B87F-6B50234BE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6C3110-65E4-4BDB-A050-19B198185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29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30629B-4A9B-459E-A464-547F77095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238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描述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5653BE-9FC7-4B00-A80C-1B5BB9D14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1476375"/>
            <a:ext cx="7905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本週登入失敗率比平常高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CD7B0C-5F5F-47FC-BDF4-1E3184CF1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EB904F-ADD9-4E03-B697-3B3F4E88A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238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診斷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B78DD3-0B0E-4F3C-ACBA-8DFB75706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447925"/>
            <a:ext cx="7905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特定版本與驗證步驟出現問題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B19E0C-E654-4253-BD90-6C34E17C8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533F73-11A5-4BA7-837E-8389BE6D9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2238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預測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25E337-5DC9-445D-9965-B4015AED5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419475"/>
            <a:ext cx="7905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若未修正，客服量可能繼續增加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D0D29D-BA1E-4717-AF84-870897DA2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529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C46A80-5DBA-4539-97DF-A18243DFD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91025"/>
            <a:ext cx="2238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建議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DA1D86-61EF-4F4B-A1DA-8E47A0B4C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391025"/>
            <a:ext cx="7905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修正流程並優先通知受影響客戶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D58BC5-889F-46B5-91DA-4EE2637CF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244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4723115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3DA1D3F-F1B2-4B0C-8525-41AD7639C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515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027D1B-2C96-458E-807D-E7B45272B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14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應用成熟度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8DE076-B917-495A-BF2D-E0AAF2314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57200"/>
            <a:ext cx="142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第三節  08/11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86AB23-2032-4D89-9DBB-DC54751D7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2AED9E-808E-4538-8CCB-B8CA4999A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30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F18A21-F6C5-4042-87FB-0DEB3A3F2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762125"/>
            <a:ext cx="24860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369D3F-5A58-4A37-A0FD-8ABC17F2B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286000"/>
            <a:ext cx="24860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看見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C8E7F6-E8AC-4C43-B1F4-4E5FC6C07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3048000"/>
            <a:ext cx="2143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A1AD2E-5BB2-4DC6-BF26-2834CA002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86125"/>
            <a:ext cx="23907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能整理基本報表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E04054-F831-4CC6-97FF-D06A37FBD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762125"/>
            <a:ext cx="24860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4054FC-DD18-4E56-BAE9-417E79D37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286000"/>
            <a:ext cx="24860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理解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FE4126-25B6-4E8D-B8C4-CAC733097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048000"/>
            <a:ext cx="2143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C5C81B-AC27-4958-9A73-E86F1342F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3286125"/>
            <a:ext cx="23907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能解釋差異與原因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490D74-270E-4BF6-AAF3-5B2C2D332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1762125"/>
            <a:ext cx="24860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303085-DE31-47AC-A0CA-27217D87E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2286000"/>
            <a:ext cx="24860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預測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3EE319-CE48-482F-BF9E-2395FACF1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3048000"/>
            <a:ext cx="2143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B6DFAB-E586-4349-9C76-AD77D76D4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286125"/>
            <a:ext cx="23907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能估計未來風險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B1D8BD4-8F30-4F19-9A15-98EA9F7C9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762125"/>
            <a:ext cx="24860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476D3C-C0C7-4CDF-8B60-33AB45E40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286000"/>
            <a:ext cx="24860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落地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1F542EE-01B4-4B81-B73B-94F3EC4AE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048000"/>
            <a:ext cx="2143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F81A8C9-C488-4B03-8008-E28557686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3286125"/>
            <a:ext cx="23907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能連到流程並衡量成效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BF3FEBF-7EDB-4716-AD76-0A68F5477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5286375"/>
            <a:ext cx="8477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75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成熟度不只看模型，也看資料品質、流程與人員能力</a:t>
            </a:r>
          </a:p>
        </p:txBody>
      </p:sp>
    </p:spTree>
    <p:extLst>
      <p:ext uri="{BB962C8B-B14F-4D97-AF65-F5344CB8AC3E}">
        <p14:creationId xmlns:p14="http://schemas.microsoft.com/office/powerpoint/2010/main" val="534695561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310A47-9EC6-449E-B7AE-F77475A51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515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502692-EAD7-4520-BD37-E7AAA284A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14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跨業比較的正確方式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7254A7-FDAC-43E6-9B50-C61B94E84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57200"/>
            <a:ext cx="142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第三節  09/11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1ACFA3-D306-4110-9BAA-855B38FF0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E94127-DEEF-41FF-A905-4244D7454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31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5C7EDB-316F-4C70-9B58-FA50ADFD4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71625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75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可以借鏡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35FBC3-77EE-469B-AE63-3AFE401D7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571625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75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不能直接複製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727899-B5AE-4356-B223-C6388745F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619250"/>
            <a:ext cx="19050" cy="385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1A0D16-9263-4F45-8714-30FAE0053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38375"/>
            <a:ext cx="476250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2175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75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問題如何被定義</a:t>
            </a:r>
          </a:p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2175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75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資料如何整理</a:t>
            </a:r>
          </a:p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2175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75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成效如何衡量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510E28-3D98-47B5-8B4F-621A693DF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38375"/>
            <a:ext cx="476250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2175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75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法規與風險容忍度</a:t>
            </a:r>
          </a:p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2175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75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客戶或使用者情境</a:t>
            </a:r>
          </a:p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2175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75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最後決策與責任歸屬</a:t>
            </a:r>
          </a:p>
        </p:txBody>
      </p:sp>
    </p:spTree>
    <p:extLst>
      <p:ext uri="{BB962C8B-B14F-4D97-AF65-F5344CB8AC3E}">
        <p14:creationId xmlns:p14="http://schemas.microsoft.com/office/powerpoint/2010/main" val="2123068865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1DC7BAB-1106-4209-A3DE-FB96EE904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515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DAA698-8527-481A-A72B-355726848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14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Week 02 全週小結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468B91-8EB4-422E-BD61-1EE9AB3D7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57200"/>
            <a:ext cx="142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第三節  10/11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F1782A-DDC6-4FEA-862A-429B2CA04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50BFDC-F318-43CD-B6D2-180FE5B3C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32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A1D2FD-28D0-4D94-AB52-E9C374208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238375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流程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D86CB7-5150-4D80-A549-44EF903CD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1476375"/>
            <a:ext cx="79057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問題、蒐集、整理、分析、行動與評估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03D84D-6C21-4ABB-B1F7-360518E1B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305050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79911E-E362-4C7D-8098-5D4E6CEAE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43150"/>
            <a:ext cx="2238375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金融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05B50C-9703-4B61-B73D-8A63E0455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343150"/>
            <a:ext cx="79057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客戶、風險、作業與投資研究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1B5243-D97F-43DD-9A72-B28E6B08D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1718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DD9452-6EB7-4917-A230-52C66B5BC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09925"/>
            <a:ext cx="2238375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跨業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362D4D-9F58-4159-8271-6C3246923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209925"/>
            <a:ext cx="79057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案例可借鏡，但不能忽略場域差異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DF9825-D5E6-48EA-93E3-65E7F7B44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038600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94554D-89C9-4AFF-A2C6-50B2B8D9C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76700"/>
            <a:ext cx="2238375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成熟度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51F3EE-E176-4060-909C-82143F115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076700"/>
            <a:ext cx="79057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從報表走向可衡量的決策流程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398D23-D64B-4A75-ACFB-60B854D95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9053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5B2224-9719-421A-936D-E25128C23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43475"/>
            <a:ext cx="2238375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責任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FB1D322-7B9D-4631-93CD-3B0A8FD4E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943475"/>
            <a:ext cx="79057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合法、必要、安全、公平並保留覆核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74FE61D-0D9B-404F-888F-7E74C3C23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772150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759404951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53F537-A512-440A-A589-64F5D31DA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515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3108D0-BD67-4704-B000-C0D3D33D0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14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本節搶答題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3ACBE1-EC75-482F-B36A-3400F5DC7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981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5 分鐘｜先作答，再核對答案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2E8EBE-F36E-49BC-BCA9-76C85569B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57200"/>
            <a:ext cx="142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第三節  11/11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D8394F-697C-4458-942D-24A2C790D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8717CF-5924-46E1-9343-8F6D76556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33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861D99-C299-43CA-AF53-958508FAF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428750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1. 哪一項屬於診斷分析？（A 本週失敗率上升　B 找出特定版本造成問題）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F687E8-8407-4B82-8F1F-11C4454C4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200275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2. 關聯分析後仍要注意什麼？（A 關聯不等於原因　B 一定能直接行動）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9AB7F6-4509-4794-AC0C-07D925057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971800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3. 應用成熟度除了模型，還要看什麼？（A 流程與人員能力　B 投影片張數）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275D68-C697-4875-A461-77627B21E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743325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4. 跨業案例可以直接複製嗎？（A 可以　B 必須考慮法規與場域）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A5648E-F448-4168-A269-19583F00E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14850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5. 大數據應用的終點較接近哪一項？（A 蒐集更多資料　B 改善決策並衡量成效）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B6847A-4669-4BFC-8A1B-5AE0C3CD8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67350"/>
            <a:ext cx="108585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6E6D7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E52715-3097-4942-B37E-AB969C92E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6260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答案：1-B　2-A　3-A　4-B　5-B</a:t>
            </a:r>
          </a:p>
        </p:txBody>
      </p:sp>
    </p:spTree>
    <p:extLst>
      <p:ext uri="{BB962C8B-B14F-4D97-AF65-F5344CB8AC3E}">
        <p14:creationId xmlns:p14="http://schemas.microsoft.com/office/powerpoint/2010/main" val="28809126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2026-09-04T06:47:58.8460000Z</dcterms:created>
  <dcterms:modified xsi:type="dcterms:W3CDTF">2026-09-04T06:47:58.8460000Z</dcterms:modified>
</coreProperties>
</file>